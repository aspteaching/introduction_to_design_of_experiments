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46" r:id="rId1"/>
    <p:sldMasterId id="2147484133" r:id="rId2"/>
    <p:sldMasterId id="2147484161" r:id="rId3"/>
    <p:sldMasterId id="2147484544" r:id="rId4"/>
  </p:sldMasterIdLst>
  <p:notesMasterIdLst>
    <p:notesMasterId r:id="rId66"/>
  </p:notesMasterIdLst>
  <p:handoutMasterIdLst>
    <p:handoutMasterId r:id="rId67"/>
  </p:handoutMasterIdLst>
  <p:sldIdLst>
    <p:sldId id="326" r:id="rId5"/>
    <p:sldId id="257" r:id="rId6"/>
    <p:sldId id="272" r:id="rId7"/>
    <p:sldId id="258" r:id="rId8"/>
    <p:sldId id="278" r:id="rId9"/>
    <p:sldId id="265" r:id="rId10"/>
    <p:sldId id="268" r:id="rId11"/>
    <p:sldId id="270" r:id="rId12"/>
    <p:sldId id="307" r:id="rId13"/>
    <p:sldId id="273" r:id="rId14"/>
    <p:sldId id="269" r:id="rId15"/>
    <p:sldId id="277" r:id="rId16"/>
    <p:sldId id="276" r:id="rId17"/>
    <p:sldId id="274" r:id="rId18"/>
    <p:sldId id="264" r:id="rId19"/>
    <p:sldId id="271" r:id="rId20"/>
    <p:sldId id="312" r:id="rId21"/>
    <p:sldId id="267" r:id="rId22"/>
    <p:sldId id="320" r:id="rId23"/>
    <p:sldId id="279" r:id="rId24"/>
    <p:sldId id="259" r:id="rId25"/>
    <p:sldId id="325" r:id="rId26"/>
    <p:sldId id="260" r:id="rId27"/>
    <p:sldId id="280" r:id="rId28"/>
    <p:sldId id="308" r:id="rId29"/>
    <p:sldId id="281" r:id="rId30"/>
    <p:sldId id="282" r:id="rId31"/>
    <p:sldId id="309" r:id="rId32"/>
    <p:sldId id="283" r:id="rId33"/>
    <p:sldId id="284" r:id="rId34"/>
    <p:sldId id="285" r:id="rId35"/>
    <p:sldId id="287" r:id="rId36"/>
    <p:sldId id="324" r:id="rId37"/>
    <p:sldId id="321" r:id="rId38"/>
    <p:sldId id="286" r:id="rId39"/>
    <p:sldId id="292" r:id="rId40"/>
    <p:sldId id="293" r:id="rId41"/>
    <p:sldId id="294" r:id="rId42"/>
    <p:sldId id="295" r:id="rId43"/>
    <p:sldId id="296" r:id="rId44"/>
    <p:sldId id="297" r:id="rId45"/>
    <p:sldId id="298" r:id="rId46"/>
    <p:sldId id="299" r:id="rId47"/>
    <p:sldId id="300" r:id="rId48"/>
    <p:sldId id="301" r:id="rId49"/>
    <p:sldId id="305" r:id="rId50"/>
    <p:sldId id="310" r:id="rId51"/>
    <p:sldId id="311" r:id="rId52"/>
    <p:sldId id="304" r:id="rId53"/>
    <p:sldId id="306" r:id="rId54"/>
    <p:sldId id="322" r:id="rId55"/>
    <p:sldId id="289" r:id="rId56"/>
    <p:sldId id="288" r:id="rId57"/>
    <p:sldId id="290" r:id="rId58"/>
    <p:sldId id="323" r:id="rId59"/>
    <p:sldId id="313" r:id="rId60"/>
    <p:sldId id="314" r:id="rId61"/>
    <p:sldId id="315" r:id="rId62"/>
    <p:sldId id="316" r:id="rId63"/>
    <p:sldId id="317" r:id="rId64"/>
    <p:sldId id="318" r:id="rId65"/>
  </p:sldIdLst>
  <p:sldSz cx="9906000" cy="6858000" type="A4"/>
  <p:notesSz cx="6797675" cy="9928225"/>
  <p:defaultTextStyle>
    <a:defPPr>
      <a:defRPr lang="es-ES"/>
    </a:defPPr>
    <a:lvl1pPr algn="l" rtl="0" fontAlgn="base">
      <a:spcBef>
        <a:spcPct val="0"/>
      </a:spcBef>
      <a:spcAft>
        <a:spcPct val="0"/>
      </a:spcAft>
      <a:defRPr kern="1200">
        <a:solidFill>
          <a:schemeClr val="tx1"/>
        </a:solidFill>
        <a:latin typeface="Arial" charset="0"/>
        <a:ea typeface="ＭＳ Ｐゴシック" pitchFamily="34" charset="-128"/>
        <a:cs typeface="Arial" charset="0"/>
      </a:defRPr>
    </a:lvl1pPr>
    <a:lvl2pPr marL="457200" algn="l" rtl="0" fontAlgn="base">
      <a:spcBef>
        <a:spcPct val="0"/>
      </a:spcBef>
      <a:spcAft>
        <a:spcPct val="0"/>
      </a:spcAft>
      <a:defRPr kern="1200">
        <a:solidFill>
          <a:schemeClr val="tx1"/>
        </a:solidFill>
        <a:latin typeface="Arial" charset="0"/>
        <a:ea typeface="ＭＳ Ｐゴシック" pitchFamily="34" charset="-128"/>
        <a:cs typeface="Arial" charset="0"/>
      </a:defRPr>
    </a:lvl2pPr>
    <a:lvl3pPr marL="914400" algn="l" rtl="0" fontAlgn="base">
      <a:spcBef>
        <a:spcPct val="0"/>
      </a:spcBef>
      <a:spcAft>
        <a:spcPct val="0"/>
      </a:spcAft>
      <a:defRPr kern="1200">
        <a:solidFill>
          <a:schemeClr val="tx1"/>
        </a:solidFill>
        <a:latin typeface="Arial" charset="0"/>
        <a:ea typeface="ＭＳ Ｐゴシック" pitchFamily="34" charset="-128"/>
        <a:cs typeface="Arial" charset="0"/>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Arial" charset="0"/>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Arial" charset="0"/>
      </a:defRPr>
    </a:lvl5pPr>
    <a:lvl6pPr marL="2286000" algn="l" defTabSz="914400" rtl="0" eaLnBrk="1" latinLnBrk="0" hangingPunct="1">
      <a:defRPr kern="1200">
        <a:solidFill>
          <a:schemeClr val="tx1"/>
        </a:solidFill>
        <a:latin typeface="Arial" charset="0"/>
        <a:ea typeface="ＭＳ Ｐゴシック" pitchFamily="34" charset="-128"/>
        <a:cs typeface="Arial" charset="0"/>
      </a:defRPr>
    </a:lvl6pPr>
    <a:lvl7pPr marL="2743200" algn="l" defTabSz="914400" rtl="0" eaLnBrk="1" latinLnBrk="0" hangingPunct="1">
      <a:defRPr kern="1200">
        <a:solidFill>
          <a:schemeClr val="tx1"/>
        </a:solidFill>
        <a:latin typeface="Arial" charset="0"/>
        <a:ea typeface="ＭＳ Ｐゴシック" pitchFamily="34" charset="-128"/>
        <a:cs typeface="Arial" charset="0"/>
      </a:defRPr>
    </a:lvl7pPr>
    <a:lvl8pPr marL="3200400" algn="l" defTabSz="914400" rtl="0" eaLnBrk="1" latinLnBrk="0" hangingPunct="1">
      <a:defRPr kern="1200">
        <a:solidFill>
          <a:schemeClr val="tx1"/>
        </a:solidFill>
        <a:latin typeface="Arial" charset="0"/>
        <a:ea typeface="ＭＳ Ｐゴシック" pitchFamily="34" charset="-128"/>
        <a:cs typeface="Arial" charset="0"/>
      </a:defRPr>
    </a:lvl8pPr>
    <a:lvl9pPr marL="3657600" algn="l" defTabSz="914400" rtl="0" eaLnBrk="1" latinLnBrk="0" hangingPunct="1">
      <a:defRPr kern="1200">
        <a:solidFill>
          <a:schemeClr val="tx1"/>
        </a:solidFill>
        <a:latin typeface="Arial" charset="0"/>
        <a:ea typeface="ＭＳ Ｐゴシック" pitchFamily="34" charset="-128"/>
        <a:cs typeface="Arial" charset="0"/>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7D468C"/>
    <a:srgbClr val="993489"/>
    <a:srgbClr val="800080"/>
    <a:srgbClr val="990099"/>
    <a:srgbClr val="5D6BD5"/>
    <a:srgbClr val="3E97F8"/>
    <a:srgbClr val="E5E0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7" autoAdjust="0"/>
    <p:restoredTop sz="95086" autoAdjust="0"/>
  </p:normalViewPr>
  <p:slideViewPr>
    <p:cSldViewPr snapToGrid="0">
      <p:cViewPr varScale="1">
        <p:scale>
          <a:sx n="116" d="100"/>
          <a:sy n="116" d="100"/>
        </p:scale>
        <p:origin x="1506" y="108"/>
      </p:cViewPr>
      <p:guideLst>
        <p:guide orient="horz" pos="2160"/>
        <p:guide pos="3120"/>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bwMode="auto">
          <a:xfrm>
            <a:off x="0" y="0"/>
            <a:ext cx="2946400" cy="496888"/>
          </a:xfrm>
          <a:prstGeom prst="rect">
            <a:avLst/>
          </a:prstGeom>
          <a:noFill/>
          <a:ln w="9525">
            <a:noFill/>
            <a:miter lim="800000"/>
            <a:headEnd/>
            <a:tailEnd/>
          </a:ln>
        </p:spPr>
        <p:txBody>
          <a:bodyPr vert="horz" wrap="square" lIns="91426" tIns="45714" rIns="91426" bIns="45714" numCol="1" anchor="t" anchorCtr="0" compatLnSpc="1">
            <a:prstTxWarp prst="textNoShape">
              <a:avLst/>
            </a:prstTxWarp>
          </a:bodyPr>
          <a:lstStyle>
            <a:lvl1pPr algn="l" defTabSz="914472">
              <a:defRPr sz="1200">
                <a:latin typeface="Arial" charset="0"/>
                <a:cs typeface="+mn-cs"/>
              </a:defRPr>
            </a:lvl1pPr>
          </a:lstStyle>
          <a:p>
            <a:pPr>
              <a:defRPr/>
            </a:pPr>
            <a:endParaRPr lang="ca-ES"/>
          </a:p>
        </p:txBody>
      </p:sp>
      <p:sp>
        <p:nvSpPr>
          <p:cNvPr id="3" name="2 Marcador de fecha"/>
          <p:cNvSpPr>
            <a:spLocks noGrp="1"/>
          </p:cNvSpPr>
          <p:nvPr>
            <p:ph type="dt" sz="quarter" idx="1"/>
          </p:nvPr>
        </p:nvSpPr>
        <p:spPr bwMode="auto">
          <a:xfrm>
            <a:off x="3849688" y="0"/>
            <a:ext cx="2946400" cy="496888"/>
          </a:xfrm>
          <a:prstGeom prst="rect">
            <a:avLst/>
          </a:prstGeom>
          <a:noFill/>
          <a:ln w="9525">
            <a:noFill/>
            <a:miter lim="800000"/>
            <a:headEnd/>
            <a:tailEnd/>
          </a:ln>
        </p:spPr>
        <p:txBody>
          <a:bodyPr vert="horz" wrap="square" lIns="91426" tIns="45714" rIns="91426" bIns="45714" numCol="1" anchor="t" anchorCtr="0" compatLnSpc="1">
            <a:prstTxWarp prst="textNoShape">
              <a:avLst/>
            </a:prstTxWarp>
          </a:bodyPr>
          <a:lstStyle>
            <a:lvl1pPr algn="r" defTabSz="914472">
              <a:defRPr sz="1200">
                <a:latin typeface="Arial" charset="0"/>
                <a:cs typeface="+mn-cs"/>
              </a:defRPr>
            </a:lvl1pPr>
          </a:lstStyle>
          <a:p>
            <a:pPr>
              <a:defRPr/>
            </a:pPr>
            <a:fld id="{8B776130-B63C-48F8-AF2B-3500AA0F05BC}" type="datetime1">
              <a:rPr lang="es-ES"/>
              <a:pPr>
                <a:defRPr/>
              </a:pPr>
              <a:t>20/11/2017</a:t>
            </a:fld>
            <a:endParaRPr lang="es-ES"/>
          </a:p>
        </p:txBody>
      </p:sp>
      <p:sp>
        <p:nvSpPr>
          <p:cNvPr id="4" name="3 Marcador de pie de página"/>
          <p:cNvSpPr>
            <a:spLocks noGrp="1"/>
          </p:cNvSpPr>
          <p:nvPr>
            <p:ph type="ftr" sz="quarter" idx="2"/>
          </p:nvPr>
        </p:nvSpPr>
        <p:spPr bwMode="auto">
          <a:xfrm>
            <a:off x="0" y="9429750"/>
            <a:ext cx="2946400" cy="496888"/>
          </a:xfrm>
          <a:prstGeom prst="rect">
            <a:avLst/>
          </a:prstGeom>
          <a:noFill/>
          <a:ln w="9525">
            <a:noFill/>
            <a:miter lim="800000"/>
            <a:headEnd/>
            <a:tailEnd/>
          </a:ln>
        </p:spPr>
        <p:txBody>
          <a:bodyPr vert="horz" wrap="square" lIns="91426" tIns="45714" rIns="91426" bIns="45714" numCol="1" anchor="b" anchorCtr="0" compatLnSpc="1">
            <a:prstTxWarp prst="textNoShape">
              <a:avLst/>
            </a:prstTxWarp>
          </a:bodyPr>
          <a:lstStyle>
            <a:lvl1pPr algn="l" defTabSz="914472">
              <a:defRPr sz="1200">
                <a:latin typeface="Arial" charset="0"/>
                <a:cs typeface="+mn-cs"/>
              </a:defRPr>
            </a:lvl1pPr>
          </a:lstStyle>
          <a:p>
            <a:pPr>
              <a:defRPr/>
            </a:pPr>
            <a:endParaRPr lang="ca-ES"/>
          </a:p>
        </p:txBody>
      </p:sp>
      <p:sp>
        <p:nvSpPr>
          <p:cNvPr id="5" name="4 Marcador de número de diapositiva"/>
          <p:cNvSpPr>
            <a:spLocks noGrp="1"/>
          </p:cNvSpPr>
          <p:nvPr>
            <p:ph type="sldNum" sz="quarter" idx="3"/>
          </p:nvPr>
        </p:nvSpPr>
        <p:spPr bwMode="auto">
          <a:xfrm>
            <a:off x="3849688" y="9429750"/>
            <a:ext cx="2946400" cy="496888"/>
          </a:xfrm>
          <a:prstGeom prst="rect">
            <a:avLst/>
          </a:prstGeom>
          <a:noFill/>
          <a:ln w="9525">
            <a:noFill/>
            <a:miter lim="800000"/>
            <a:headEnd/>
            <a:tailEnd/>
          </a:ln>
        </p:spPr>
        <p:txBody>
          <a:bodyPr vert="horz" wrap="square" lIns="91426" tIns="45714" rIns="91426" bIns="45714" numCol="1" anchor="b" anchorCtr="0" compatLnSpc="1">
            <a:prstTxWarp prst="textNoShape">
              <a:avLst/>
            </a:prstTxWarp>
          </a:bodyPr>
          <a:lstStyle>
            <a:lvl1pPr algn="r" defTabSz="914472">
              <a:defRPr sz="1200">
                <a:latin typeface="Arial" charset="0"/>
                <a:cs typeface="+mn-cs"/>
              </a:defRPr>
            </a:lvl1pPr>
          </a:lstStyle>
          <a:p>
            <a:pPr>
              <a:defRPr/>
            </a:pPr>
            <a:fld id="{39EC04EC-DA29-4DBC-9C13-38D329E2AA4A}" type="slidenum">
              <a:rPr lang="es-ES"/>
              <a:pPr>
                <a:defRPr/>
              </a:pPr>
              <a:t>‹Nº›</a:t>
            </a:fld>
            <a:endParaRPr lang="es-ES"/>
          </a:p>
        </p:txBody>
      </p:sp>
    </p:spTree>
    <p:extLst>
      <p:ext uri="{BB962C8B-B14F-4D97-AF65-F5344CB8AC3E}">
        <p14:creationId xmlns:p14="http://schemas.microsoft.com/office/powerpoint/2010/main" val="570517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xfrm>
            <a:off x="0" y="0"/>
            <a:ext cx="2946400" cy="496888"/>
          </a:xfrm>
          <a:prstGeom prst="rect">
            <a:avLst/>
          </a:prstGeom>
          <a:noFill/>
          <a:ln w="9525">
            <a:noFill/>
            <a:miter lim="800000"/>
            <a:headEnd/>
            <a:tailEnd/>
          </a:ln>
        </p:spPr>
        <p:txBody>
          <a:bodyPr vert="horz" wrap="square" lIns="91426" tIns="45714" rIns="91426" bIns="45714" numCol="1" anchor="t" anchorCtr="0" compatLnSpc="1">
            <a:prstTxWarp prst="textNoShape">
              <a:avLst/>
            </a:prstTxWarp>
          </a:bodyPr>
          <a:lstStyle>
            <a:lvl1pPr algn="l" defTabSz="914472" eaLnBrk="0" hangingPunct="0">
              <a:defRPr sz="1200">
                <a:latin typeface="Arial" charset="0"/>
                <a:cs typeface="+mn-cs"/>
              </a:defRPr>
            </a:lvl1pPr>
          </a:lstStyle>
          <a:p>
            <a:pPr>
              <a:defRPr/>
            </a:pPr>
            <a:endParaRPr lang="ca-ES"/>
          </a:p>
        </p:txBody>
      </p:sp>
      <p:sp>
        <p:nvSpPr>
          <p:cNvPr id="80899" name="Rectangle 3"/>
          <p:cNvSpPr>
            <a:spLocks noGrp="1" noChangeArrowheads="1"/>
          </p:cNvSpPr>
          <p:nvPr>
            <p:ph type="dt" idx="1"/>
          </p:nvPr>
        </p:nvSpPr>
        <p:spPr bwMode="auto">
          <a:xfrm>
            <a:off x="3849688" y="0"/>
            <a:ext cx="2946400" cy="496888"/>
          </a:xfrm>
          <a:prstGeom prst="rect">
            <a:avLst/>
          </a:prstGeom>
          <a:noFill/>
          <a:ln w="9525">
            <a:noFill/>
            <a:miter lim="800000"/>
            <a:headEnd/>
            <a:tailEnd/>
          </a:ln>
        </p:spPr>
        <p:txBody>
          <a:bodyPr vert="horz" wrap="square" lIns="91426" tIns="45714" rIns="91426" bIns="45714" numCol="1" anchor="t" anchorCtr="0" compatLnSpc="1">
            <a:prstTxWarp prst="textNoShape">
              <a:avLst/>
            </a:prstTxWarp>
          </a:bodyPr>
          <a:lstStyle>
            <a:lvl1pPr algn="r" defTabSz="914472" eaLnBrk="0" hangingPunct="0">
              <a:defRPr sz="1200">
                <a:latin typeface="Arial" charset="0"/>
                <a:cs typeface="+mn-cs"/>
              </a:defRPr>
            </a:lvl1pPr>
          </a:lstStyle>
          <a:p>
            <a:pPr>
              <a:defRPr/>
            </a:pPr>
            <a:fld id="{8EFB0F96-3DD7-4FFE-9F50-051CCC474F10}" type="datetime1">
              <a:rPr lang="ca-ES"/>
              <a:pPr>
                <a:defRPr/>
              </a:pPr>
              <a:t>20/11/2017</a:t>
            </a:fld>
            <a:endParaRPr lang="ca-ES"/>
          </a:p>
        </p:txBody>
      </p:sp>
      <p:sp>
        <p:nvSpPr>
          <p:cNvPr id="17412" name="Rectangle 4"/>
          <p:cNvSpPr>
            <a:spLocks noGrp="1" noRot="1" noChangeAspect="1" noChangeArrowheads="1" noTextEdit="1"/>
          </p:cNvSpPr>
          <p:nvPr>
            <p:ph type="sldImg" idx="2"/>
          </p:nvPr>
        </p:nvSpPr>
        <p:spPr bwMode="auto">
          <a:xfrm>
            <a:off x="709613" y="744538"/>
            <a:ext cx="5376862" cy="3722687"/>
          </a:xfrm>
          <a:prstGeom prst="rect">
            <a:avLst/>
          </a:prstGeom>
          <a:noFill/>
          <a:ln w="9525">
            <a:solidFill>
              <a:srgbClr val="000000"/>
            </a:solidFill>
            <a:miter lim="800000"/>
            <a:headEnd/>
            <a:tailEnd/>
          </a:ln>
        </p:spPr>
      </p:sp>
      <p:sp>
        <p:nvSpPr>
          <p:cNvPr id="80901" name="Rectangle 5"/>
          <p:cNvSpPr>
            <a:spLocks noGrp="1" noChangeArrowheads="1"/>
          </p:cNvSpPr>
          <p:nvPr>
            <p:ph type="body" sz="quarter" idx="3"/>
          </p:nvPr>
        </p:nvSpPr>
        <p:spPr bwMode="auto">
          <a:xfrm>
            <a:off x="679450" y="4716463"/>
            <a:ext cx="5438775" cy="4467225"/>
          </a:xfrm>
          <a:prstGeom prst="rect">
            <a:avLst/>
          </a:prstGeom>
          <a:noFill/>
          <a:ln w="9525">
            <a:noFill/>
            <a:miter lim="800000"/>
            <a:headEnd/>
            <a:tailEnd/>
          </a:ln>
        </p:spPr>
        <p:txBody>
          <a:bodyPr vert="horz" wrap="square" lIns="91426" tIns="45714" rIns="91426" bIns="45714" numCol="1" anchor="t" anchorCtr="0" compatLnSpc="1">
            <a:prstTxWarp prst="textNoShape">
              <a:avLst/>
            </a:prstTxWarp>
          </a:bodyPr>
          <a:lstStyle/>
          <a:p>
            <a:pPr lvl="0"/>
            <a:r>
              <a:rPr lang="ca-ES" noProof="0" smtClean="0"/>
              <a:t>Haga clic para modificar el estilo de texto del patrón</a:t>
            </a:r>
          </a:p>
          <a:p>
            <a:pPr lvl="1"/>
            <a:r>
              <a:rPr lang="ca-ES" noProof="0" smtClean="0"/>
              <a:t>Segundo nivel</a:t>
            </a:r>
          </a:p>
          <a:p>
            <a:pPr lvl="2"/>
            <a:r>
              <a:rPr lang="ca-ES" noProof="0" smtClean="0"/>
              <a:t>Tercer nivel</a:t>
            </a:r>
          </a:p>
          <a:p>
            <a:pPr lvl="3"/>
            <a:r>
              <a:rPr lang="ca-ES" noProof="0" smtClean="0"/>
              <a:t>Cuarto nivel</a:t>
            </a:r>
          </a:p>
          <a:p>
            <a:pPr lvl="4"/>
            <a:r>
              <a:rPr lang="ca-ES" noProof="0" smtClean="0"/>
              <a:t>Quinto nivel</a:t>
            </a:r>
          </a:p>
        </p:txBody>
      </p:sp>
      <p:sp>
        <p:nvSpPr>
          <p:cNvPr id="80902" name="Rectangle 6"/>
          <p:cNvSpPr>
            <a:spLocks noGrp="1" noChangeArrowheads="1"/>
          </p:cNvSpPr>
          <p:nvPr>
            <p:ph type="ftr" sz="quarter" idx="4"/>
          </p:nvPr>
        </p:nvSpPr>
        <p:spPr bwMode="auto">
          <a:xfrm>
            <a:off x="0" y="9429750"/>
            <a:ext cx="2946400" cy="496888"/>
          </a:xfrm>
          <a:prstGeom prst="rect">
            <a:avLst/>
          </a:prstGeom>
          <a:noFill/>
          <a:ln w="9525">
            <a:noFill/>
            <a:miter lim="800000"/>
            <a:headEnd/>
            <a:tailEnd/>
          </a:ln>
        </p:spPr>
        <p:txBody>
          <a:bodyPr vert="horz" wrap="square" lIns="91426" tIns="45714" rIns="91426" bIns="45714" numCol="1" anchor="b" anchorCtr="0" compatLnSpc="1">
            <a:prstTxWarp prst="textNoShape">
              <a:avLst/>
            </a:prstTxWarp>
          </a:bodyPr>
          <a:lstStyle>
            <a:lvl1pPr algn="l" defTabSz="914472" eaLnBrk="0" hangingPunct="0">
              <a:defRPr sz="1200">
                <a:latin typeface="Arial" charset="0"/>
                <a:cs typeface="+mn-cs"/>
              </a:defRPr>
            </a:lvl1pPr>
          </a:lstStyle>
          <a:p>
            <a:pPr>
              <a:defRPr/>
            </a:pPr>
            <a:endParaRPr lang="ca-ES"/>
          </a:p>
        </p:txBody>
      </p:sp>
      <p:sp>
        <p:nvSpPr>
          <p:cNvPr id="80903" name="Rectangle 7"/>
          <p:cNvSpPr>
            <a:spLocks noGrp="1" noChangeArrowheads="1"/>
          </p:cNvSpPr>
          <p:nvPr>
            <p:ph type="sldNum" sz="quarter" idx="5"/>
          </p:nvPr>
        </p:nvSpPr>
        <p:spPr bwMode="auto">
          <a:xfrm>
            <a:off x="3849688" y="9429750"/>
            <a:ext cx="2946400" cy="496888"/>
          </a:xfrm>
          <a:prstGeom prst="rect">
            <a:avLst/>
          </a:prstGeom>
          <a:noFill/>
          <a:ln w="9525">
            <a:noFill/>
            <a:miter lim="800000"/>
            <a:headEnd/>
            <a:tailEnd/>
          </a:ln>
        </p:spPr>
        <p:txBody>
          <a:bodyPr vert="horz" wrap="square" lIns="91426" tIns="45714" rIns="91426" bIns="45714" numCol="1" anchor="b" anchorCtr="0" compatLnSpc="1">
            <a:prstTxWarp prst="textNoShape">
              <a:avLst/>
            </a:prstTxWarp>
          </a:bodyPr>
          <a:lstStyle>
            <a:lvl1pPr algn="r" defTabSz="914472" eaLnBrk="0" hangingPunct="0">
              <a:defRPr sz="1200">
                <a:latin typeface="Arial" charset="0"/>
                <a:cs typeface="+mn-cs"/>
              </a:defRPr>
            </a:lvl1pPr>
          </a:lstStyle>
          <a:p>
            <a:pPr>
              <a:defRPr/>
            </a:pPr>
            <a:fld id="{47623C31-BEF5-4952-A931-53BD9F353CC8}" type="slidenum">
              <a:rPr lang="ca-ES"/>
              <a:pPr>
                <a:defRPr/>
              </a:pPr>
              <a:t>‹Nº›</a:t>
            </a:fld>
            <a:endParaRPr lang="ca-ES"/>
          </a:p>
        </p:txBody>
      </p:sp>
    </p:spTree>
    <p:extLst>
      <p:ext uri="{BB962C8B-B14F-4D97-AF65-F5344CB8AC3E}">
        <p14:creationId xmlns:p14="http://schemas.microsoft.com/office/powerpoint/2010/main" val="36930840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charset="0"/>
        <a:ea typeface="ＭＳ Ｐゴシック" pitchFamily="34" charset="-128"/>
        <a:cs typeface="MS PGothic" pitchFamily="34" charset="-128"/>
      </a:defRPr>
    </a:lvl1pPr>
    <a:lvl2pPr marL="457200" algn="l" rtl="0" eaLnBrk="0" fontAlgn="base" hangingPunct="0">
      <a:spcBef>
        <a:spcPct val="30000"/>
      </a:spcBef>
      <a:spcAft>
        <a:spcPct val="0"/>
      </a:spcAft>
      <a:defRPr sz="1200" kern="1200">
        <a:solidFill>
          <a:schemeClr val="tx1"/>
        </a:solidFill>
        <a:latin typeface="Calibri" charset="0"/>
        <a:ea typeface="ＭＳ Ｐゴシック" pitchFamily="34" charset="-128"/>
        <a:cs typeface="MS PGothic" pitchFamily="34" charset="-128"/>
      </a:defRPr>
    </a:lvl2pPr>
    <a:lvl3pPr marL="914400" algn="l" rtl="0" eaLnBrk="0" fontAlgn="base" hangingPunct="0">
      <a:spcBef>
        <a:spcPct val="30000"/>
      </a:spcBef>
      <a:spcAft>
        <a:spcPct val="0"/>
      </a:spcAft>
      <a:defRPr sz="1200" kern="1200">
        <a:solidFill>
          <a:schemeClr val="tx1"/>
        </a:solidFill>
        <a:latin typeface="Calibri" charset="0"/>
        <a:ea typeface="ＭＳ Ｐゴシック" pitchFamily="34" charset="-128"/>
        <a:cs typeface="MS PGothic" pitchFamily="34" charset="-128"/>
      </a:defRPr>
    </a:lvl3pPr>
    <a:lvl4pPr marL="1371600" algn="l" rtl="0" eaLnBrk="0" fontAlgn="base" hangingPunct="0">
      <a:spcBef>
        <a:spcPct val="30000"/>
      </a:spcBef>
      <a:spcAft>
        <a:spcPct val="0"/>
      </a:spcAft>
      <a:defRPr sz="1200" kern="1200">
        <a:solidFill>
          <a:schemeClr val="tx1"/>
        </a:solidFill>
        <a:latin typeface="Calibri" charset="0"/>
        <a:ea typeface="ＭＳ Ｐゴシック" pitchFamily="34" charset="-128"/>
        <a:cs typeface="MS PGothic" pitchFamily="34" charset="-128"/>
      </a:defRPr>
    </a:lvl4pPr>
    <a:lvl5pPr marL="1828800" algn="l" rtl="0" eaLnBrk="0" fontAlgn="base" hangingPunct="0">
      <a:spcBef>
        <a:spcPct val="30000"/>
      </a:spcBef>
      <a:spcAft>
        <a:spcPct val="0"/>
      </a:spcAft>
      <a:defRPr sz="1200" kern="1200">
        <a:solidFill>
          <a:schemeClr val="tx1"/>
        </a:solidFill>
        <a:latin typeface="Calibri" charset="0"/>
        <a:ea typeface="ＭＳ Ｐゴシック" pitchFamily="34" charset="-128"/>
        <a:cs typeface="MS PGothic"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5"/>
          <p:cNvSpPr>
            <a:spLocks noChangeArrowheads="1"/>
          </p:cNvSpPr>
          <p:nvPr/>
        </p:nvSpPr>
        <p:spPr bwMode="auto">
          <a:xfrm>
            <a:off x="3849534" y="9430467"/>
            <a:ext cx="2944973" cy="496173"/>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17694720 60000 65536"/>
              <a:gd name="T9" fmla="*/ 0 60000 65536"/>
              <a:gd name="T10" fmla="*/ 5898240 60000 65536"/>
              <a:gd name="T11" fmla="*/ 1179648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94" tIns="45997" rIns="91994" bIns="45997" anchor="b"/>
          <a:lstStyle>
            <a:lvl1pPr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1pPr>
            <a:lvl2pPr marL="742950" indent="-28575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2pPr>
            <a:lvl3pPr marL="11430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3pPr>
            <a:lvl4pPr marL="16002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4pPr>
            <a:lvl5pPr marL="20574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9pPr>
          </a:lstStyle>
          <a:p>
            <a:pPr eaLnBrk="1" hangingPunct="1"/>
            <a:fld id="{E78AE871-6895-4C89-A3F0-1B5096A4686A}" type="slidenum">
              <a:rPr lang="ca-ES" altLang="ca-ES">
                <a:solidFill>
                  <a:srgbClr val="000000"/>
                </a:solidFill>
                <a:latin typeface="Calibri" pitchFamily="34" charset="0"/>
                <a:ea typeface="Droid Sans Fallback"/>
                <a:cs typeface="FreeSans"/>
              </a:rPr>
              <a:pPr eaLnBrk="1" hangingPunct="1"/>
              <a:t>1</a:t>
            </a:fld>
            <a:endParaRPr lang="ca-ES" altLang="ca-ES">
              <a:solidFill>
                <a:srgbClr val="000000"/>
              </a:solidFill>
              <a:latin typeface="Calibri" pitchFamily="34" charset="0"/>
              <a:ea typeface="Droid Sans Fallback"/>
              <a:cs typeface="FreeSans"/>
            </a:endParaRPr>
          </a:p>
        </p:txBody>
      </p:sp>
      <p:sp>
        <p:nvSpPr>
          <p:cNvPr id="6147" name="Text Box 1"/>
          <p:cNvSpPr>
            <a:spLocks/>
          </p:cNvSpPr>
          <p:nvPr/>
        </p:nvSpPr>
        <p:spPr bwMode="auto">
          <a:xfrm>
            <a:off x="950503" y="746638"/>
            <a:ext cx="4895086" cy="3720508"/>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17694720 60000 65536"/>
              <a:gd name="T9" fmla="*/ 0 60000 65536"/>
              <a:gd name="T10" fmla="*/ 5898240 60000 65536"/>
              <a:gd name="T11" fmla="*/ 1179648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solidFill>
            <a:srgbClr val="FFFFFF"/>
          </a:solidFill>
          <a:ln w="9360">
            <a:solidFill>
              <a:srgbClr val="000000"/>
            </a:solidFill>
            <a:prstDash val="solid"/>
            <a:miter lim="800000"/>
            <a:headEnd/>
            <a:tailEnd/>
          </a:ln>
        </p:spPr>
        <p:txBody>
          <a:bodyPr wrap="none" lIns="84807" tIns="42404" rIns="84807" bIns="42404" anchor="ctr"/>
          <a:lstStyle/>
          <a:p>
            <a:endParaRPr lang="ca-ES"/>
          </a:p>
        </p:txBody>
      </p:sp>
      <p:sp>
        <p:nvSpPr>
          <p:cNvPr id="6148" name="3 CuadroTexto"/>
          <p:cNvSpPr txBox="1">
            <a:spLocks noChangeArrowheads="1"/>
          </p:cNvSpPr>
          <p:nvPr/>
        </p:nvSpPr>
        <p:spPr bwMode="auto">
          <a:xfrm>
            <a:off x="679610" y="4716027"/>
            <a:ext cx="5425783" cy="4454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5166" tIns="42404" rIns="85166" bIns="42404" anchor="ctr"/>
          <a:lstStyle>
            <a:lvl1pPr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1pPr>
            <a:lvl2pPr marL="742950" indent="-28575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2pPr>
            <a:lvl3pPr marL="11430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3pPr>
            <a:lvl4pPr marL="16002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4pPr>
            <a:lvl5pPr marL="20574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9pPr>
          </a:lstStyle>
          <a:p>
            <a:pPr eaLnBrk="1" hangingPunct="1">
              <a:spcBef>
                <a:spcPts val="449"/>
              </a:spcBef>
            </a:pPr>
            <a:endParaRPr lang="ca-ES" altLang="ca-ES" sz="1200">
              <a:solidFill>
                <a:srgbClr val="000000"/>
              </a:solidFill>
              <a:latin typeface="Calibri" pitchFamily="34" charset="0"/>
              <a:ea typeface="Droid Sans Fallback"/>
              <a:cs typeface="FreeSans"/>
            </a:endParaRPr>
          </a:p>
        </p:txBody>
      </p:sp>
    </p:spTree>
    <p:extLst>
      <p:ext uri="{BB962C8B-B14F-4D97-AF65-F5344CB8AC3E}">
        <p14:creationId xmlns:p14="http://schemas.microsoft.com/office/powerpoint/2010/main" val="1865923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14"/>
          <p:cNvSpPr>
            <a:spLocks noGrp="1" noChangeArrowheads="1"/>
          </p:cNvSpPr>
          <p:nvPr>
            <p:ph type="sldNum" sz="quarter"/>
          </p:nvPr>
        </p:nvSpPr>
        <p:spPr>
          <a:noFill/>
        </p:spPr>
        <p:txBody>
          <a:bodyPr/>
          <a:lstStyle/>
          <a:p>
            <a:fld id="{B84D335B-23B9-47C8-BCC4-A0823B1A79FC}" type="slidenum">
              <a:rPr lang="es-ES"/>
              <a:pPr/>
              <a:t>36</a:t>
            </a:fld>
            <a:endParaRPr lang="es-ES"/>
          </a:p>
        </p:txBody>
      </p:sp>
      <p:sp>
        <p:nvSpPr>
          <p:cNvPr id="107523"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2B5FED08-77E4-4886-A339-C22C8B7FF9B3}"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36</a:t>
            </a:fld>
            <a:endParaRPr lang="es-ES" sz="1300" dirty="0">
              <a:solidFill>
                <a:srgbClr val="000000"/>
              </a:solidFill>
            </a:endParaRPr>
          </a:p>
        </p:txBody>
      </p:sp>
      <p:sp>
        <p:nvSpPr>
          <p:cNvPr id="107524"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07525" name="Rectangle 3"/>
          <p:cNvSpPr txBox="1">
            <a:spLocks noGrp="1" noChangeArrowheads="1"/>
          </p:cNvSpPr>
          <p:nvPr>
            <p:ph type="body" idx="1"/>
          </p:nvPr>
        </p:nvSpPr>
        <p:spPr>
          <a:xfrm>
            <a:off x="679464" y="4715406"/>
            <a:ext cx="5429628" cy="4459770"/>
          </a:xfrm>
          <a:noFill/>
          <a:ln/>
        </p:spPr>
        <p:txBody>
          <a:bodyPr wrap="none" anchor="ctr"/>
          <a:lstStyle/>
          <a:p>
            <a:endParaRPr lang="en-US" smtClean="0"/>
          </a:p>
        </p:txBody>
      </p:sp>
    </p:spTree>
    <p:extLst>
      <p:ext uri="{BB962C8B-B14F-4D97-AF65-F5344CB8AC3E}">
        <p14:creationId xmlns:p14="http://schemas.microsoft.com/office/powerpoint/2010/main" val="1409254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14"/>
          <p:cNvSpPr>
            <a:spLocks noGrp="1" noChangeArrowheads="1"/>
          </p:cNvSpPr>
          <p:nvPr>
            <p:ph type="sldNum" sz="quarter"/>
          </p:nvPr>
        </p:nvSpPr>
        <p:spPr>
          <a:noFill/>
        </p:spPr>
        <p:txBody>
          <a:bodyPr/>
          <a:lstStyle/>
          <a:p>
            <a:fld id="{837B8492-D2D3-44A8-BD20-B61537CDD248}" type="slidenum">
              <a:rPr lang="es-ES"/>
              <a:pPr/>
              <a:t>37</a:t>
            </a:fld>
            <a:endParaRPr lang="es-ES"/>
          </a:p>
        </p:txBody>
      </p:sp>
      <p:sp>
        <p:nvSpPr>
          <p:cNvPr id="108547"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FE04C8AA-933D-4A16-9AEB-64781C3F1B23}"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37</a:t>
            </a:fld>
            <a:endParaRPr lang="es-ES" sz="1300" dirty="0">
              <a:solidFill>
                <a:srgbClr val="000000"/>
              </a:solidFill>
            </a:endParaRPr>
          </a:p>
        </p:txBody>
      </p:sp>
      <p:sp>
        <p:nvSpPr>
          <p:cNvPr id="108548"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08549" name="Rectangle 3"/>
          <p:cNvSpPr txBox="1">
            <a:spLocks noGrp="1" noChangeArrowheads="1"/>
          </p:cNvSpPr>
          <p:nvPr>
            <p:ph type="body" idx="1"/>
          </p:nvPr>
        </p:nvSpPr>
        <p:spPr>
          <a:xfrm>
            <a:off x="679464" y="4715406"/>
            <a:ext cx="5429628" cy="4459770"/>
          </a:xfrm>
          <a:noFill/>
          <a:ln/>
        </p:spPr>
        <p:txBody>
          <a:bodyPr wrap="none" anchor="ctr"/>
          <a:lstStyle/>
          <a:p>
            <a:endParaRPr lang="en-US" smtClean="0"/>
          </a:p>
        </p:txBody>
      </p:sp>
    </p:spTree>
    <p:extLst>
      <p:ext uri="{BB962C8B-B14F-4D97-AF65-F5344CB8AC3E}">
        <p14:creationId xmlns:p14="http://schemas.microsoft.com/office/powerpoint/2010/main" val="1678627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14"/>
          <p:cNvSpPr>
            <a:spLocks noGrp="1" noChangeArrowheads="1"/>
          </p:cNvSpPr>
          <p:nvPr>
            <p:ph type="sldNum" sz="quarter"/>
          </p:nvPr>
        </p:nvSpPr>
        <p:spPr>
          <a:noFill/>
        </p:spPr>
        <p:txBody>
          <a:bodyPr/>
          <a:lstStyle/>
          <a:p>
            <a:fld id="{1D443BDC-3425-4858-A328-F654EEBA88AF}" type="slidenum">
              <a:rPr lang="es-ES"/>
              <a:pPr/>
              <a:t>38</a:t>
            </a:fld>
            <a:endParaRPr lang="es-ES"/>
          </a:p>
        </p:txBody>
      </p:sp>
      <p:sp>
        <p:nvSpPr>
          <p:cNvPr id="109571"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66AB1628-5F3E-49B7-9C00-6405E34D0CFA}"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38</a:t>
            </a:fld>
            <a:endParaRPr lang="es-ES" sz="1300" dirty="0">
              <a:solidFill>
                <a:srgbClr val="000000"/>
              </a:solidFill>
            </a:endParaRPr>
          </a:p>
        </p:txBody>
      </p:sp>
      <p:sp>
        <p:nvSpPr>
          <p:cNvPr id="109572"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09573" name="Text Box 3"/>
          <p:cNvSpPr txBox="1">
            <a:spLocks noGrp="1" noChangeArrowheads="1"/>
          </p:cNvSpPr>
          <p:nvPr>
            <p:ph type="body" idx="1"/>
          </p:nvPr>
        </p:nvSpPr>
        <p:spPr>
          <a:xfrm>
            <a:off x="679465" y="4715406"/>
            <a:ext cx="5437227" cy="4467471"/>
          </a:xfrm>
          <a:noFill/>
          <a:ln/>
        </p:spPr>
        <p:txBody>
          <a:bodyPr/>
          <a:lstStyle/>
          <a:p>
            <a:pPr>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latin typeface="Arial Unicode MS" pitchFamily="32" charset="0"/>
                <a:cs typeface="DejaVu Sans" pitchFamily="32" charset="0"/>
              </a:rPr>
              <a:t>Gene therapy is a technique for correcting defective genes responsible  for the disease development. </a:t>
            </a:r>
          </a:p>
          <a:p>
            <a:pPr>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latin typeface="Arial Unicode MS" pitchFamily="32" charset="0"/>
                <a:cs typeface="DejaVu Sans" pitchFamily="32" charset="0"/>
              </a:rPr>
              <a:t>Researchers may use one of several  approaches for correcting faulty genes:</a:t>
            </a:r>
          </a:p>
          <a:p>
            <a:pPr marL="1432214" lvl="1" indent="-537655">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latin typeface="Arial Unicode MS" pitchFamily="32" charset="0"/>
                <a:cs typeface="DejaVu Sans" pitchFamily="32" charset="0"/>
              </a:rPr>
              <a:t>Technique A: A normal gene may be inserted into a nonspecific  location within the genome to replace a nonfunctional gene. Most common approach.</a:t>
            </a:r>
          </a:p>
          <a:p>
            <a:pPr marL="1432214" lvl="1" indent="-537655">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latin typeface="Arial Unicode MS" pitchFamily="32" charset="0"/>
                <a:cs typeface="DejaVu Sans" pitchFamily="32" charset="0"/>
              </a:rPr>
              <a:t>Technique B: An abnormal gene could be swapped for a normal gene through homologous recombination.</a:t>
            </a:r>
          </a:p>
          <a:p>
            <a:pPr marL="1432214" lvl="1" indent="-537655">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latin typeface="Arial Unicode MS" pitchFamily="32" charset="0"/>
                <a:cs typeface="DejaVu Sans" pitchFamily="32" charset="0"/>
              </a:rPr>
              <a:t>Technique C: The abnormal gene could be repaired through selective reverse mutation, which returns the gene to its normal function.</a:t>
            </a:r>
          </a:p>
          <a:p>
            <a:pPr marL="1432214" lvl="1" indent="-537655">
              <a:spcBef>
                <a:spcPct val="0"/>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latin typeface="Arial Unicode MS" pitchFamily="32" charset="0"/>
                <a:cs typeface="DejaVu Sans" pitchFamily="32" charset="0"/>
              </a:rPr>
              <a:t>Technique D: The regulation (the degree to which a gene is turned on or off) of a particular gene could be altered.</a:t>
            </a:r>
          </a:p>
          <a:p>
            <a:pPr>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endParaRPr lang="en-US" sz="900" dirty="0" smtClean="0">
              <a:latin typeface="Arial Unicode MS" pitchFamily="32" charset="0"/>
              <a:cs typeface="DejaVu Sans" pitchFamily="32" charset="0"/>
            </a:endParaRPr>
          </a:p>
        </p:txBody>
      </p:sp>
    </p:spTree>
    <p:extLst>
      <p:ext uri="{BB962C8B-B14F-4D97-AF65-F5344CB8AC3E}">
        <p14:creationId xmlns:p14="http://schemas.microsoft.com/office/powerpoint/2010/main" val="654731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14"/>
          <p:cNvSpPr>
            <a:spLocks noGrp="1" noChangeArrowheads="1"/>
          </p:cNvSpPr>
          <p:nvPr>
            <p:ph type="sldNum" sz="quarter"/>
          </p:nvPr>
        </p:nvSpPr>
        <p:spPr>
          <a:noFill/>
        </p:spPr>
        <p:txBody>
          <a:bodyPr/>
          <a:lstStyle/>
          <a:p>
            <a:fld id="{8F225D4F-9B89-4833-ADE3-67CFFDF8CB0A}" type="slidenum">
              <a:rPr lang="es-ES"/>
              <a:pPr/>
              <a:t>39</a:t>
            </a:fld>
            <a:endParaRPr lang="es-ES"/>
          </a:p>
        </p:txBody>
      </p:sp>
      <p:sp>
        <p:nvSpPr>
          <p:cNvPr id="110595"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6591729A-D3F1-40C7-AC55-5F80566B5D55}"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39</a:t>
            </a:fld>
            <a:endParaRPr lang="es-ES" sz="1300" dirty="0">
              <a:solidFill>
                <a:srgbClr val="000000"/>
              </a:solidFill>
            </a:endParaRPr>
          </a:p>
        </p:txBody>
      </p:sp>
      <p:sp>
        <p:nvSpPr>
          <p:cNvPr id="110596"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10597" name="Rectangle 3"/>
          <p:cNvSpPr txBox="1">
            <a:spLocks noGrp="1" noChangeArrowheads="1"/>
          </p:cNvSpPr>
          <p:nvPr>
            <p:ph type="body" idx="1"/>
          </p:nvPr>
        </p:nvSpPr>
        <p:spPr>
          <a:xfrm>
            <a:off x="679464" y="4715406"/>
            <a:ext cx="5429628" cy="4459770"/>
          </a:xfrm>
          <a:noFill/>
          <a:ln/>
        </p:spPr>
        <p:txBody>
          <a:bodyPr wrap="none" anchor="ctr"/>
          <a:lstStyle/>
          <a:p>
            <a:endParaRPr lang="en-US" smtClean="0"/>
          </a:p>
        </p:txBody>
      </p:sp>
    </p:spTree>
    <p:extLst>
      <p:ext uri="{BB962C8B-B14F-4D97-AF65-F5344CB8AC3E}">
        <p14:creationId xmlns:p14="http://schemas.microsoft.com/office/powerpoint/2010/main" val="403571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14"/>
          <p:cNvSpPr>
            <a:spLocks noGrp="1" noChangeArrowheads="1"/>
          </p:cNvSpPr>
          <p:nvPr>
            <p:ph type="sldNum" sz="quarter"/>
          </p:nvPr>
        </p:nvSpPr>
        <p:spPr>
          <a:noFill/>
        </p:spPr>
        <p:txBody>
          <a:bodyPr/>
          <a:lstStyle/>
          <a:p>
            <a:fld id="{4504FB3F-CA77-4FE5-8406-203CF6200764}" type="slidenum">
              <a:rPr lang="es-ES"/>
              <a:pPr/>
              <a:t>40</a:t>
            </a:fld>
            <a:endParaRPr lang="es-ES"/>
          </a:p>
        </p:txBody>
      </p:sp>
      <p:sp>
        <p:nvSpPr>
          <p:cNvPr id="111619"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BEA8C136-A225-4369-8EF8-26D061719F55}"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40</a:t>
            </a:fld>
            <a:endParaRPr lang="es-ES" sz="1300" dirty="0">
              <a:solidFill>
                <a:srgbClr val="000000"/>
              </a:solidFill>
            </a:endParaRPr>
          </a:p>
        </p:txBody>
      </p:sp>
      <p:sp>
        <p:nvSpPr>
          <p:cNvPr id="111620"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11621" name="Text Box 3"/>
          <p:cNvSpPr txBox="1">
            <a:spLocks noGrp="1" noChangeArrowheads="1"/>
          </p:cNvSpPr>
          <p:nvPr>
            <p:ph type="body" idx="1"/>
          </p:nvPr>
        </p:nvSpPr>
        <p:spPr>
          <a:xfrm>
            <a:off x="679465" y="4715406"/>
            <a:ext cx="5437227" cy="4467471"/>
          </a:xfrm>
          <a:noFill/>
          <a:ln/>
        </p:spPr>
        <p:txBody>
          <a:bodyPr/>
          <a:lstStyle/>
          <a:p>
            <a:pPr>
              <a:spcBef>
                <a:spcPts val="471"/>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1300" dirty="0" smtClean="0">
                <a:cs typeface="DejaVu Sans" pitchFamily="32" charset="0"/>
              </a:rPr>
              <a:t>The randomization is restricted within the blocks.</a:t>
            </a:r>
          </a:p>
          <a:p>
            <a:pPr>
              <a:spcBef>
                <a:spcPts val="471"/>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1300" dirty="0" smtClean="0">
                <a:cs typeface="DejaVu Sans" pitchFamily="32" charset="0"/>
              </a:rPr>
              <a:t>Each treatment has the same number of replications. </a:t>
            </a:r>
          </a:p>
          <a:p>
            <a:pPr>
              <a:spcBef>
                <a:spcPts val="471"/>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1300" dirty="0" smtClean="0">
                <a:cs typeface="DejaVu Sans" pitchFamily="32" charset="0"/>
              </a:rPr>
              <a:t>Assumes that there is no interaction between treatments and blocks. </a:t>
            </a:r>
          </a:p>
          <a:p>
            <a:pPr>
              <a:spcBef>
                <a:spcPts val="471"/>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endParaRPr lang="en-US" sz="1300" dirty="0" smtClean="0">
              <a:cs typeface="DejaVu Sans" pitchFamily="32" charset="0"/>
            </a:endParaRPr>
          </a:p>
          <a:p>
            <a:pPr>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cs typeface="DejaVu Sans" pitchFamily="32" charset="0"/>
              </a:rPr>
              <a:t>The RBD is a good method to analyze the data when the experiments are spread over a period of time or space and the possibility of systematic variation or trends exists.  </a:t>
            </a:r>
          </a:p>
          <a:p>
            <a:pPr>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cs typeface="DejaVu Sans" pitchFamily="32" charset="0"/>
              </a:rPr>
              <a:t>There is no restriction on the number of replicates needed or treatment needed, but  in general, at least </a:t>
            </a:r>
            <a:r>
              <a:rPr lang="en-US" sz="900" i="1" dirty="0" smtClean="0">
                <a:cs typeface="DejaVu Sans" pitchFamily="32" charset="0"/>
              </a:rPr>
              <a:t>two</a:t>
            </a:r>
            <a:r>
              <a:rPr lang="en-US" sz="900" dirty="0" smtClean="0">
                <a:cs typeface="DejaVu Sans" pitchFamily="32" charset="0"/>
              </a:rPr>
              <a:t> replicates are required to carry out the test of significance.</a:t>
            </a:r>
          </a:p>
          <a:p>
            <a:pPr>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cs typeface="DejaVu Sans" pitchFamily="32" charset="0"/>
              </a:rPr>
              <a:t>Also some other treatments may be included more than once without making the analysis bit more complicated.</a:t>
            </a:r>
          </a:p>
          <a:p>
            <a:pPr>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cs typeface="DejaVu Sans" pitchFamily="32" charset="0"/>
              </a:rPr>
              <a:t>The error of any treatment can be isolated and any number of  treatments may be    omitted from the analysis without complicating  the analysis. </a:t>
            </a:r>
          </a:p>
          <a:p>
            <a:pPr>
              <a:spcBef>
                <a:spcPct val="0"/>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r>
              <a:rPr lang="en-US" sz="900" dirty="0" smtClean="0">
                <a:cs typeface="DejaVu Sans" pitchFamily="32" charset="0"/>
              </a:rPr>
              <a:t>The RBD is not recommended when a large number of treatments and blocks have considerable variability. </a:t>
            </a:r>
          </a:p>
          <a:p>
            <a:pPr>
              <a:spcBef>
                <a:spcPts val="326"/>
              </a:spcBef>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endParaRPr lang="en-US" sz="900" dirty="0" smtClean="0">
              <a:cs typeface="DejaVu Sans" pitchFamily="32" charset="0"/>
            </a:endParaRPr>
          </a:p>
        </p:txBody>
      </p:sp>
    </p:spTree>
    <p:extLst>
      <p:ext uri="{BB962C8B-B14F-4D97-AF65-F5344CB8AC3E}">
        <p14:creationId xmlns:p14="http://schemas.microsoft.com/office/powerpoint/2010/main" val="3918606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14"/>
          <p:cNvSpPr>
            <a:spLocks noGrp="1" noChangeArrowheads="1"/>
          </p:cNvSpPr>
          <p:nvPr>
            <p:ph type="sldNum" sz="quarter"/>
          </p:nvPr>
        </p:nvSpPr>
        <p:spPr>
          <a:noFill/>
        </p:spPr>
        <p:txBody>
          <a:bodyPr/>
          <a:lstStyle/>
          <a:p>
            <a:fld id="{3691D3BF-04E5-452B-99EB-8C836B4AD6E3}" type="slidenum">
              <a:rPr lang="es-ES"/>
              <a:pPr/>
              <a:t>41</a:t>
            </a:fld>
            <a:endParaRPr lang="es-ES"/>
          </a:p>
        </p:txBody>
      </p:sp>
      <p:sp>
        <p:nvSpPr>
          <p:cNvPr id="112643"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FA51C0B0-D1E7-446C-BCC8-9F5EB6E97F3D}"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41</a:t>
            </a:fld>
            <a:endParaRPr lang="es-ES" sz="1300" dirty="0">
              <a:solidFill>
                <a:srgbClr val="000000"/>
              </a:solidFill>
            </a:endParaRPr>
          </a:p>
        </p:txBody>
      </p:sp>
      <p:sp>
        <p:nvSpPr>
          <p:cNvPr id="112644"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12645" name="Rectangle 3"/>
          <p:cNvSpPr txBox="1">
            <a:spLocks noGrp="1" noChangeArrowheads="1"/>
          </p:cNvSpPr>
          <p:nvPr>
            <p:ph type="body" idx="1"/>
          </p:nvPr>
        </p:nvSpPr>
        <p:spPr>
          <a:xfrm>
            <a:off x="679464" y="4715406"/>
            <a:ext cx="5429628" cy="4459770"/>
          </a:xfrm>
          <a:noFill/>
          <a:ln/>
        </p:spPr>
        <p:txBody>
          <a:bodyPr wrap="none" anchor="ctr"/>
          <a:lstStyle/>
          <a:p>
            <a:endParaRPr lang="en-US" smtClean="0"/>
          </a:p>
        </p:txBody>
      </p:sp>
    </p:spTree>
    <p:extLst>
      <p:ext uri="{BB962C8B-B14F-4D97-AF65-F5344CB8AC3E}">
        <p14:creationId xmlns:p14="http://schemas.microsoft.com/office/powerpoint/2010/main" val="2492983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14"/>
          <p:cNvSpPr>
            <a:spLocks noGrp="1" noChangeArrowheads="1"/>
          </p:cNvSpPr>
          <p:nvPr>
            <p:ph type="sldNum" sz="quarter"/>
          </p:nvPr>
        </p:nvSpPr>
        <p:spPr>
          <a:noFill/>
        </p:spPr>
        <p:txBody>
          <a:bodyPr/>
          <a:lstStyle/>
          <a:p>
            <a:fld id="{F9B12F2A-F869-4F0E-9693-99FEA3948B19}" type="slidenum">
              <a:rPr lang="es-ES"/>
              <a:pPr/>
              <a:t>42</a:t>
            </a:fld>
            <a:endParaRPr lang="es-ES"/>
          </a:p>
        </p:txBody>
      </p:sp>
      <p:sp>
        <p:nvSpPr>
          <p:cNvPr id="113667"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0E8CB4F8-DA78-4DC1-B893-C1ED41ABA7D2}"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42</a:t>
            </a:fld>
            <a:endParaRPr lang="es-ES" sz="1300" dirty="0">
              <a:solidFill>
                <a:srgbClr val="000000"/>
              </a:solidFill>
            </a:endParaRPr>
          </a:p>
        </p:txBody>
      </p:sp>
      <p:sp>
        <p:nvSpPr>
          <p:cNvPr id="113668" name="Rectangle 2"/>
          <p:cNvSpPr txBox="1">
            <a:spLocks noGrp="1" noRot="1" noChangeAspect="1" noChangeArrowheads="1" noTextEdit="1"/>
          </p:cNvSpPr>
          <p:nvPr>
            <p:ph type="sldImg"/>
          </p:nvPr>
        </p:nvSpPr>
        <p:spPr>
          <a:xfrm>
            <a:off x="712788" y="754063"/>
            <a:ext cx="5368925" cy="3717925"/>
          </a:xfrm>
          <a:solidFill>
            <a:srgbClr val="FFFFFF"/>
          </a:solidFill>
          <a:ln>
            <a:solidFill>
              <a:srgbClr val="000000"/>
            </a:solidFill>
            <a:miter lim="800000"/>
          </a:ln>
        </p:spPr>
      </p:sp>
      <p:sp>
        <p:nvSpPr>
          <p:cNvPr id="113669" name="Rectangle 3"/>
          <p:cNvSpPr txBox="1">
            <a:spLocks noGrp="1" noChangeArrowheads="1"/>
          </p:cNvSpPr>
          <p:nvPr>
            <p:ph type="body" idx="1"/>
          </p:nvPr>
        </p:nvSpPr>
        <p:spPr>
          <a:xfrm>
            <a:off x="679464" y="4715406"/>
            <a:ext cx="5429628" cy="4459770"/>
          </a:xfrm>
          <a:noFill/>
          <a:ln/>
        </p:spPr>
        <p:txBody>
          <a:bodyPr wrap="none" anchor="ctr"/>
          <a:lstStyle/>
          <a:p>
            <a:endParaRPr lang="en-US" smtClean="0"/>
          </a:p>
        </p:txBody>
      </p:sp>
    </p:spTree>
    <p:extLst>
      <p:ext uri="{BB962C8B-B14F-4D97-AF65-F5344CB8AC3E}">
        <p14:creationId xmlns:p14="http://schemas.microsoft.com/office/powerpoint/2010/main" val="4229851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14"/>
          <p:cNvSpPr>
            <a:spLocks noGrp="1" noChangeArrowheads="1"/>
          </p:cNvSpPr>
          <p:nvPr>
            <p:ph type="sldNum" sz="quarter"/>
          </p:nvPr>
        </p:nvSpPr>
        <p:spPr>
          <a:noFill/>
        </p:spPr>
        <p:txBody>
          <a:bodyPr/>
          <a:lstStyle/>
          <a:p>
            <a:fld id="{3C2848E7-BEAC-485B-9105-B4B9DC62AC3D}" type="slidenum">
              <a:rPr lang="es-ES"/>
              <a:pPr/>
              <a:t>43</a:t>
            </a:fld>
            <a:endParaRPr lang="es-ES"/>
          </a:p>
        </p:txBody>
      </p:sp>
      <p:sp>
        <p:nvSpPr>
          <p:cNvPr id="114691"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3755AE35-5785-4D88-B6A5-96148BEB2C21}"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43</a:t>
            </a:fld>
            <a:endParaRPr lang="es-ES" sz="1300" dirty="0">
              <a:solidFill>
                <a:srgbClr val="000000"/>
              </a:solidFill>
            </a:endParaRPr>
          </a:p>
        </p:txBody>
      </p:sp>
      <p:sp>
        <p:nvSpPr>
          <p:cNvPr id="114692"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14693" name="Rectangle 3"/>
          <p:cNvSpPr txBox="1">
            <a:spLocks noGrp="1" noChangeArrowheads="1"/>
          </p:cNvSpPr>
          <p:nvPr>
            <p:ph type="body" idx="1"/>
          </p:nvPr>
        </p:nvSpPr>
        <p:spPr>
          <a:xfrm>
            <a:off x="679464" y="4715406"/>
            <a:ext cx="5429628" cy="4459770"/>
          </a:xfrm>
          <a:noFill/>
          <a:ln/>
        </p:spPr>
        <p:txBody>
          <a:bodyPr wrap="none" anchor="ctr"/>
          <a:lstStyle/>
          <a:p>
            <a:endParaRPr lang="en-US" smtClean="0"/>
          </a:p>
        </p:txBody>
      </p:sp>
    </p:spTree>
    <p:extLst>
      <p:ext uri="{BB962C8B-B14F-4D97-AF65-F5344CB8AC3E}">
        <p14:creationId xmlns:p14="http://schemas.microsoft.com/office/powerpoint/2010/main" val="17462800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4" name="Rectangle 14"/>
          <p:cNvSpPr>
            <a:spLocks noGrp="1" noChangeArrowheads="1"/>
          </p:cNvSpPr>
          <p:nvPr>
            <p:ph type="sldNum" sz="quarter"/>
          </p:nvPr>
        </p:nvSpPr>
        <p:spPr>
          <a:noFill/>
        </p:spPr>
        <p:txBody>
          <a:bodyPr/>
          <a:lstStyle/>
          <a:p>
            <a:fld id="{AABC601E-285B-40F4-9897-8934C7F58020}" type="slidenum">
              <a:rPr lang="es-ES"/>
              <a:pPr/>
              <a:t>44</a:t>
            </a:fld>
            <a:endParaRPr lang="es-ES"/>
          </a:p>
        </p:txBody>
      </p:sp>
      <p:sp>
        <p:nvSpPr>
          <p:cNvPr id="115715"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6E5B4727-B07A-4CA1-A47B-6AE73857B102}"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44</a:t>
            </a:fld>
            <a:endParaRPr lang="es-ES" sz="1300" dirty="0">
              <a:solidFill>
                <a:srgbClr val="000000"/>
              </a:solidFill>
            </a:endParaRPr>
          </a:p>
        </p:txBody>
      </p:sp>
      <p:sp>
        <p:nvSpPr>
          <p:cNvPr id="115716"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15717" name="Rectangle 3"/>
          <p:cNvSpPr txBox="1">
            <a:spLocks noGrp="1" noChangeArrowheads="1"/>
          </p:cNvSpPr>
          <p:nvPr>
            <p:ph type="body" idx="1"/>
          </p:nvPr>
        </p:nvSpPr>
        <p:spPr>
          <a:xfrm>
            <a:off x="679464" y="4715406"/>
            <a:ext cx="5429628" cy="4459770"/>
          </a:xfrm>
          <a:noFill/>
          <a:ln/>
        </p:spPr>
        <p:txBody>
          <a:bodyPr wrap="none" anchor="ctr"/>
          <a:lstStyle/>
          <a:p>
            <a:endParaRPr lang="en-US" smtClean="0"/>
          </a:p>
        </p:txBody>
      </p:sp>
    </p:spTree>
    <p:extLst>
      <p:ext uri="{BB962C8B-B14F-4D97-AF65-F5344CB8AC3E}">
        <p14:creationId xmlns:p14="http://schemas.microsoft.com/office/powerpoint/2010/main" val="231988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14"/>
          <p:cNvSpPr>
            <a:spLocks noGrp="1" noChangeArrowheads="1"/>
          </p:cNvSpPr>
          <p:nvPr>
            <p:ph type="sldNum" sz="quarter"/>
          </p:nvPr>
        </p:nvSpPr>
        <p:spPr>
          <a:noFill/>
        </p:spPr>
        <p:txBody>
          <a:bodyPr/>
          <a:lstStyle/>
          <a:p>
            <a:fld id="{4AF0F4BD-6B93-44D4-9F49-6A13D95F7822}" type="slidenum">
              <a:rPr lang="es-ES"/>
              <a:pPr/>
              <a:t>45</a:t>
            </a:fld>
            <a:endParaRPr lang="es-ES"/>
          </a:p>
        </p:txBody>
      </p:sp>
      <p:sp>
        <p:nvSpPr>
          <p:cNvPr id="116739" name="Text Box 1"/>
          <p:cNvSpPr txBox="1">
            <a:spLocks noChangeArrowheads="1"/>
          </p:cNvSpPr>
          <p:nvPr/>
        </p:nvSpPr>
        <p:spPr bwMode="auto">
          <a:xfrm>
            <a:off x="3847254" y="9430812"/>
            <a:ext cx="2939782" cy="486632"/>
          </a:xfrm>
          <a:prstGeom prst="rect">
            <a:avLst/>
          </a:prstGeom>
          <a:noFill/>
          <a:ln w="9525">
            <a:noFill/>
            <a:round/>
            <a:headEnd/>
            <a:tailEnd/>
          </a:ln>
        </p:spPr>
        <p:txBody>
          <a:bodyPr lIns="0" tIns="0" rIns="0" bIns="0" anchor="b"/>
          <a:lstStyle/>
          <a:p>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fld id="{7244B907-D997-4C46-B3BE-9FA3F90FC134}" type="slidenum">
              <a:rPr lang="es-ES" sz="1300">
                <a:solidFill>
                  <a:srgbClr val="000000"/>
                </a:solidFill>
              </a:rPr>
              <a:pPr algn="r">
                <a:lnSpc>
                  <a:spcPct val="95000"/>
                </a:lnSpc>
                <a:tabLst>
                  <a:tab pos="0" algn="l"/>
                  <a:tab pos="431962" algn="l"/>
                  <a:tab pos="865455" algn="l"/>
                  <a:tab pos="1298948" algn="l"/>
                  <a:tab pos="1732442" algn="l"/>
                  <a:tab pos="2165935" algn="l"/>
                  <a:tab pos="2599429" algn="l"/>
                  <a:tab pos="3032922" algn="l"/>
                  <a:tab pos="3466416" algn="l"/>
                  <a:tab pos="3899909" algn="l"/>
                  <a:tab pos="4333403" algn="l"/>
                  <a:tab pos="4766895" algn="l"/>
                  <a:tab pos="5200389" algn="l"/>
                  <a:tab pos="5633882" algn="l"/>
                  <a:tab pos="6067376" algn="l"/>
                  <a:tab pos="6500869" algn="l"/>
                  <a:tab pos="6934363" algn="l"/>
                  <a:tab pos="7367856" algn="l"/>
                  <a:tab pos="7801350" algn="l"/>
                  <a:tab pos="8234843" algn="l"/>
                  <a:tab pos="8668336" algn="l"/>
                </a:tabLst>
              </a:pPr>
              <a:t>45</a:t>
            </a:fld>
            <a:endParaRPr lang="es-ES" sz="1300" dirty="0">
              <a:solidFill>
                <a:srgbClr val="000000"/>
              </a:solidFill>
            </a:endParaRPr>
          </a:p>
        </p:txBody>
      </p:sp>
      <p:sp>
        <p:nvSpPr>
          <p:cNvPr id="116740" name="Rectangle 2"/>
          <p:cNvSpPr txBox="1">
            <a:spLocks noGrp="1" noRot="1" noChangeAspect="1" noChangeArrowheads="1" noTextEdit="1"/>
          </p:cNvSpPr>
          <p:nvPr>
            <p:ph type="sldImg"/>
          </p:nvPr>
        </p:nvSpPr>
        <p:spPr>
          <a:xfrm>
            <a:off x="712788" y="754063"/>
            <a:ext cx="5372100" cy="3721100"/>
          </a:xfrm>
          <a:solidFill>
            <a:srgbClr val="FFFFFF"/>
          </a:solidFill>
          <a:ln>
            <a:solidFill>
              <a:srgbClr val="000000"/>
            </a:solidFill>
            <a:miter lim="800000"/>
          </a:ln>
        </p:spPr>
      </p:sp>
      <p:sp>
        <p:nvSpPr>
          <p:cNvPr id="116741" name="Rectangle 3"/>
          <p:cNvSpPr txBox="1">
            <a:spLocks noGrp="1" noChangeArrowheads="1"/>
          </p:cNvSpPr>
          <p:nvPr>
            <p:ph type="body" idx="1"/>
          </p:nvPr>
        </p:nvSpPr>
        <p:spPr>
          <a:xfrm>
            <a:off x="679464" y="4715406"/>
            <a:ext cx="5429628" cy="4459770"/>
          </a:xfrm>
          <a:noFill/>
          <a:ln/>
        </p:spPr>
        <p:txBody>
          <a:bodyPr wrap="none" anchor="ctr"/>
          <a:lstStyle/>
          <a:p>
            <a:endParaRPr lang="en-US" smtClean="0"/>
          </a:p>
        </p:txBody>
      </p:sp>
    </p:spTree>
    <p:extLst>
      <p:ext uri="{BB962C8B-B14F-4D97-AF65-F5344CB8AC3E}">
        <p14:creationId xmlns:p14="http://schemas.microsoft.com/office/powerpoint/2010/main" val="202116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inal">
    <p:spTree>
      <p:nvGrpSpPr>
        <p:cNvPr id="1" name=""/>
        <p:cNvGrpSpPr/>
        <p:nvPr/>
      </p:nvGrpSpPr>
      <p:grpSpPr>
        <a:xfrm>
          <a:off x="0" y="0"/>
          <a:ext cx="0" cy="0"/>
          <a:chOff x="0" y="0"/>
          <a:chExt cx="0" cy="0"/>
        </a:xfrm>
      </p:grpSpPr>
      <p:sp>
        <p:nvSpPr>
          <p:cNvPr id="4" name="3 Marcador de texto"/>
          <p:cNvSpPr>
            <a:spLocks noGrp="1"/>
          </p:cNvSpPr>
          <p:nvPr>
            <p:ph type="body" sz="quarter" idx="10"/>
          </p:nvPr>
        </p:nvSpPr>
        <p:spPr>
          <a:xfrm>
            <a:off x="4943192" y="4526733"/>
            <a:ext cx="4209783" cy="1638677"/>
          </a:xfrm>
          <a:prstGeom prst="rect">
            <a:avLst/>
          </a:prstGeom>
        </p:spPr>
        <p:txBody>
          <a:bodyPr/>
          <a:lstStyle>
            <a:lvl1pPr marL="0" indent="0">
              <a:buNone/>
              <a:defRPr sz="2000" baseline="0"/>
            </a:lvl1pPr>
            <a:lvl4pPr algn="r">
              <a:buNone/>
              <a:defRPr sz="1800"/>
            </a:lvl4pPr>
          </a:lstStyle>
          <a:p>
            <a:pPr lvl="0"/>
            <a:r>
              <a:rPr lang="es-ES" smtClean="0"/>
              <a:t>Haga clic para modificar el estilo de texto del patrón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V professor">
    <p:spTree>
      <p:nvGrpSpPr>
        <p:cNvPr id="1" name=""/>
        <p:cNvGrpSpPr/>
        <p:nvPr/>
      </p:nvGrpSpPr>
      <p:grpSpPr>
        <a:xfrm>
          <a:off x="0" y="0"/>
          <a:ext cx="0" cy="0"/>
          <a:chOff x="0" y="0"/>
          <a:chExt cx="0" cy="0"/>
        </a:xfrm>
      </p:grpSpPr>
      <p:sp>
        <p:nvSpPr>
          <p:cNvPr id="17" name="16 Marcador de contenido"/>
          <p:cNvSpPr>
            <a:spLocks noGrp="1"/>
          </p:cNvSpPr>
          <p:nvPr>
            <p:ph sz="quarter" idx="10"/>
          </p:nvPr>
        </p:nvSpPr>
        <p:spPr>
          <a:xfrm>
            <a:off x="4062413" y="1222375"/>
            <a:ext cx="5665787" cy="5264150"/>
          </a:xfrm>
          <a:prstGeom prst="rect">
            <a:avLst/>
          </a:prstGeom>
        </p:spPr>
        <p:txBody>
          <a:bodyPr/>
          <a:lstStyle>
            <a:lvl1pPr marL="0" indent="0" algn="l">
              <a:buNone/>
              <a:defRPr sz="2000">
                <a:solidFill>
                  <a:schemeClr val="bg2">
                    <a:lumMod val="50000"/>
                  </a:schemeClr>
                </a:solidFill>
              </a:defRPr>
            </a:lvl1pPr>
            <a:lvl2pPr marL="576000">
              <a:buFont typeface="Wingdings" pitchFamily="2" charset="2"/>
              <a:buChar char="§"/>
              <a:defRPr sz="2000">
                <a:solidFill>
                  <a:schemeClr val="bg2">
                    <a:lumMod val="50000"/>
                  </a:schemeClr>
                </a:solidFill>
              </a:defRPr>
            </a:lvl2pPr>
          </a:lstStyle>
          <a:p>
            <a:pPr lvl="0"/>
            <a:r>
              <a:rPr lang="es-ES" dirty="0" smtClean="0"/>
              <a:t>Haga clic para modificar el estilo de texto del patrón</a:t>
            </a:r>
          </a:p>
          <a:p>
            <a:pPr lvl="1"/>
            <a:r>
              <a:rPr lang="es-ES" dirty="0" smtClean="0"/>
              <a:t>Segundo nivel</a:t>
            </a:r>
          </a:p>
        </p:txBody>
      </p:sp>
      <p:sp>
        <p:nvSpPr>
          <p:cNvPr id="4" name="3 Título"/>
          <p:cNvSpPr>
            <a:spLocks noGrp="1"/>
          </p:cNvSpPr>
          <p:nvPr>
            <p:ph type="title" hasCustomPrompt="1"/>
          </p:nvPr>
        </p:nvSpPr>
        <p:spPr>
          <a:xfrm>
            <a:off x="4074056" y="510031"/>
            <a:ext cx="5423029" cy="594495"/>
          </a:xfrm>
          <a:prstGeom prst="rect">
            <a:avLst/>
          </a:prstGeom>
        </p:spPr>
        <p:txBody>
          <a:bodyPr/>
          <a:lstStyle>
            <a:lvl1pPr>
              <a:defRPr baseline="0">
                <a:solidFill>
                  <a:srgbClr val="7D468C"/>
                </a:solidFill>
                <a:sym typeface="Wingdings" pitchFamily="2" charset="2"/>
              </a:defRPr>
            </a:lvl1pPr>
          </a:lstStyle>
          <a:p>
            <a:r>
              <a:rPr lang="es-ES" dirty="0" smtClean="0"/>
              <a:t>Posar aquí el CV del </a:t>
            </a:r>
            <a:r>
              <a:rPr lang="es-ES" dirty="0" err="1" smtClean="0"/>
              <a:t>professor</a:t>
            </a:r>
            <a:r>
              <a:rPr lang="es-ES" dirty="0" smtClean="0"/>
              <a:t> (</a:t>
            </a:r>
            <a:r>
              <a:rPr lang="es-ES" dirty="0" err="1" smtClean="0"/>
              <a:t>escurçat</a:t>
            </a:r>
            <a:r>
              <a:rPr lang="es-ES" dirty="0" smtClean="0"/>
              <a:t>, </a:t>
            </a:r>
            <a:r>
              <a:rPr lang="es-ES" dirty="0" err="1" smtClean="0"/>
              <a:t>només</a:t>
            </a:r>
            <a:r>
              <a:rPr lang="es-ES" dirty="0" smtClean="0"/>
              <a:t> en 1 diapositiva)  OPCIONAL</a:t>
            </a:r>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uió sessió">
    <p:spTree>
      <p:nvGrpSpPr>
        <p:cNvPr id="1" name=""/>
        <p:cNvGrpSpPr/>
        <p:nvPr/>
      </p:nvGrpSpPr>
      <p:grpSpPr>
        <a:xfrm>
          <a:off x="0" y="0"/>
          <a:ext cx="0" cy="0"/>
          <a:chOff x="0" y="0"/>
          <a:chExt cx="0" cy="0"/>
        </a:xfrm>
      </p:grpSpPr>
      <p:sp>
        <p:nvSpPr>
          <p:cNvPr id="11" name="10 Marcador de texto"/>
          <p:cNvSpPr>
            <a:spLocks noGrp="1"/>
          </p:cNvSpPr>
          <p:nvPr>
            <p:ph type="body" sz="quarter" idx="10" hasCustomPrompt="1"/>
          </p:nvPr>
        </p:nvSpPr>
        <p:spPr>
          <a:xfrm>
            <a:off x="3903254" y="578918"/>
            <a:ext cx="6002746" cy="5351102"/>
          </a:xfrm>
          <a:prstGeom prst="rect">
            <a:avLst/>
          </a:prstGeom>
        </p:spPr>
        <p:txBody>
          <a:bodyPr/>
          <a:lstStyle>
            <a:lvl1pPr marL="360000" indent="-360000">
              <a:buFont typeface="+mj-lt"/>
              <a:buAutoNum type="arabicPeriod"/>
              <a:defRPr baseline="0"/>
            </a:lvl1pPr>
            <a:lvl2pPr>
              <a:defRPr sz="2000" baseline="0"/>
            </a:lvl2pPr>
            <a:lvl3pPr>
              <a:buFont typeface="Wingdings" pitchFamily="2" charset="2"/>
              <a:buChar char="§"/>
              <a:defRPr sz="1600"/>
            </a:lvl3pPr>
            <a:lvl4pPr>
              <a:defRPr sz="1600"/>
            </a:lvl4pPr>
          </a:lstStyle>
          <a:p>
            <a:pPr lvl="0"/>
            <a:r>
              <a:rPr lang="es-ES" dirty="0" smtClean="0"/>
              <a:t>Posar </a:t>
            </a:r>
            <a:r>
              <a:rPr lang="es-ES" dirty="0" err="1" smtClean="0"/>
              <a:t>l’índex</a:t>
            </a:r>
            <a:r>
              <a:rPr lang="es-ES" dirty="0" smtClean="0"/>
              <a:t> en </a:t>
            </a:r>
            <a:r>
              <a:rPr lang="es-ES" dirty="0" err="1" smtClean="0"/>
              <a:t>aquesta</a:t>
            </a:r>
            <a:r>
              <a:rPr lang="es-ES" dirty="0" smtClean="0"/>
              <a:t> diapositiva</a:t>
            </a:r>
          </a:p>
          <a:p>
            <a:pPr lvl="1"/>
            <a:r>
              <a:rPr lang="es-ES" dirty="0" smtClean="0"/>
              <a:t>Segundo nivel</a:t>
            </a:r>
          </a:p>
          <a:p>
            <a:pPr lvl="2"/>
            <a:r>
              <a:rPr lang="es-ES" dirty="0" smtClean="0"/>
              <a:t>Tercer nivel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ol d'apartat">
    <p:spTree>
      <p:nvGrpSpPr>
        <p:cNvPr id="1" name=""/>
        <p:cNvGrpSpPr/>
        <p:nvPr/>
      </p:nvGrpSpPr>
      <p:grpSpPr>
        <a:xfrm>
          <a:off x="0" y="0"/>
          <a:ext cx="0" cy="0"/>
          <a:chOff x="0" y="0"/>
          <a:chExt cx="0" cy="0"/>
        </a:xfrm>
      </p:grpSpPr>
      <p:sp>
        <p:nvSpPr>
          <p:cNvPr id="3" name="6 Marcador de texto"/>
          <p:cNvSpPr>
            <a:spLocks noGrp="1"/>
          </p:cNvSpPr>
          <p:nvPr>
            <p:ph type="body" sz="quarter" idx="11" hasCustomPrompt="1"/>
          </p:nvPr>
        </p:nvSpPr>
        <p:spPr>
          <a:xfrm>
            <a:off x="520514" y="2754497"/>
            <a:ext cx="8751075" cy="1679280"/>
          </a:xfrm>
          <a:prstGeom prst="rect">
            <a:avLst/>
          </a:prstGeom>
        </p:spPr>
        <p:txBody>
          <a:bodyPr/>
          <a:lstStyle>
            <a:lvl1pPr algn="ctr">
              <a:defRPr sz="4000" baseline="0">
                <a:sym typeface="Wingdings" pitchFamily="2" charset="2"/>
              </a:defRPr>
            </a:lvl1pPr>
          </a:lstStyle>
          <a:p>
            <a:pPr lvl="0"/>
            <a:r>
              <a:rPr lang="es-ES" dirty="0" err="1" smtClean="0"/>
              <a:t>Títol</a:t>
            </a:r>
            <a:r>
              <a:rPr lang="es-ES" dirty="0" smtClean="0"/>
              <a:t> </a:t>
            </a:r>
            <a:r>
              <a:rPr lang="es-ES" dirty="0" err="1" smtClean="0"/>
              <a:t>d’apartatOPCIONAL</a:t>
            </a:r>
            <a:endParaRPr lang="es-ES" dirty="0"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ol amb text">
    <p:spTree>
      <p:nvGrpSpPr>
        <p:cNvPr id="1" name=""/>
        <p:cNvGrpSpPr/>
        <p:nvPr/>
      </p:nvGrpSpPr>
      <p:grpSpPr>
        <a:xfrm>
          <a:off x="0" y="0"/>
          <a:ext cx="0" cy="0"/>
          <a:chOff x="0" y="0"/>
          <a:chExt cx="0" cy="0"/>
        </a:xfrm>
      </p:grpSpPr>
      <p:sp>
        <p:nvSpPr>
          <p:cNvPr id="7" name="6 Marcador de texto"/>
          <p:cNvSpPr>
            <a:spLocks noGrp="1"/>
          </p:cNvSpPr>
          <p:nvPr>
            <p:ph type="body" sz="quarter" idx="11"/>
          </p:nvPr>
        </p:nvSpPr>
        <p:spPr>
          <a:xfrm>
            <a:off x="531147" y="1436059"/>
            <a:ext cx="8751075" cy="424638"/>
          </a:xfrm>
          <a:prstGeom prst="rect">
            <a:avLst/>
          </a:prstGeom>
        </p:spPr>
        <p:txBody>
          <a:bodyPr/>
          <a:lstStyle>
            <a:lvl1pPr>
              <a:defRPr baseline="0"/>
            </a:lvl1pPr>
          </a:lstStyle>
          <a:p>
            <a:pPr lvl="0"/>
            <a:r>
              <a:rPr lang="es-ES" dirty="0" smtClean="0"/>
              <a:t>Haga clic para modificar el estilo de texto del patrón</a:t>
            </a:r>
          </a:p>
        </p:txBody>
      </p:sp>
      <p:sp>
        <p:nvSpPr>
          <p:cNvPr id="11" name="10 Marcador de texto"/>
          <p:cNvSpPr>
            <a:spLocks noGrp="1"/>
          </p:cNvSpPr>
          <p:nvPr>
            <p:ph type="body" sz="quarter" idx="12"/>
          </p:nvPr>
        </p:nvSpPr>
        <p:spPr>
          <a:xfrm>
            <a:off x="542925" y="2009775"/>
            <a:ext cx="8739298" cy="4369760"/>
          </a:xfrm>
          <a:prstGeom prst="rect">
            <a:avLst/>
          </a:prstGeom>
        </p:spPr>
        <p:txBody>
          <a:bodyPr/>
          <a:lstStyle>
            <a:lvl1pPr>
              <a:defRPr sz="2200" b="0">
                <a:solidFill>
                  <a:schemeClr val="bg2">
                    <a:lumMod val="50000"/>
                  </a:schemeClr>
                </a:solidFill>
              </a:defRPr>
            </a:lvl1pPr>
            <a:lvl2pPr>
              <a:buFont typeface="Wingdings" pitchFamily="2" charset="2"/>
              <a:buChar char="§"/>
              <a:defRPr sz="2000"/>
            </a:lvl2pPr>
            <a:lvl3pPr>
              <a:defRPr sz="2000"/>
            </a:lvl3pPr>
            <a:lvl5pPr>
              <a:defRPr sz="1800"/>
            </a:lvl5pPr>
          </a:lstStyle>
          <a:p>
            <a:pPr lvl="0"/>
            <a:r>
              <a:rPr lang="es-ES" dirty="0" smtClean="0"/>
              <a:t>Haga clic para modificar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ES" dirty="0"/>
          </a:p>
        </p:txBody>
      </p:sp>
      <p:sp>
        <p:nvSpPr>
          <p:cNvPr id="5" name="4 Título"/>
          <p:cNvSpPr>
            <a:spLocks noGrp="1"/>
          </p:cNvSpPr>
          <p:nvPr>
            <p:ph type="title" hasCustomPrompt="1"/>
          </p:nvPr>
        </p:nvSpPr>
        <p:spPr>
          <a:xfrm>
            <a:off x="495300" y="274638"/>
            <a:ext cx="8915400" cy="1143000"/>
          </a:xfrm>
          <a:prstGeom prst="rect">
            <a:avLst/>
          </a:prstGeom>
        </p:spPr>
        <p:txBody>
          <a:bodyPr/>
          <a:lstStyle>
            <a:lvl1pPr marL="457200" indent="-457200">
              <a:buFont typeface="+mj-lt"/>
              <a:buAutoNum type="arabicPeriod"/>
              <a:defRPr sz="2400" baseline="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pic>
        <p:nvPicPr>
          <p:cNvPr id="6" name="5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os títols amb text">
    <p:spTree>
      <p:nvGrpSpPr>
        <p:cNvPr id="1" name=""/>
        <p:cNvGrpSpPr/>
        <p:nvPr/>
      </p:nvGrpSpPr>
      <p:grpSpPr>
        <a:xfrm>
          <a:off x="0" y="0"/>
          <a:ext cx="0" cy="0"/>
          <a:chOff x="0" y="0"/>
          <a:chExt cx="0" cy="0"/>
        </a:xfrm>
      </p:grpSpPr>
      <p:sp>
        <p:nvSpPr>
          <p:cNvPr id="7" name="6 Marcador de texto"/>
          <p:cNvSpPr>
            <a:spLocks noGrp="1"/>
          </p:cNvSpPr>
          <p:nvPr>
            <p:ph type="body" sz="quarter" idx="11"/>
          </p:nvPr>
        </p:nvSpPr>
        <p:spPr>
          <a:xfrm>
            <a:off x="531147" y="1436059"/>
            <a:ext cx="8751075" cy="424638"/>
          </a:xfrm>
          <a:prstGeom prst="rect">
            <a:avLst/>
          </a:prstGeom>
        </p:spPr>
        <p:txBody>
          <a:bodyPr/>
          <a:lstStyle>
            <a:lvl1pPr>
              <a:defRPr baseline="0"/>
            </a:lvl1pPr>
          </a:lstStyle>
          <a:p>
            <a:pPr lvl="0"/>
            <a:r>
              <a:rPr lang="es-ES" dirty="0" smtClean="0"/>
              <a:t>Haga clic para modificar el estilo de texto del patrón</a:t>
            </a:r>
          </a:p>
        </p:txBody>
      </p:sp>
      <p:sp>
        <p:nvSpPr>
          <p:cNvPr id="11" name="10 Marcador de texto"/>
          <p:cNvSpPr>
            <a:spLocks noGrp="1"/>
          </p:cNvSpPr>
          <p:nvPr>
            <p:ph type="body" sz="quarter" idx="12"/>
          </p:nvPr>
        </p:nvSpPr>
        <p:spPr>
          <a:xfrm>
            <a:off x="542925" y="2009775"/>
            <a:ext cx="8739298" cy="1817946"/>
          </a:xfrm>
          <a:prstGeom prst="rect">
            <a:avLst/>
          </a:prstGeom>
        </p:spPr>
        <p:txBody>
          <a:bodyPr/>
          <a:lstStyle>
            <a:lvl1pPr>
              <a:defRPr sz="2200" b="0">
                <a:solidFill>
                  <a:schemeClr val="bg2">
                    <a:lumMod val="50000"/>
                  </a:schemeClr>
                </a:solidFill>
              </a:defRPr>
            </a:lvl1pPr>
            <a:lvl2pPr>
              <a:buFont typeface="Wingdings" pitchFamily="2" charset="2"/>
              <a:buChar char="§"/>
              <a:defRPr sz="2000"/>
            </a:lvl2pPr>
            <a:lvl3pPr>
              <a:defRPr sz="2000"/>
            </a:lvl3pPr>
            <a:lvl5pPr>
              <a:defRPr sz="1800"/>
            </a:lvl5pPr>
          </a:lstStyle>
          <a:p>
            <a:pPr lvl="0"/>
            <a:r>
              <a:rPr lang="es-ES" smtClean="0"/>
              <a:t>Haga clic para modificar el estilo de texto del patrón</a:t>
            </a:r>
          </a:p>
          <a:p>
            <a:pPr lvl="1"/>
            <a:r>
              <a:rPr lang="es-ES" smtClean="0"/>
              <a:t>Segundo nivel</a:t>
            </a:r>
          </a:p>
          <a:p>
            <a:pPr lvl="2"/>
            <a:r>
              <a:rPr lang="es-ES" smtClean="0"/>
              <a:t>Tercer nivel</a:t>
            </a:r>
          </a:p>
        </p:txBody>
      </p:sp>
      <p:sp>
        <p:nvSpPr>
          <p:cNvPr id="4" name="6 Marcador de texto"/>
          <p:cNvSpPr>
            <a:spLocks noGrp="1"/>
          </p:cNvSpPr>
          <p:nvPr>
            <p:ph type="body" sz="quarter" idx="13"/>
          </p:nvPr>
        </p:nvSpPr>
        <p:spPr>
          <a:xfrm>
            <a:off x="534691" y="4097743"/>
            <a:ext cx="8751075" cy="424638"/>
          </a:xfrm>
          <a:prstGeom prst="rect">
            <a:avLst/>
          </a:prstGeom>
        </p:spPr>
        <p:txBody>
          <a:bodyPr/>
          <a:lstStyle>
            <a:lvl1pPr>
              <a:defRPr baseline="0"/>
            </a:lvl1pPr>
          </a:lstStyle>
          <a:p>
            <a:pPr lvl="0"/>
            <a:r>
              <a:rPr lang="es-ES" dirty="0" smtClean="0"/>
              <a:t>Haga clic para modificar el estilo de texto del patrón</a:t>
            </a:r>
          </a:p>
        </p:txBody>
      </p:sp>
      <p:sp>
        <p:nvSpPr>
          <p:cNvPr id="5" name="10 Marcador de texto"/>
          <p:cNvSpPr>
            <a:spLocks noGrp="1"/>
          </p:cNvSpPr>
          <p:nvPr>
            <p:ph type="body" sz="quarter" idx="14"/>
          </p:nvPr>
        </p:nvSpPr>
        <p:spPr>
          <a:xfrm>
            <a:off x="546469" y="4671459"/>
            <a:ext cx="8739298" cy="1817946"/>
          </a:xfrm>
          <a:prstGeom prst="rect">
            <a:avLst/>
          </a:prstGeom>
        </p:spPr>
        <p:txBody>
          <a:bodyPr/>
          <a:lstStyle>
            <a:lvl1pPr>
              <a:defRPr sz="2200" b="0">
                <a:solidFill>
                  <a:schemeClr val="bg2">
                    <a:lumMod val="50000"/>
                  </a:schemeClr>
                </a:solidFill>
              </a:defRPr>
            </a:lvl1pPr>
            <a:lvl2pPr>
              <a:buFont typeface="Wingdings" pitchFamily="2" charset="2"/>
              <a:buChar char="§"/>
              <a:defRPr sz="2000"/>
            </a:lvl2pPr>
            <a:lvl3pPr>
              <a:defRPr sz="2000"/>
            </a:lvl3pPr>
            <a:lvl5pPr>
              <a:defRPr sz="1800"/>
            </a:lvl5pPr>
          </a:lstStyle>
          <a:p>
            <a:pPr lvl="0"/>
            <a:r>
              <a:rPr lang="es-ES" smtClean="0"/>
              <a:t>Haga clic para modificar el estilo de texto del patrón</a:t>
            </a:r>
          </a:p>
          <a:p>
            <a:pPr lvl="1"/>
            <a:r>
              <a:rPr lang="es-ES" smtClean="0"/>
              <a:t>Segundo nivel</a:t>
            </a:r>
          </a:p>
          <a:p>
            <a:pPr lvl="2"/>
            <a:r>
              <a:rPr lang="es-ES" smtClean="0"/>
              <a:t>Tercer nivel</a:t>
            </a:r>
          </a:p>
        </p:txBody>
      </p:sp>
      <p:sp>
        <p:nvSpPr>
          <p:cNvPr id="8" name="7 Título"/>
          <p:cNvSpPr>
            <a:spLocks noGrp="1"/>
          </p:cNvSpPr>
          <p:nvPr>
            <p:ph type="title" hasCustomPrompt="1"/>
          </p:nvPr>
        </p:nvSpPr>
        <p:spPr>
          <a:xfrm>
            <a:off x="495300" y="274638"/>
            <a:ext cx="8915400" cy="1143000"/>
          </a:xfrm>
          <a:prstGeom prst="rect">
            <a:avLst/>
          </a:prstGeom>
        </p:spPr>
        <p:txBody>
          <a:bodyPr/>
          <a:lstStyle>
            <a:lvl1pPr marL="457200" indent="-457200">
              <a:buFont typeface="+mj-lt"/>
              <a:buAutoNum type="arabicPeriod"/>
              <a:defRPr sz="240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pic>
        <p:nvPicPr>
          <p:cNvPr id="9" name="8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tiva text">
    <p:spTree>
      <p:nvGrpSpPr>
        <p:cNvPr id="1" name=""/>
        <p:cNvGrpSpPr/>
        <p:nvPr/>
      </p:nvGrpSpPr>
      <p:grpSpPr>
        <a:xfrm>
          <a:off x="0" y="0"/>
          <a:ext cx="0" cy="0"/>
          <a:chOff x="0" y="0"/>
          <a:chExt cx="0" cy="0"/>
        </a:xfrm>
      </p:grpSpPr>
      <p:sp>
        <p:nvSpPr>
          <p:cNvPr id="7" name="6 Marcador de texto"/>
          <p:cNvSpPr>
            <a:spLocks noGrp="1"/>
          </p:cNvSpPr>
          <p:nvPr>
            <p:ph type="body" sz="quarter" idx="11"/>
          </p:nvPr>
        </p:nvSpPr>
        <p:spPr>
          <a:xfrm>
            <a:off x="5331992" y="1489224"/>
            <a:ext cx="4130991" cy="419472"/>
          </a:xfrm>
          <a:prstGeom prst="rect">
            <a:avLst/>
          </a:prstGeom>
        </p:spPr>
        <p:txBody>
          <a:bodyPr/>
          <a:lstStyle>
            <a:lvl1pPr>
              <a:defRPr baseline="0"/>
            </a:lvl1pPr>
          </a:lstStyle>
          <a:p>
            <a:pPr lvl="0"/>
            <a:r>
              <a:rPr lang="es-ES" smtClean="0"/>
              <a:t>Haga clic para modificar el estilo de texto del patrón</a:t>
            </a:r>
          </a:p>
        </p:txBody>
      </p:sp>
      <p:sp>
        <p:nvSpPr>
          <p:cNvPr id="8" name="10 Marcador de texto"/>
          <p:cNvSpPr>
            <a:spLocks noGrp="1"/>
          </p:cNvSpPr>
          <p:nvPr>
            <p:ph type="body" sz="quarter" idx="12"/>
          </p:nvPr>
        </p:nvSpPr>
        <p:spPr>
          <a:xfrm>
            <a:off x="5337552" y="2062940"/>
            <a:ext cx="4125432" cy="4316595"/>
          </a:xfrm>
          <a:prstGeom prst="rect">
            <a:avLst/>
          </a:prstGeom>
        </p:spPr>
        <p:txBody>
          <a:bodyPr/>
          <a:lstStyle>
            <a:lvl1pPr>
              <a:defRPr sz="2200" b="0">
                <a:solidFill>
                  <a:schemeClr val="bg2">
                    <a:lumMod val="50000"/>
                  </a:schemeClr>
                </a:solidFill>
              </a:defRPr>
            </a:lvl1pPr>
            <a:lvl2pPr>
              <a:defRPr sz="2000"/>
            </a:lvl2pPr>
            <a:lvl3pPr>
              <a:defRPr sz="2000"/>
            </a:lvl3pPr>
            <a:lvl5pPr>
              <a:defRPr sz="18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dirty="0"/>
          </a:p>
        </p:txBody>
      </p:sp>
      <p:sp>
        <p:nvSpPr>
          <p:cNvPr id="5" name="6 Marcador de texto"/>
          <p:cNvSpPr>
            <a:spLocks noGrp="1"/>
          </p:cNvSpPr>
          <p:nvPr>
            <p:ph type="body" sz="quarter" idx="13"/>
          </p:nvPr>
        </p:nvSpPr>
        <p:spPr>
          <a:xfrm>
            <a:off x="593415" y="1482136"/>
            <a:ext cx="4130991" cy="419472"/>
          </a:xfrm>
          <a:prstGeom prst="rect">
            <a:avLst/>
          </a:prstGeom>
        </p:spPr>
        <p:txBody>
          <a:bodyPr/>
          <a:lstStyle>
            <a:lvl1pPr>
              <a:defRPr baseline="0"/>
            </a:lvl1pPr>
          </a:lstStyle>
          <a:p>
            <a:pPr lvl="0"/>
            <a:r>
              <a:rPr lang="es-ES" smtClean="0"/>
              <a:t>Haga clic para modificar el estilo de texto del patrón</a:t>
            </a:r>
          </a:p>
        </p:txBody>
      </p:sp>
      <p:sp>
        <p:nvSpPr>
          <p:cNvPr id="6" name="10 Marcador de texto"/>
          <p:cNvSpPr>
            <a:spLocks noGrp="1"/>
          </p:cNvSpPr>
          <p:nvPr>
            <p:ph type="body" sz="quarter" idx="14"/>
          </p:nvPr>
        </p:nvSpPr>
        <p:spPr>
          <a:xfrm>
            <a:off x="598975" y="2055852"/>
            <a:ext cx="4125432" cy="4316595"/>
          </a:xfrm>
          <a:prstGeom prst="rect">
            <a:avLst/>
          </a:prstGeom>
        </p:spPr>
        <p:txBody>
          <a:bodyPr/>
          <a:lstStyle>
            <a:lvl1pPr>
              <a:defRPr sz="2200" b="0">
                <a:solidFill>
                  <a:schemeClr val="bg2">
                    <a:lumMod val="50000"/>
                  </a:schemeClr>
                </a:solidFill>
              </a:defRPr>
            </a:lvl1pPr>
            <a:lvl2pPr>
              <a:defRPr sz="2000"/>
            </a:lvl2pPr>
            <a:lvl3pPr>
              <a:defRPr sz="2000"/>
            </a:lvl3pPr>
            <a:lvl5pPr>
              <a:defRPr sz="18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dirty="0"/>
          </a:p>
        </p:txBody>
      </p:sp>
      <p:sp>
        <p:nvSpPr>
          <p:cNvPr id="10" name="9 Título"/>
          <p:cNvSpPr>
            <a:spLocks noGrp="1"/>
          </p:cNvSpPr>
          <p:nvPr>
            <p:ph type="title" hasCustomPrompt="1"/>
          </p:nvPr>
        </p:nvSpPr>
        <p:spPr>
          <a:xfrm>
            <a:off x="495300" y="274638"/>
            <a:ext cx="8915400" cy="1143000"/>
          </a:xfrm>
          <a:prstGeom prst="rect">
            <a:avLst/>
          </a:prstGeom>
        </p:spPr>
        <p:txBody>
          <a:bodyPr/>
          <a:lstStyle>
            <a:lvl1pPr marL="457200" indent="-457200">
              <a:buFont typeface="+mj-lt"/>
              <a:buAutoNum type="arabicPeriod"/>
              <a:defRPr sz="240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pic>
        <p:nvPicPr>
          <p:cNvPr id="9" name="8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tge gran">
    <p:spTree>
      <p:nvGrpSpPr>
        <p:cNvPr id="1" name=""/>
        <p:cNvGrpSpPr/>
        <p:nvPr/>
      </p:nvGrpSpPr>
      <p:grpSpPr>
        <a:xfrm>
          <a:off x="0" y="0"/>
          <a:ext cx="0" cy="0"/>
          <a:chOff x="0" y="0"/>
          <a:chExt cx="0" cy="0"/>
        </a:xfrm>
      </p:grpSpPr>
      <p:sp>
        <p:nvSpPr>
          <p:cNvPr id="3" name="2 Marcador de posición de imagen"/>
          <p:cNvSpPr>
            <a:spLocks noGrp="1"/>
          </p:cNvSpPr>
          <p:nvPr>
            <p:ph type="pic" idx="1"/>
          </p:nvPr>
        </p:nvSpPr>
        <p:spPr>
          <a:xfrm>
            <a:off x="548792" y="1484645"/>
            <a:ext cx="7819044" cy="470652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ca-ES" noProof="0"/>
          </a:p>
        </p:txBody>
      </p:sp>
      <p:sp>
        <p:nvSpPr>
          <p:cNvPr id="4" name="3 Marcador de texto"/>
          <p:cNvSpPr>
            <a:spLocks noGrp="1"/>
          </p:cNvSpPr>
          <p:nvPr>
            <p:ph type="body" sz="half" idx="2"/>
          </p:nvPr>
        </p:nvSpPr>
        <p:spPr>
          <a:xfrm>
            <a:off x="548792" y="6180729"/>
            <a:ext cx="5943600" cy="464620"/>
          </a:xfrm>
          <a:prstGeom prst="rect">
            <a:avLst/>
          </a:prstGeom>
        </p:spPr>
        <p:txBody>
          <a:bodyPr/>
          <a:lstStyle>
            <a:lvl1pPr marL="0" indent="0">
              <a:buNone/>
              <a:defRPr sz="1400" baseline="0">
                <a:solidFill>
                  <a:schemeClr val="bg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6" name="5 Título"/>
          <p:cNvSpPr>
            <a:spLocks noGrp="1"/>
          </p:cNvSpPr>
          <p:nvPr>
            <p:ph type="title" hasCustomPrompt="1"/>
          </p:nvPr>
        </p:nvSpPr>
        <p:spPr>
          <a:xfrm>
            <a:off x="495300" y="274638"/>
            <a:ext cx="8915400" cy="1143000"/>
          </a:xfrm>
          <a:prstGeom prst="rect">
            <a:avLst/>
          </a:prstGeom>
        </p:spPr>
        <p:txBody>
          <a:bodyPr/>
          <a:lstStyle>
            <a:lvl1pPr marL="457200" indent="-457200">
              <a:buFont typeface="+mj-lt"/>
              <a:buAutoNum type="arabicPeriod"/>
              <a:defRPr sz="240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pic>
        <p:nvPicPr>
          <p:cNvPr id="5" name="4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tge amb text">
    <p:spTree>
      <p:nvGrpSpPr>
        <p:cNvPr id="1" name=""/>
        <p:cNvGrpSpPr/>
        <p:nvPr/>
      </p:nvGrpSpPr>
      <p:grpSpPr>
        <a:xfrm>
          <a:off x="0" y="0"/>
          <a:ext cx="0" cy="0"/>
          <a:chOff x="0" y="0"/>
          <a:chExt cx="0" cy="0"/>
        </a:xfrm>
      </p:grpSpPr>
      <p:sp>
        <p:nvSpPr>
          <p:cNvPr id="3" name="2 Marcador de posición de imagen"/>
          <p:cNvSpPr>
            <a:spLocks noGrp="1"/>
          </p:cNvSpPr>
          <p:nvPr>
            <p:ph type="pic" idx="1"/>
          </p:nvPr>
        </p:nvSpPr>
        <p:spPr>
          <a:xfrm>
            <a:off x="527526" y="1484644"/>
            <a:ext cx="4597378" cy="488425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ca-ES" noProof="0"/>
          </a:p>
        </p:txBody>
      </p:sp>
      <p:sp>
        <p:nvSpPr>
          <p:cNvPr id="4" name="6 Marcador de texto"/>
          <p:cNvSpPr>
            <a:spLocks noGrp="1"/>
          </p:cNvSpPr>
          <p:nvPr>
            <p:ph type="body" sz="quarter" idx="11"/>
          </p:nvPr>
        </p:nvSpPr>
        <p:spPr>
          <a:xfrm>
            <a:off x="5331992" y="1489224"/>
            <a:ext cx="4130991" cy="419472"/>
          </a:xfrm>
          <a:prstGeom prst="rect">
            <a:avLst/>
          </a:prstGeom>
        </p:spPr>
        <p:txBody>
          <a:bodyPr/>
          <a:lstStyle>
            <a:lvl1pPr>
              <a:defRPr baseline="0"/>
            </a:lvl1pPr>
          </a:lstStyle>
          <a:p>
            <a:pPr lvl="0"/>
            <a:r>
              <a:rPr lang="es-ES" dirty="0" smtClean="0"/>
              <a:t>Haga clic para modificar el estilo de texto del patrón</a:t>
            </a:r>
          </a:p>
        </p:txBody>
      </p:sp>
      <p:sp>
        <p:nvSpPr>
          <p:cNvPr id="5" name="10 Marcador de texto"/>
          <p:cNvSpPr>
            <a:spLocks noGrp="1"/>
          </p:cNvSpPr>
          <p:nvPr>
            <p:ph type="body" sz="quarter" idx="12"/>
          </p:nvPr>
        </p:nvSpPr>
        <p:spPr>
          <a:xfrm>
            <a:off x="5337552" y="2062940"/>
            <a:ext cx="4125432" cy="4316595"/>
          </a:xfrm>
          <a:prstGeom prst="rect">
            <a:avLst/>
          </a:prstGeom>
        </p:spPr>
        <p:txBody>
          <a:bodyPr/>
          <a:lstStyle>
            <a:lvl1pPr>
              <a:defRPr sz="2200" b="0">
                <a:solidFill>
                  <a:schemeClr val="bg2">
                    <a:lumMod val="50000"/>
                  </a:schemeClr>
                </a:solidFill>
              </a:defRPr>
            </a:lvl1pPr>
            <a:lvl2pPr>
              <a:defRPr sz="2000"/>
            </a:lvl2pPr>
            <a:lvl3pPr>
              <a:defRPr sz="2000"/>
            </a:lvl3pPr>
            <a:lvl5pPr>
              <a:defRPr sz="1800"/>
            </a:lvl5pPr>
          </a:lstStyle>
          <a:p>
            <a:pPr lvl="0"/>
            <a:r>
              <a:rPr lang="es-ES" dirty="0" smtClean="0"/>
              <a:t>Haga clic para modificar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ES" dirty="0"/>
          </a:p>
        </p:txBody>
      </p:sp>
      <p:sp>
        <p:nvSpPr>
          <p:cNvPr id="6" name="5 Título"/>
          <p:cNvSpPr>
            <a:spLocks noGrp="1"/>
          </p:cNvSpPr>
          <p:nvPr>
            <p:ph type="title" hasCustomPrompt="1"/>
          </p:nvPr>
        </p:nvSpPr>
        <p:spPr>
          <a:xfrm>
            <a:off x="495300" y="274638"/>
            <a:ext cx="8915400" cy="1143000"/>
          </a:xfrm>
          <a:prstGeom prst="rect">
            <a:avLst/>
          </a:prstGeom>
        </p:spPr>
        <p:txBody>
          <a:bodyPr/>
          <a:lstStyle>
            <a:lvl1pPr marL="457200" indent="-457200">
              <a:buFont typeface="+mj-lt"/>
              <a:buAutoNum type="arabicPeriod"/>
              <a:defRPr sz="240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pic>
        <p:nvPicPr>
          <p:cNvPr id="7" name="6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Rectangle 5"/>
          <p:cNvSpPr>
            <a:spLocks noGrp="1" noChangeArrowheads="1"/>
          </p:cNvSpPr>
          <p:nvPr>
            <p:ph type="sldNum" idx="10"/>
          </p:nvPr>
        </p:nvSpPr>
        <p:spPr>
          <a:ln/>
        </p:spPr>
        <p:txBody>
          <a:bodyPr/>
          <a:lstStyle>
            <a:lvl1pPr>
              <a:defRPr/>
            </a:lvl1pPr>
          </a:lstStyle>
          <a:p>
            <a:pPr>
              <a:defRPr/>
            </a:pPr>
            <a:fld id="{01CE7FA2-8278-4291-9295-1E624DBA1051}" type="slidenum">
              <a:rPr lang="es-ES"/>
              <a:pPr>
                <a:defRPr/>
              </a:pPr>
              <a:t>‹Nº›</a:t>
            </a:fld>
            <a:endParaRPr lang="es-ES"/>
          </a:p>
        </p:txBody>
      </p:sp>
      <p:pic>
        <p:nvPicPr>
          <p:cNvPr id="3" name="2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733331" y="168499"/>
            <a:ext cx="7626709" cy="872650"/>
          </a:xfrm>
          <a:prstGeom prst="rect">
            <a:avLst/>
          </a:prstGeom>
        </p:spPr>
        <p:txBody>
          <a:bodyPr lIns="86895" tIns="43448" rIns="86895" bIns="43448"/>
          <a:lstStyle>
            <a:lvl1pPr>
              <a:defRPr sz="3200"/>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742560" y="1371025"/>
            <a:ext cx="8408400" cy="4519194"/>
          </a:xfrm>
          <a:prstGeom prst="rect">
            <a:avLst/>
          </a:prstGeom>
        </p:spPr>
        <p:txBody>
          <a:bodyPr lIns="86895" tIns="43448" rIns="86895" bIns="43448"/>
          <a:lstStyle>
            <a:lvl1pPr>
              <a:defRPr sz="2400"/>
            </a:lvl1pPr>
            <a:lvl2pPr>
              <a:defRPr sz="2000"/>
            </a:lvl2pPr>
            <a:lvl3pPr>
              <a:defRPr sz="2800"/>
            </a:lvl3pPr>
            <a:lvl4pPr>
              <a:defRPr sz="2000"/>
            </a:lvl4pPr>
            <a:lvl5pPr>
              <a:defRPr sz="24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Rectangle 5"/>
          <p:cNvSpPr>
            <a:spLocks noGrp="1" noChangeArrowheads="1"/>
          </p:cNvSpPr>
          <p:nvPr>
            <p:ph type="sldNum" idx="10"/>
          </p:nvPr>
        </p:nvSpPr>
        <p:spPr>
          <a:ln/>
        </p:spPr>
        <p:txBody>
          <a:bodyPr/>
          <a:lstStyle>
            <a:lvl1pPr>
              <a:defRPr/>
            </a:lvl1pPr>
          </a:lstStyle>
          <a:p>
            <a:pPr>
              <a:defRPr/>
            </a:pPr>
            <a:fld id="{9CCE2BA0-AAD6-4A5A-AE9D-D56B98C0E787}" type="slidenum">
              <a:rPr lang="es-ES"/>
              <a:pPr>
                <a:defRPr/>
              </a:pPr>
              <a:t>‹Nº›</a:t>
            </a:fld>
            <a:endParaRPr lang="es-ES"/>
          </a:p>
        </p:txBody>
      </p:sp>
      <p:pic>
        <p:nvPicPr>
          <p:cNvPr id="5" name="4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742950" y="2130428"/>
            <a:ext cx="8420100" cy="1470025"/>
          </a:xfrm>
        </p:spPr>
        <p:txBody>
          <a:bodyPr/>
          <a:lstStyle/>
          <a:p>
            <a:r>
              <a:rPr lang="es-ES" smtClean="0"/>
              <a:t>Haga clic para modificar el estilo de título del patrón</a:t>
            </a:r>
            <a:endParaRPr lang="ca-ES"/>
          </a:p>
        </p:txBody>
      </p:sp>
      <p:sp>
        <p:nvSpPr>
          <p:cNvPr id="3" name="2 Subtítulo"/>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ca-ES"/>
          </a:p>
        </p:txBody>
      </p:sp>
      <p:sp>
        <p:nvSpPr>
          <p:cNvPr id="4" name="3 Marcador de fecha"/>
          <p:cNvSpPr>
            <a:spLocks noGrp="1"/>
          </p:cNvSpPr>
          <p:nvPr>
            <p:ph type="dt" sz="half" idx="10"/>
          </p:nvPr>
        </p:nvSpPr>
        <p:spPr/>
        <p:txBody>
          <a:bodyPr/>
          <a:lstStyle/>
          <a:p>
            <a:fld id="{04AF466F-BDA4-4F18-9C7B-FF0A9A1B0E80}" type="datetime1">
              <a:rPr lang="en-US" smtClean="0"/>
              <a:pPr/>
              <a:t>11/20/2017</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1942388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ca-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4" name="3 Marcador de fecha"/>
          <p:cNvSpPr>
            <a:spLocks noGrp="1"/>
          </p:cNvSpPr>
          <p:nvPr>
            <p:ph type="dt" sz="half" idx="10"/>
          </p:nvPr>
        </p:nvSpPr>
        <p:spPr/>
        <p:txBody>
          <a:bodyPr/>
          <a:lstStyle/>
          <a:p>
            <a:fld id="{1CEF607B-A47E-422C-9BEF-122CCDB7C526}" type="datetime1">
              <a:rPr lang="en-US" smtClean="0"/>
              <a:pPr/>
              <a:t>11/20/2017</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1299354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82506" y="4406903"/>
            <a:ext cx="8420100" cy="1362075"/>
          </a:xfrm>
        </p:spPr>
        <p:txBody>
          <a:bodyPr anchor="t"/>
          <a:lstStyle>
            <a:lvl1pPr algn="l">
              <a:defRPr sz="4000" b="1" cap="all"/>
            </a:lvl1pPr>
          </a:lstStyle>
          <a:p>
            <a:r>
              <a:rPr lang="es-ES" smtClean="0"/>
              <a:t>Haga clic para modificar el estilo de título del patrón</a:t>
            </a:r>
            <a:endParaRPr lang="ca-ES"/>
          </a:p>
        </p:txBody>
      </p:sp>
      <p:sp>
        <p:nvSpPr>
          <p:cNvPr id="3" name="2 Marcador de texto"/>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63A9A7CB-BEE6-4F99-898E-913F06E8E125}" type="datetime1">
              <a:rPr lang="en-US" smtClean="0"/>
              <a:pPr/>
              <a:t>11/20/2017</a:t>
            </a:fld>
            <a:endParaRPr lang="en-US"/>
          </a:p>
        </p:txBody>
      </p:sp>
      <p:sp>
        <p:nvSpPr>
          <p:cNvPr id="5" name="4 Marcador de pie de página"/>
          <p:cNvSpPr>
            <a:spLocks noGrp="1"/>
          </p:cNvSpPr>
          <p:nvPr>
            <p:ph type="ftr" sz="quarter" idx="11"/>
          </p:nvPr>
        </p:nvSpPr>
        <p:spPr/>
        <p:txBody>
          <a:bodyPr/>
          <a:lstStyle/>
          <a:p>
            <a:endParaRPr lang="en-US" dirty="0"/>
          </a:p>
        </p:txBody>
      </p:sp>
      <p:sp>
        <p:nvSpPr>
          <p:cNvPr id="6" name="5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3816379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ca-ES"/>
          </a:p>
        </p:txBody>
      </p:sp>
      <p:sp>
        <p:nvSpPr>
          <p:cNvPr id="3" name="2 Marcador de contenido"/>
          <p:cNvSpPr>
            <a:spLocks noGrp="1"/>
          </p:cNvSpPr>
          <p:nvPr>
            <p:ph sz="half" idx="1"/>
          </p:nvPr>
        </p:nvSpPr>
        <p:spPr>
          <a:xfrm>
            <a:off x="536575" y="1600203"/>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4" name="3 Marcador de contenido"/>
          <p:cNvSpPr>
            <a:spLocks noGrp="1"/>
          </p:cNvSpPr>
          <p:nvPr>
            <p:ph sz="half" idx="2"/>
          </p:nvPr>
        </p:nvSpPr>
        <p:spPr>
          <a:xfrm>
            <a:off x="5448300" y="1600203"/>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5" name="4 Marcador de fecha"/>
          <p:cNvSpPr>
            <a:spLocks noGrp="1"/>
          </p:cNvSpPr>
          <p:nvPr>
            <p:ph type="dt" sz="half" idx="10"/>
          </p:nvPr>
        </p:nvSpPr>
        <p:spPr/>
        <p:txBody>
          <a:bodyPr/>
          <a:lstStyle/>
          <a:p>
            <a:fld id="{B6EE300C-6FC5-4FC3-AF1A-075E4F50620D}" type="datetime1">
              <a:rPr lang="en-US" smtClean="0"/>
              <a:pPr/>
              <a:t>11/20/2017</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2945520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4638"/>
            <a:ext cx="8915400" cy="1143000"/>
          </a:xfrm>
        </p:spPr>
        <p:txBody>
          <a:bodyPr/>
          <a:lstStyle>
            <a:lvl1pPr>
              <a:defRPr/>
            </a:lvl1pPr>
          </a:lstStyle>
          <a:p>
            <a:r>
              <a:rPr lang="es-ES" smtClean="0"/>
              <a:t>Haga clic para modificar el estilo de título del patrón</a:t>
            </a:r>
            <a:endParaRPr lang="ca-ES"/>
          </a:p>
        </p:txBody>
      </p:sp>
      <p:sp>
        <p:nvSpPr>
          <p:cNvPr id="3" name="2 Marcador de texto"/>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5" name="4 Marcador de texto"/>
          <p:cNvSpPr>
            <a:spLocks noGrp="1"/>
          </p:cNvSpPr>
          <p:nvPr>
            <p:ph type="body" sz="quarter" idx="3"/>
          </p:nvPr>
        </p:nvSpPr>
        <p:spPr>
          <a:xfrm>
            <a:off x="5032112"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5032112"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7" name="6 Marcador de fecha"/>
          <p:cNvSpPr>
            <a:spLocks noGrp="1"/>
          </p:cNvSpPr>
          <p:nvPr>
            <p:ph type="dt" sz="half" idx="10"/>
          </p:nvPr>
        </p:nvSpPr>
        <p:spPr/>
        <p:txBody>
          <a:bodyPr/>
          <a:lstStyle/>
          <a:p>
            <a:fld id="{F50D295D-4A77-4DEB-B04C-9F4282A8BC04}" type="datetime1">
              <a:rPr lang="en-US" smtClean="0"/>
              <a:pPr/>
              <a:t>11/20/2017</a:t>
            </a:fld>
            <a:endParaRPr lang="en-US"/>
          </a:p>
        </p:txBody>
      </p:sp>
      <p:sp>
        <p:nvSpPr>
          <p:cNvPr id="8" name="7 Marcador de pie de página"/>
          <p:cNvSpPr>
            <a:spLocks noGrp="1"/>
          </p:cNvSpPr>
          <p:nvPr>
            <p:ph type="ftr" sz="quarter" idx="11"/>
          </p:nvPr>
        </p:nvSpPr>
        <p:spPr/>
        <p:txBody>
          <a:bodyPr/>
          <a:lstStyle/>
          <a:p>
            <a:endParaRPr lang="en-US"/>
          </a:p>
        </p:txBody>
      </p:sp>
      <p:sp>
        <p:nvSpPr>
          <p:cNvPr id="9" name="8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22571124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ca-ES"/>
          </a:p>
        </p:txBody>
      </p:sp>
      <p:sp>
        <p:nvSpPr>
          <p:cNvPr id="3" name="2 Marcador de fecha"/>
          <p:cNvSpPr>
            <a:spLocks noGrp="1"/>
          </p:cNvSpPr>
          <p:nvPr>
            <p:ph type="dt" sz="half" idx="10"/>
          </p:nvPr>
        </p:nvSpPr>
        <p:spPr/>
        <p:txBody>
          <a:bodyPr/>
          <a:lstStyle/>
          <a:p>
            <a:fld id="{02B28685-4D0C-42D5-8013-B5904CD1FCBC}" type="datetime1">
              <a:rPr lang="en-US" smtClean="0"/>
              <a:pPr/>
              <a:t>11/20/2017</a:t>
            </a:fld>
            <a:endParaRPr lang="en-US"/>
          </a:p>
        </p:txBody>
      </p:sp>
      <p:sp>
        <p:nvSpPr>
          <p:cNvPr id="4" name="3 Marcador de pie de página"/>
          <p:cNvSpPr>
            <a:spLocks noGrp="1"/>
          </p:cNvSpPr>
          <p:nvPr>
            <p:ph type="ftr" sz="quarter" idx="11"/>
          </p:nvPr>
        </p:nvSpPr>
        <p:spPr/>
        <p:txBody>
          <a:bodyPr/>
          <a:lstStyle/>
          <a:p>
            <a:endParaRPr lang="en-US"/>
          </a:p>
        </p:txBody>
      </p:sp>
      <p:sp>
        <p:nvSpPr>
          <p:cNvPr id="5" name="4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37761455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FDF226C0-9885-4BA9-BBFA-A52CBFEBB775}" type="datetime1">
              <a:rPr lang="en-US" smtClean="0"/>
              <a:pPr/>
              <a:t>11/20/2017</a:t>
            </a:fld>
            <a:endParaRPr lang="en-US"/>
          </a:p>
        </p:txBody>
      </p:sp>
      <p:sp>
        <p:nvSpPr>
          <p:cNvPr id="3" name="2 Marcador de pie de página"/>
          <p:cNvSpPr>
            <a:spLocks noGrp="1"/>
          </p:cNvSpPr>
          <p:nvPr>
            <p:ph type="ftr" sz="quarter" idx="11"/>
          </p:nvPr>
        </p:nvSpPr>
        <p:spPr/>
        <p:txBody>
          <a:bodyPr/>
          <a:lstStyle/>
          <a:p>
            <a:endParaRPr lang="en-US"/>
          </a:p>
        </p:txBody>
      </p:sp>
      <p:sp>
        <p:nvSpPr>
          <p:cNvPr id="4" name="3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34337877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95300" y="273050"/>
            <a:ext cx="3259006" cy="1162050"/>
          </a:xfrm>
        </p:spPr>
        <p:txBody>
          <a:bodyPr anchor="b"/>
          <a:lstStyle>
            <a:lvl1pPr algn="l">
              <a:defRPr sz="2000" b="1"/>
            </a:lvl1pPr>
          </a:lstStyle>
          <a:p>
            <a:r>
              <a:rPr lang="es-ES" smtClean="0"/>
              <a:t>Haga clic para modificar el estilo de título del patrón</a:t>
            </a:r>
            <a:endParaRPr lang="ca-ES"/>
          </a:p>
        </p:txBody>
      </p:sp>
      <p:sp>
        <p:nvSpPr>
          <p:cNvPr id="3" name="2 Marcador de contenido"/>
          <p:cNvSpPr>
            <a:spLocks noGrp="1"/>
          </p:cNvSpPr>
          <p:nvPr>
            <p:ph idx="1"/>
          </p:nvPr>
        </p:nvSpPr>
        <p:spPr>
          <a:xfrm>
            <a:off x="3872972" y="273053"/>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4" name="3 Marcador de texto"/>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BEE1B38-C5EB-4D66-9137-0AFE9CDEDE8F}" type="datetime1">
              <a:rPr lang="en-US" smtClean="0"/>
              <a:pPr/>
              <a:t>11/20/2017</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42896635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941645" y="4800600"/>
            <a:ext cx="5943600" cy="566738"/>
          </a:xfrm>
        </p:spPr>
        <p:txBody>
          <a:bodyPr anchor="b"/>
          <a:lstStyle>
            <a:lvl1pPr algn="l">
              <a:defRPr sz="2000" b="1"/>
            </a:lvl1pPr>
          </a:lstStyle>
          <a:p>
            <a:r>
              <a:rPr lang="es-ES" smtClean="0"/>
              <a:t>Haga clic para modificar el estilo de título del patrón</a:t>
            </a:r>
            <a:endParaRPr lang="ca-ES"/>
          </a:p>
        </p:txBody>
      </p:sp>
      <p:sp>
        <p:nvSpPr>
          <p:cNvPr id="3" name="2 Marcador de posición de imagen"/>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a-ES"/>
          </a:p>
        </p:txBody>
      </p:sp>
      <p:sp>
        <p:nvSpPr>
          <p:cNvPr id="4" name="3 Marcador de texto"/>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27B613C-1AD7-49D3-885D-F654C5CDBAA6}" type="datetime1">
              <a:rPr lang="en-US" smtClean="0"/>
              <a:pPr/>
              <a:t>11/20/2017</a:t>
            </a:fld>
            <a:endParaRPr lang="en-US" dirty="0"/>
          </a:p>
        </p:txBody>
      </p:sp>
      <p:sp>
        <p:nvSpPr>
          <p:cNvPr id="6" name="5 Marcador de pie de página"/>
          <p:cNvSpPr>
            <a:spLocks noGrp="1"/>
          </p:cNvSpPr>
          <p:nvPr>
            <p:ph type="ftr" sz="quarter" idx="11"/>
          </p:nvPr>
        </p:nvSpPr>
        <p:spPr/>
        <p:txBody>
          <a:bodyPr/>
          <a:lstStyle/>
          <a:p>
            <a:endParaRPr lang="en-US" dirty="0"/>
          </a:p>
        </p:txBody>
      </p:sp>
      <p:sp>
        <p:nvSpPr>
          <p:cNvPr id="7" name="6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1490736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ca-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4" name="3 Marcador de fecha"/>
          <p:cNvSpPr>
            <a:spLocks noGrp="1"/>
          </p:cNvSpPr>
          <p:nvPr>
            <p:ph type="dt" sz="half" idx="10"/>
          </p:nvPr>
        </p:nvSpPr>
        <p:spPr/>
        <p:txBody>
          <a:bodyPr/>
          <a:lstStyle/>
          <a:p>
            <a:fld id="{58FB4290-6522-4139-852E-05BD9E7F0D2E}" type="datetime1">
              <a:rPr lang="en-US" smtClean="0"/>
              <a:pPr/>
              <a:t>11/20/2017</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33565769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780337" y="274641"/>
            <a:ext cx="2414588" cy="5851525"/>
          </a:xfrm>
        </p:spPr>
        <p:txBody>
          <a:bodyPr vert="eaVert"/>
          <a:lstStyle/>
          <a:p>
            <a:r>
              <a:rPr lang="es-ES" smtClean="0"/>
              <a:t>Haga clic para modificar el estilo de título del patrón</a:t>
            </a:r>
            <a:endParaRPr lang="ca-ES"/>
          </a:p>
        </p:txBody>
      </p:sp>
      <p:sp>
        <p:nvSpPr>
          <p:cNvPr id="3" name="2 Marcador de texto vertical"/>
          <p:cNvSpPr>
            <a:spLocks noGrp="1"/>
          </p:cNvSpPr>
          <p:nvPr>
            <p:ph type="body" orient="vert" idx="1"/>
          </p:nvPr>
        </p:nvSpPr>
        <p:spPr>
          <a:xfrm>
            <a:off x="536576" y="274641"/>
            <a:ext cx="7078663"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4" name="3 Marcador de fecha"/>
          <p:cNvSpPr>
            <a:spLocks noGrp="1"/>
          </p:cNvSpPr>
          <p:nvPr>
            <p:ph type="dt" sz="half" idx="10"/>
          </p:nvPr>
        </p:nvSpPr>
        <p:spPr/>
        <p:txBody>
          <a:bodyPr/>
          <a:lstStyle/>
          <a:p>
            <a:fld id="{AAB955F9-81EA-47C5-8059-9E5C2B437C70}" type="datetime1">
              <a:rPr lang="en-US" smtClean="0"/>
              <a:pPr/>
              <a:t>11/20/2017</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5E93E192-06A8-4597-BE46-D113F9CFBA26}" type="slidenum">
              <a:rPr lang="es-ES" smtClean="0"/>
              <a:pPr/>
              <a:t>‹Nº›</a:t>
            </a:fld>
            <a:endParaRPr lang="es-ES"/>
          </a:p>
        </p:txBody>
      </p:sp>
    </p:spTree>
    <p:extLst>
      <p:ext uri="{BB962C8B-B14F-4D97-AF65-F5344CB8AC3E}">
        <p14:creationId xmlns:p14="http://schemas.microsoft.com/office/powerpoint/2010/main" val="21976467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ítol amb text">
    <p:spTree>
      <p:nvGrpSpPr>
        <p:cNvPr id="1" name=""/>
        <p:cNvGrpSpPr/>
        <p:nvPr/>
      </p:nvGrpSpPr>
      <p:grpSpPr>
        <a:xfrm>
          <a:off x="0" y="0"/>
          <a:ext cx="0" cy="0"/>
          <a:chOff x="0" y="0"/>
          <a:chExt cx="0" cy="0"/>
        </a:xfrm>
      </p:grpSpPr>
      <p:sp>
        <p:nvSpPr>
          <p:cNvPr id="7" name="6 Marcador de texto"/>
          <p:cNvSpPr>
            <a:spLocks noGrp="1"/>
          </p:cNvSpPr>
          <p:nvPr>
            <p:ph type="body" sz="quarter" idx="11"/>
          </p:nvPr>
        </p:nvSpPr>
        <p:spPr>
          <a:xfrm>
            <a:off x="531147" y="1436059"/>
            <a:ext cx="8751075" cy="424638"/>
          </a:xfrm>
          <a:prstGeom prst="rect">
            <a:avLst/>
          </a:prstGeom>
        </p:spPr>
        <p:txBody>
          <a:bodyPr/>
          <a:lstStyle>
            <a:lvl1pPr>
              <a:defRPr baseline="0">
                <a:solidFill>
                  <a:srgbClr val="C00000"/>
                </a:solidFill>
              </a:defRPr>
            </a:lvl1pPr>
          </a:lstStyle>
          <a:p>
            <a:pPr lvl="0"/>
            <a:r>
              <a:rPr lang="es-ES" dirty="0" smtClean="0"/>
              <a:t>Haga clic para modificar el estilo de texto del patrón</a:t>
            </a:r>
          </a:p>
        </p:txBody>
      </p:sp>
      <p:sp>
        <p:nvSpPr>
          <p:cNvPr id="11" name="10 Marcador de texto"/>
          <p:cNvSpPr>
            <a:spLocks noGrp="1"/>
          </p:cNvSpPr>
          <p:nvPr>
            <p:ph type="body" sz="quarter" idx="12"/>
          </p:nvPr>
        </p:nvSpPr>
        <p:spPr>
          <a:xfrm>
            <a:off x="542925" y="1919335"/>
            <a:ext cx="8739298" cy="4460200"/>
          </a:xfrm>
          <a:prstGeom prst="rect">
            <a:avLst/>
          </a:prstGeom>
        </p:spPr>
        <p:txBody>
          <a:bodyPr/>
          <a:lstStyle>
            <a:lvl1pPr>
              <a:defRPr sz="2200" b="0">
                <a:solidFill>
                  <a:srgbClr val="C00000"/>
                </a:solidFill>
              </a:defRPr>
            </a:lvl1pPr>
            <a:lvl2pPr>
              <a:buFont typeface="Wingdings" pitchFamily="2" charset="2"/>
              <a:buChar char="§"/>
              <a:defRPr sz="2000">
                <a:solidFill>
                  <a:srgbClr val="C00000"/>
                </a:solidFill>
              </a:defRPr>
            </a:lvl2pPr>
            <a:lvl3pPr>
              <a:defRPr sz="2000">
                <a:solidFill>
                  <a:srgbClr val="C00000"/>
                </a:solidFill>
              </a:defRPr>
            </a:lvl3pPr>
            <a:lvl4pPr>
              <a:defRPr>
                <a:solidFill>
                  <a:srgbClr val="C00000"/>
                </a:solidFill>
              </a:defRPr>
            </a:lvl4pPr>
            <a:lvl5pPr>
              <a:defRPr sz="1800">
                <a:solidFill>
                  <a:srgbClr val="C00000"/>
                </a:solidFill>
              </a:defRPr>
            </a:lvl5pPr>
          </a:lstStyle>
          <a:p>
            <a:pPr lvl="0"/>
            <a:r>
              <a:rPr lang="es-ES" dirty="0" smtClean="0"/>
              <a:t>Haga clic para modificar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ES" dirty="0"/>
          </a:p>
        </p:txBody>
      </p:sp>
      <p:sp>
        <p:nvSpPr>
          <p:cNvPr id="5" name="4 Título"/>
          <p:cNvSpPr>
            <a:spLocks noGrp="1"/>
          </p:cNvSpPr>
          <p:nvPr>
            <p:ph type="title" hasCustomPrompt="1"/>
          </p:nvPr>
        </p:nvSpPr>
        <p:spPr>
          <a:xfrm>
            <a:off x="495300" y="274638"/>
            <a:ext cx="8915400" cy="1143000"/>
          </a:xfrm>
          <a:prstGeom prst="rect">
            <a:avLst/>
          </a:prstGeom>
        </p:spPr>
        <p:txBody>
          <a:bodyPr>
            <a:normAutofit/>
          </a:bodyPr>
          <a:lstStyle>
            <a:lvl1pPr marL="457200" indent="-457200" algn="l">
              <a:buFont typeface="+mj-lt"/>
              <a:buAutoNum type="arabicPeriod"/>
              <a:defRPr sz="3200" baseline="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pic>
        <p:nvPicPr>
          <p:cNvPr id="6" name="5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Dos títols amb text">
    <p:spTree>
      <p:nvGrpSpPr>
        <p:cNvPr id="1" name=""/>
        <p:cNvGrpSpPr/>
        <p:nvPr/>
      </p:nvGrpSpPr>
      <p:grpSpPr>
        <a:xfrm>
          <a:off x="0" y="0"/>
          <a:ext cx="0" cy="0"/>
          <a:chOff x="0" y="0"/>
          <a:chExt cx="0" cy="0"/>
        </a:xfrm>
      </p:grpSpPr>
      <p:sp>
        <p:nvSpPr>
          <p:cNvPr id="11" name="10 Marcador de texto"/>
          <p:cNvSpPr>
            <a:spLocks noGrp="1"/>
          </p:cNvSpPr>
          <p:nvPr>
            <p:ph type="body" sz="quarter" idx="12"/>
          </p:nvPr>
        </p:nvSpPr>
        <p:spPr>
          <a:xfrm>
            <a:off x="542925" y="1638677"/>
            <a:ext cx="8739298" cy="2189044"/>
          </a:xfrm>
          <a:prstGeom prst="rect">
            <a:avLst/>
          </a:prstGeom>
        </p:spPr>
        <p:txBody>
          <a:bodyPr/>
          <a:lstStyle>
            <a:lvl1pPr>
              <a:defRPr sz="2200" b="0">
                <a:solidFill>
                  <a:srgbClr val="C00000"/>
                </a:solidFill>
              </a:defRPr>
            </a:lvl1pPr>
            <a:lvl2pPr>
              <a:buFont typeface="Wingdings" pitchFamily="2" charset="2"/>
              <a:buChar char="§"/>
              <a:defRPr sz="2000">
                <a:solidFill>
                  <a:srgbClr val="C00000"/>
                </a:solidFill>
              </a:defRPr>
            </a:lvl2pPr>
            <a:lvl3pPr>
              <a:defRPr sz="2000">
                <a:solidFill>
                  <a:srgbClr val="C00000"/>
                </a:solidFill>
              </a:defRPr>
            </a:lvl3pPr>
            <a:lvl5pPr>
              <a:defRPr sz="1800"/>
            </a:lvl5pPr>
          </a:lstStyle>
          <a:p>
            <a:pPr lvl="0"/>
            <a:r>
              <a:rPr lang="es-ES" smtClean="0"/>
              <a:t>Haga clic para modificar el estilo de texto del patrón</a:t>
            </a:r>
          </a:p>
          <a:p>
            <a:pPr lvl="1"/>
            <a:r>
              <a:rPr lang="es-ES" smtClean="0"/>
              <a:t>Segundo nivel</a:t>
            </a:r>
          </a:p>
          <a:p>
            <a:pPr lvl="2"/>
            <a:r>
              <a:rPr lang="es-ES" smtClean="0"/>
              <a:t>Tercer nivel</a:t>
            </a:r>
          </a:p>
        </p:txBody>
      </p:sp>
      <p:sp>
        <p:nvSpPr>
          <p:cNvPr id="5" name="10 Marcador de texto"/>
          <p:cNvSpPr>
            <a:spLocks noGrp="1"/>
          </p:cNvSpPr>
          <p:nvPr>
            <p:ph type="body" sz="quarter" idx="14"/>
          </p:nvPr>
        </p:nvSpPr>
        <p:spPr>
          <a:xfrm>
            <a:off x="546469" y="4065006"/>
            <a:ext cx="8739298" cy="2424399"/>
          </a:xfrm>
          <a:prstGeom prst="rect">
            <a:avLst/>
          </a:prstGeom>
        </p:spPr>
        <p:txBody>
          <a:bodyPr/>
          <a:lstStyle>
            <a:lvl1pPr>
              <a:defRPr sz="2200" b="0">
                <a:solidFill>
                  <a:srgbClr val="C00000"/>
                </a:solidFill>
              </a:defRPr>
            </a:lvl1pPr>
            <a:lvl2pPr>
              <a:buFont typeface="Wingdings" pitchFamily="2" charset="2"/>
              <a:buChar char="§"/>
              <a:defRPr sz="2000">
                <a:solidFill>
                  <a:srgbClr val="C00000"/>
                </a:solidFill>
              </a:defRPr>
            </a:lvl2pPr>
            <a:lvl3pPr>
              <a:defRPr sz="2000">
                <a:solidFill>
                  <a:srgbClr val="C00000"/>
                </a:solidFill>
              </a:defRPr>
            </a:lvl3pPr>
            <a:lvl5pPr>
              <a:defRPr sz="1800"/>
            </a:lvl5pPr>
          </a:lstStyle>
          <a:p>
            <a:pPr lvl="0"/>
            <a:r>
              <a:rPr lang="es-ES" smtClean="0"/>
              <a:t>Haga clic para modificar el estilo de texto del patrón</a:t>
            </a:r>
          </a:p>
          <a:p>
            <a:pPr lvl="1"/>
            <a:r>
              <a:rPr lang="es-ES" smtClean="0"/>
              <a:t>Segundo nivel</a:t>
            </a:r>
          </a:p>
          <a:p>
            <a:pPr lvl="2"/>
            <a:r>
              <a:rPr lang="es-ES" smtClean="0"/>
              <a:t>Tercer nivel</a:t>
            </a:r>
          </a:p>
        </p:txBody>
      </p:sp>
      <p:sp>
        <p:nvSpPr>
          <p:cNvPr id="8" name="7 Título"/>
          <p:cNvSpPr>
            <a:spLocks noGrp="1"/>
          </p:cNvSpPr>
          <p:nvPr>
            <p:ph type="title" hasCustomPrompt="1"/>
          </p:nvPr>
        </p:nvSpPr>
        <p:spPr>
          <a:xfrm>
            <a:off x="495300" y="274638"/>
            <a:ext cx="8915400" cy="1143000"/>
          </a:xfrm>
          <a:prstGeom prst="rect">
            <a:avLst/>
          </a:prstGeom>
        </p:spPr>
        <p:txBody>
          <a:bodyPr>
            <a:noAutofit/>
          </a:bodyPr>
          <a:lstStyle>
            <a:lvl1pPr marL="457200" indent="-457200" algn="l">
              <a:buFont typeface="+mj-lt"/>
              <a:buAutoNum type="arabicPeriod"/>
              <a:defRPr sz="360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omparativa text">
    <p:spTree>
      <p:nvGrpSpPr>
        <p:cNvPr id="1" name=""/>
        <p:cNvGrpSpPr/>
        <p:nvPr/>
      </p:nvGrpSpPr>
      <p:grpSpPr>
        <a:xfrm>
          <a:off x="0" y="0"/>
          <a:ext cx="0" cy="0"/>
          <a:chOff x="0" y="0"/>
          <a:chExt cx="0" cy="0"/>
        </a:xfrm>
      </p:grpSpPr>
      <p:sp>
        <p:nvSpPr>
          <p:cNvPr id="7" name="6 Marcador de texto"/>
          <p:cNvSpPr>
            <a:spLocks noGrp="1"/>
          </p:cNvSpPr>
          <p:nvPr>
            <p:ph type="body" sz="quarter" idx="11"/>
          </p:nvPr>
        </p:nvSpPr>
        <p:spPr>
          <a:xfrm>
            <a:off x="5331992" y="1489224"/>
            <a:ext cx="4130991" cy="419472"/>
          </a:xfrm>
          <a:prstGeom prst="rect">
            <a:avLst/>
          </a:prstGeom>
        </p:spPr>
        <p:txBody>
          <a:bodyPr/>
          <a:lstStyle>
            <a:lvl1pPr>
              <a:defRPr baseline="0"/>
            </a:lvl1pPr>
          </a:lstStyle>
          <a:p>
            <a:pPr lvl="0"/>
            <a:r>
              <a:rPr lang="es-ES" smtClean="0"/>
              <a:t>Haga clic para modificar el estilo de texto del patrón</a:t>
            </a:r>
          </a:p>
        </p:txBody>
      </p:sp>
      <p:sp>
        <p:nvSpPr>
          <p:cNvPr id="8" name="10 Marcador de texto"/>
          <p:cNvSpPr>
            <a:spLocks noGrp="1"/>
          </p:cNvSpPr>
          <p:nvPr>
            <p:ph type="body" sz="quarter" idx="12"/>
          </p:nvPr>
        </p:nvSpPr>
        <p:spPr>
          <a:xfrm>
            <a:off x="5337552" y="2062940"/>
            <a:ext cx="4125432" cy="4316595"/>
          </a:xfrm>
          <a:prstGeom prst="rect">
            <a:avLst/>
          </a:prstGeom>
        </p:spPr>
        <p:txBody>
          <a:bodyPr/>
          <a:lstStyle>
            <a:lvl1pPr>
              <a:defRPr sz="2200" b="0">
                <a:solidFill>
                  <a:srgbClr val="C00000"/>
                </a:solidFill>
              </a:defRPr>
            </a:lvl1pPr>
            <a:lvl2pPr>
              <a:defRPr sz="2000">
                <a:solidFill>
                  <a:srgbClr val="C00000"/>
                </a:solidFill>
              </a:defRPr>
            </a:lvl2pPr>
            <a:lvl3pPr>
              <a:defRPr sz="2000">
                <a:solidFill>
                  <a:srgbClr val="C00000"/>
                </a:solidFill>
              </a:defRPr>
            </a:lvl3pPr>
            <a:lvl4pPr>
              <a:defRPr>
                <a:solidFill>
                  <a:srgbClr val="C00000"/>
                </a:solidFill>
              </a:defRPr>
            </a:lvl4pPr>
            <a:lvl5pPr>
              <a:defRPr sz="1800">
                <a:solidFill>
                  <a:srgbClr val="C00000"/>
                </a:solidFill>
              </a:defRPr>
            </a:lvl5pPr>
          </a:lstStyle>
          <a:p>
            <a:pPr lvl="0"/>
            <a:r>
              <a:rPr lang="es-ES" dirty="0" smtClean="0"/>
              <a:t>Haga clic para modificar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ES" dirty="0"/>
          </a:p>
        </p:txBody>
      </p:sp>
      <p:sp>
        <p:nvSpPr>
          <p:cNvPr id="5" name="6 Marcador de texto"/>
          <p:cNvSpPr>
            <a:spLocks noGrp="1"/>
          </p:cNvSpPr>
          <p:nvPr>
            <p:ph type="body" sz="quarter" idx="13"/>
          </p:nvPr>
        </p:nvSpPr>
        <p:spPr>
          <a:xfrm>
            <a:off x="593415" y="1482136"/>
            <a:ext cx="4130991" cy="419472"/>
          </a:xfrm>
          <a:prstGeom prst="rect">
            <a:avLst/>
          </a:prstGeom>
        </p:spPr>
        <p:txBody>
          <a:bodyPr/>
          <a:lstStyle>
            <a:lvl1pPr>
              <a:defRPr baseline="0"/>
            </a:lvl1pPr>
          </a:lstStyle>
          <a:p>
            <a:pPr lvl="0"/>
            <a:r>
              <a:rPr lang="es-ES" smtClean="0"/>
              <a:t>Haga clic para modificar el estilo de texto del patrón</a:t>
            </a:r>
          </a:p>
        </p:txBody>
      </p:sp>
      <p:sp>
        <p:nvSpPr>
          <p:cNvPr id="6" name="10 Marcador de texto"/>
          <p:cNvSpPr>
            <a:spLocks noGrp="1"/>
          </p:cNvSpPr>
          <p:nvPr>
            <p:ph type="body" sz="quarter" idx="14"/>
          </p:nvPr>
        </p:nvSpPr>
        <p:spPr>
          <a:xfrm>
            <a:off x="598975" y="2073244"/>
            <a:ext cx="4125432" cy="4299203"/>
          </a:xfrm>
          <a:prstGeom prst="rect">
            <a:avLst/>
          </a:prstGeom>
        </p:spPr>
        <p:txBody>
          <a:bodyPr/>
          <a:lstStyle>
            <a:lvl1pPr>
              <a:defRPr sz="2200" b="0">
                <a:solidFill>
                  <a:srgbClr val="C00000"/>
                </a:solidFill>
              </a:defRPr>
            </a:lvl1pPr>
            <a:lvl2pPr>
              <a:defRPr sz="2000" b="0">
                <a:solidFill>
                  <a:srgbClr val="C00000"/>
                </a:solidFill>
              </a:defRPr>
            </a:lvl2pPr>
            <a:lvl3pPr>
              <a:defRPr sz="2000" b="0">
                <a:solidFill>
                  <a:srgbClr val="C00000"/>
                </a:solidFill>
              </a:defRPr>
            </a:lvl3pPr>
            <a:lvl4pPr>
              <a:defRPr b="0">
                <a:solidFill>
                  <a:srgbClr val="C00000"/>
                </a:solidFill>
              </a:defRPr>
            </a:lvl4pPr>
            <a:lvl5pPr>
              <a:defRPr sz="1800" b="0">
                <a:solidFill>
                  <a:srgbClr val="C00000"/>
                </a:solidFill>
              </a:defRPr>
            </a:lvl5pPr>
          </a:lstStyle>
          <a:p>
            <a:pPr lvl="0"/>
            <a:r>
              <a:rPr lang="es-ES" dirty="0" smtClean="0"/>
              <a:t>Haga clic para modificar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ES" dirty="0"/>
          </a:p>
        </p:txBody>
      </p:sp>
      <p:sp>
        <p:nvSpPr>
          <p:cNvPr id="10" name="9 Título"/>
          <p:cNvSpPr>
            <a:spLocks noGrp="1"/>
          </p:cNvSpPr>
          <p:nvPr>
            <p:ph type="title" hasCustomPrompt="1"/>
          </p:nvPr>
        </p:nvSpPr>
        <p:spPr>
          <a:xfrm>
            <a:off x="495300" y="274638"/>
            <a:ext cx="8915400" cy="1143000"/>
          </a:xfrm>
          <a:prstGeom prst="rect">
            <a:avLst/>
          </a:prstGeom>
        </p:spPr>
        <p:txBody>
          <a:bodyPr>
            <a:normAutofit/>
          </a:bodyPr>
          <a:lstStyle>
            <a:lvl1pPr marL="457200" indent="-457200" algn="l">
              <a:buFont typeface="+mj-lt"/>
              <a:buAutoNum type="arabicPeriod"/>
              <a:defRPr sz="320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pic>
        <p:nvPicPr>
          <p:cNvPr id="9" name="8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Imatge amb text">
    <p:spTree>
      <p:nvGrpSpPr>
        <p:cNvPr id="1" name=""/>
        <p:cNvGrpSpPr/>
        <p:nvPr/>
      </p:nvGrpSpPr>
      <p:grpSpPr>
        <a:xfrm>
          <a:off x="0" y="0"/>
          <a:ext cx="0" cy="0"/>
          <a:chOff x="0" y="0"/>
          <a:chExt cx="0" cy="0"/>
        </a:xfrm>
      </p:grpSpPr>
      <p:sp>
        <p:nvSpPr>
          <p:cNvPr id="3" name="2 Marcador de posición de imagen"/>
          <p:cNvSpPr>
            <a:spLocks noGrp="1"/>
          </p:cNvSpPr>
          <p:nvPr>
            <p:ph type="pic" idx="1"/>
          </p:nvPr>
        </p:nvSpPr>
        <p:spPr>
          <a:xfrm>
            <a:off x="527526" y="1484644"/>
            <a:ext cx="4597378" cy="488425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ca-ES" noProof="0"/>
          </a:p>
        </p:txBody>
      </p:sp>
      <p:sp>
        <p:nvSpPr>
          <p:cNvPr id="4" name="6 Marcador de texto"/>
          <p:cNvSpPr>
            <a:spLocks noGrp="1"/>
          </p:cNvSpPr>
          <p:nvPr>
            <p:ph type="body" sz="quarter" idx="11"/>
          </p:nvPr>
        </p:nvSpPr>
        <p:spPr>
          <a:xfrm>
            <a:off x="5331992" y="1489224"/>
            <a:ext cx="4130991" cy="419472"/>
          </a:xfrm>
          <a:prstGeom prst="rect">
            <a:avLst/>
          </a:prstGeom>
        </p:spPr>
        <p:txBody>
          <a:bodyPr/>
          <a:lstStyle>
            <a:lvl1pPr>
              <a:defRPr baseline="0"/>
            </a:lvl1pPr>
          </a:lstStyle>
          <a:p>
            <a:pPr lvl="0"/>
            <a:r>
              <a:rPr lang="es-ES" dirty="0" smtClean="0"/>
              <a:t>Haga clic para modificar el estilo de texto del patrón</a:t>
            </a:r>
          </a:p>
        </p:txBody>
      </p:sp>
      <p:sp>
        <p:nvSpPr>
          <p:cNvPr id="5" name="10 Marcador de texto"/>
          <p:cNvSpPr>
            <a:spLocks noGrp="1"/>
          </p:cNvSpPr>
          <p:nvPr>
            <p:ph type="body" sz="quarter" idx="12"/>
          </p:nvPr>
        </p:nvSpPr>
        <p:spPr>
          <a:xfrm>
            <a:off x="5337552" y="2062940"/>
            <a:ext cx="4125432" cy="4316595"/>
          </a:xfrm>
          <a:prstGeom prst="rect">
            <a:avLst/>
          </a:prstGeom>
        </p:spPr>
        <p:txBody>
          <a:bodyPr/>
          <a:lstStyle>
            <a:lvl1pPr>
              <a:defRPr sz="2200" b="0">
                <a:solidFill>
                  <a:schemeClr val="bg2">
                    <a:lumMod val="50000"/>
                  </a:schemeClr>
                </a:solidFill>
              </a:defRPr>
            </a:lvl1pPr>
            <a:lvl2pPr>
              <a:defRPr sz="2000"/>
            </a:lvl2pPr>
            <a:lvl3pPr>
              <a:defRPr sz="2000"/>
            </a:lvl3pPr>
            <a:lvl5pPr>
              <a:defRPr sz="1800"/>
            </a:lvl5pPr>
          </a:lstStyle>
          <a:p>
            <a:pPr lvl="0"/>
            <a:r>
              <a:rPr lang="es-ES" dirty="0" smtClean="0"/>
              <a:t>Haga clic para modificar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ES" dirty="0"/>
          </a:p>
        </p:txBody>
      </p:sp>
      <p:sp>
        <p:nvSpPr>
          <p:cNvPr id="6" name="5 Título"/>
          <p:cNvSpPr>
            <a:spLocks noGrp="1"/>
          </p:cNvSpPr>
          <p:nvPr>
            <p:ph type="title" hasCustomPrompt="1"/>
          </p:nvPr>
        </p:nvSpPr>
        <p:spPr>
          <a:xfrm>
            <a:off x="495300" y="274638"/>
            <a:ext cx="8915400" cy="1143000"/>
          </a:xfrm>
          <a:prstGeom prst="rect">
            <a:avLst/>
          </a:prstGeom>
        </p:spPr>
        <p:txBody>
          <a:bodyPr/>
          <a:lstStyle>
            <a:lvl1pPr marL="457200" indent="-457200">
              <a:buFont typeface="+mj-lt"/>
              <a:buAutoNum type="arabicPeriod"/>
              <a:defRPr sz="2400"/>
            </a:lvl1pPr>
          </a:lstStyle>
          <a:p>
            <a:r>
              <a:rPr lang="es-ES" dirty="0" smtClean="0"/>
              <a:t>Posar el </a:t>
            </a:r>
            <a:r>
              <a:rPr lang="es-ES" dirty="0" err="1" smtClean="0"/>
              <a:t>títol</a:t>
            </a:r>
            <a:r>
              <a:rPr lang="es-ES" dirty="0" smtClean="0"/>
              <a:t> de la diapositiva </a:t>
            </a:r>
            <a:r>
              <a:rPr lang="es-ES" dirty="0" err="1" smtClean="0"/>
              <a:t>amb</a:t>
            </a:r>
            <a:r>
              <a:rPr lang="es-ES" dirty="0" smtClean="0"/>
              <a:t> el número de </a:t>
            </a:r>
            <a:r>
              <a:rPr lang="es-ES" dirty="0" err="1" smtClean="0"/>
              <a:t>l’índex</a:t>
            </a:r>
            <a:endParaRPr lang="es-ES" dirty="0"/>
          </a:p>
        </p:txBody>
      </p:sp>
      <p:pic>
        <p:nvPicPr>
          <p:cNvPr id="7" name="6 Imag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jpe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9.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10" Type="http://schemas.openxmlformats.org/officeDocument/2006/relationships/image" Target="../media/image10.jpeg"/><Relationship Id="rId4" Type="http://schemas.openxmlformats.org/officeDocument/2006/relationships/slideLayout" Target="../slideLayouts/slideLayout8.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4" descr="diapo_horizontales"/>
          <p:cNvPicPr>
            <a:picLocks noChangeAspect="1" noChangeArrowheads="1"/>
          </p:cNvPicPr>
          <p:nvPr/>
        </p:nvPicPr>
        <p:blipFill>
          <a:blip r:embed="rId4" cstate="print"/>
          <a:srcRect/>
          <a:stretch>
            <a:fillRect/>
          </a:stretch>
        </p:blipFill>
        <p:spPr bwMode="auto">
          <a:xfrm>
            <a:off x="0" y="0"/>
            <a:ext cx="9906000" cy="6858000"/>
          </a:xfrm>
          <a:prstGeom prst="rect">
            <a:avLst/>
          </a:prstGeom>
          <a:noFill/>
          <a:ln w="9525">
            <a:noFill/>
            <a:miter lim="800000"/>
            <a:headEnd/>
            <a:tailEnd/>
          </a:ln>
        </p:spPr>
      </p:pic>
      <p:grpSp>
        <p:nvGrpSpPr>
          <p:cNvPr id="1027" name="9 Grupo"/>
          <p:cNvGrpSpPr>
            <a:grpSpLocks/>
          </p:cNvGrpSpPr>
          <p:nvPr/>
        </p:nvGrpSpPr>
        <p:grpSpPr bwMode="auto">
          <a:xfrm>
            <a:off x="200025" y="6376988"/>
            <a:ext cx="6515100" cy="334962"/>
            <a:chOff x="200571" y="6377181"/>
            <a:chExt cx="6514038" cy="335249"/>
          </a:xfrm>
        </p:grpSpPr>
        <p:grpSp>
          <p:nvGrpSpPr>
            <p:cNvPr id="1028" name="17 Grupo"/>
            <p:cNvGrpSpPr>
              <a:grpSpLocks/>
            </p:cNvGrpSpPr>
            <p:nvPr/>
          </p:nvGrpSpPr>
          <p:grpSpPr bwMode="auto">
            <a:xfrm>
              <a:off x="4247708" y="6415939"/>
              <a:ext cx="2466901" cy="261979"/>
              <a:chOff x="4247708" y="6415939"/>
              <a:chExt cx="2466901" cy="261979"/>
            </a:xfrm>
          </p:grpSpPr>
          <p:pic>
            <p:nvPicPr>
              <p:cNvPr id="1036" name="Imagen 1"/>
              <p:cNvPicPr>
                <a:picLocks noChangeAspect="1"/>
              </p:cNvPicPr>
              <p:nvPr/>
            </p:nvPicPr>
            <p:blipFill>
              <a:blip r:embed="rId5" cstate="print"/>
              <a:srcRect/>
              <a:stretch>
                <a:fillRect/>
              </a:stretch>
            </p:blipFill>
            <p:spPr bwMode="auto">
              <a:xfrm>
                <a:off x="4854059" y="6415939"/>
                <a:ext cx="1860550" cy="244769"/>
              </a:xfrm>
              <a:prstGeom prst="rect">
                <a:avLst/>
              </a:prstGeom>
              <a:noFill/>
              <a:ln w="9525">
                <a:noFill/>
                <a:miter lim="800000"/>
                <a:headEnd/>
                <a:tailEnd/>
              </a:ln>
            </p:spPr>
          </p:pic>
          <p:pic>
            <p:nvPicPr>
              <p:cNvPr id="1037" name="Imagen 13"/>
              <p:cNvPicPr>
                <a:picLocks noChangeAspect="1"/>
              </p:cNvPicPr>
              <p:nvPr/>
            </p:nvPicPr>
            <p:blipFill>
              <a:blip r:embed="rId6" cstate="print"/>
              <a:srcRect/>
              <a:stretch>
                <a:fillRect/>
              </a:stretch>
            </p:blipFill>
            <p:spPr bwMode="auto">
              <a:xfrm>
                <a:off x="4247708" y="6422534"/>
                <a:ext cx="485700" cy="255384"/>
              </a:xfrm>
              <a:prstGeom prst="rect">
                <a:avLst/>
              </a:prstGeom>
              <a:noFill/>
              <a:ln w="9525">
                <a:noFill/>
                <a:miter lim="800000"/>
                <a:headEnd/>
                <a:tailEnd/>
              </a:ln>
            </p:spPr>
          </p:pic>
        </p:grpSp>
        <p:grpSp>
          <p:nvGrpSpPr>
            <p:cNvPr id="1029" name="12 Grupo"/>
            <p:cNvGrpSpPr>
              <a:grpSpLocks/>
            </p:cNvGrpSpPr>
            <p:nvPr/>
          </p:nvGrpSpPr>
          <p:grpSpPr bwMode="auto">
            <a:xfrm>
              <a:off x="200571" y="6377181"/>
              <a:ext cx="4069911" cy="335249"/>
              <a:chOff x="200571" y="6377181"/>
              <a:chExt cx="4069911" cy="335249"/>
            </a:xfrm>
          </p:grpSpPr>
          <p:grpSp>
            <p:nvGrpSpPr>
              <p:cNvPr id="1030" name="Agrupar 14"/>
              <p:cNvGrpSpPr>
                <a:grpSpLocks/>
              </p:cNvGrpSpPr>
              <p:nvPr/>
            </p:nvGrpSpPr>
            <p:grpSpPr bwMode="auto">
              <a:xfrm>
                <a:off x="814971" y="6377181"/>
                <a:ext cx="3455511" cy="335249"/>
                <a:chOff x="4732227" y="4143388"/>
                <a:chExt cx="5019615" cy="495049"/>
              </a:xfrm>
            </p:grpSpPr>
            <p:pic>
              <p:nvPicPr>
                <p:cNvPr id="1032" name="Imagen 5"/>
                <p:cNvPicPr>
                  <a:picLocks noChangeAspect="1"/>
                </p:cNvPicPr>
                <p:nvPr/>
              </p:nvPicPr>
              <p:blipFill>
                <a:blip r:embed="rId7" cstate="print"/>
                <a:srcRect/>
                <a:stretch>
                  <a:fillRect/>
                </a:stretch>
              </p:blipFill>
              <p:spPr bwMode="auto">
                <a:xfrm>
                  <a:off x="4732227" y="4155962"/>
                  <a:ext cx="1409700" cy="469900"/>
                </a:xfrm>
                <a:prstGeom prst="rect">
                  <a:avLst/>
                </a:prstGeom>
                <a:noFill/>
                <a:ln w="9525">
                  <a:noFill/>
                  <a:miter lim="800000"/>
                  <a:headEnd/>
                  <a:tailEnd/>
                </a:ln>
              </p:spPr>
            </p:pic>
            <p:pic>
              <p:nvPicPr>
                <p:cNvPr id="1033" name="Imagen 6"/>
                <p:cNvPicPr>
                  <a:picLocks noChangeAspect="1"/>
                </p:cNvPicPr>
                <p:nvPr/>
              </p:nvPicPr>
              <p:blipFill>
                <a:blip r:embed="rId8" cstate="print"/>
                <a:srcRect/>
                <a:stretch>
                  <a:fillRect/>
                </a:stretch>
              </p:blipFill>
              <p:spPr bwMode="auto">
                <a:xfrm>
                  <a:off x="6140134" y="4168537"/>
                  <a:ext cx="1511300" cy="469900"/>
                </a:xfrm>
                <a:prstGeom prst="rect">
                  <a:avLst/>
                </a:prstGeom>
                <a:noFill/>
                <a:ln w="9525">
                  <a:noFill/>
                  <a:miter lim="800000"/>
                  <a:headEnd/>
                  <a:tailEnd/>
                </a:ln>
              </p:spPr>
            </p:pic>
            <p:pic>
              <p:nvPicPr>
                <p:cNvPr id="1034" name="Imagen 7"/>
                <p:cNvPicPr>
                  <a:picLocks noChangeAspect="1"/>
                </p:cNvPicPr>
                <p:nvPr/>
              </p:nvPicPr>
              <p:blipFill>
                <a:blip r:embed="rId9" cstate="print"/>
                <a:srcRect/>
                <a:stretch>
                  <a:fillRect/>
                </a:stretch>
              </p:blipFill>
              <p:spPr bwMode="auto">
                <a:xfrm>
                  <a:off x="7413087" y="4155962"/>
                  <a:ext cx="939800" cy="469900"/>
                </a:xfrm>
                <a:prstGeom prst="rect">
                  <a:avLst/>
                </a:prstGeom>
                <a:noFill/>
                <a:ln w="9525">
                  <a:noFill/>
                  <a:miter lim="800000"/>
                  <a:headEnd/>
                  <a:tailEnd/>
                </a:ln>
              </p:spPr>
            </p:pic>
            <p:pic>
              <p:nvPicPr>
                <p:cNvPr id="1035" name="Imagen 8"/>
                <p:cNvPicPr>
                  <a:picLocks noChangeAspect="1"/>
                </p:cNvPicPr>
                <p:nvPr/>
              </p:nvPicPr>
              <p:blipFill>
                <a:blip r:embed="rId10" cstate="print"/>
                <a:srcRect/>
                <a:stretch>
                  <a:fillRect/>
                </a:stretch>
              </p:blipFill>
              <p:spPr bwMode="auto">
                <a:xfrm>
                  <a:off x="8177042" y="4143388"/>
                  <a:ext cx="1574800" cy="469900"/>
                </a:xfrm>
                <a:prstGeom prst="rect">
                  <a:avLst/>
                </a:prstGeom>
                <a:noFill/>
                <a:ln w="9525">
                  <a:noFill/>
                  <a:miter lim="800000"/>
                  <a:headEnd/>
                  <a:tailEnd/>
                </a:ln>
              </p:spPr>
            </p:pic>
          </p:grpSp>
          <p:pic>
            <p:nvPicPr>
              <p:cNvPr id="1031" name="Imagen 15"/>
              <p:cNvPicPr>
                <a:picLocks noChangeAspect="1"/>
              </p:cNvPicPr>
              <p:nvPr/>
            </p:nvPicPr>
            <p:blipFill>
              <a:blip r:embed="rId11" cstate="print"/>
              <a:srcRect/>
              <a:stretch>
                <a:fillRect/>
              </a:stretch>
            </p:blipFill>
            <p:spPr bwMode="auto">
              <a:xfrm>
                <a:off x="200571" y="6400698"/>
                <a:ext cx="672867" cy="301284"/>
              </a:xfrm>
              <a:prstGeom prst="rect">
                <a:avLst/>
              </a:prstGeom>
              <a:noFill/>
              <a:ln w="9525">
                <a:noFill/>
                <a:miter lim="800000"/>
                <a:headEnd/>
                <a:tailEnd/>
              </a:ln>
            </p:spPr>
          </p:pic>
        </p:grpSp>
      </p:grpSp>
      <p:sp>
        <p:nvSpPr>
          <p:cNvPr id="14" name="13 Marcador de número de diapositiva"/>
          <p:cNvSpPr>
            <a:spLocks noGrp="1"/>
          </p:cNvSpPr>
          <p:nvPr>
            <p:ph type="sldNum" sz="quarter" idx="4"/>
          </p:nvPr>
        </p:nvSpPr>
        <p:spPr>
          <a:xfrm>
            <a:off x="7099300" y="6356350"/>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93E192-06A8-4597-BE46-D113F9CFBA26}"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4518" r:id="rId1"/>
    <p:sldLayoutId id="2147484519" r:id="rId2"/>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50" name="Rectangle 6"/>
          <p:cNvSpPr>
            <a:spLocks noGrp="1" noChangeArrowheads="1"/>
          </p:cNvSpPr>
          <p:nvPr>
            <p:ph type="sldNum" sz="quarter" idx="4"/>
          </p:nvPr>
        </p:nvSpPr>
        <p:spPr bwMode="auto">
          <a:xfrm>
            <a:off x="8775700" y="6526213"/>
            <a:ext cx="1063625" cy="2873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1">
                <a:solidFill>
                  <a:srgbClr val="7D468C"/>
                </a:solidFill>
                <a:latin typeface="Calibri" pitchFamily="34" charset="0"/>
                <a:ea typeface="ＭＳ Ｐゴシック" pitchFamily="1" charset="-128"/>
                <a:cs typeface="+mn-cs"/>
              </a:defRPr>
            </a:lvl1pPr>
          </a:lstStyle>
          <a:p>
            <a:pPr>
              <a:defRPr/>
            </a:pPr>
            <a:fld id="{7CE8679B-3567-4070-9B36-F7AB56206DC1}" type="slidenum">
              <a:rPr lang="ca-ES"/>
              <a:pPr>
                <a:defRPr/>
              </a:pPr>
              <a:t>‹Nº›</a:t>
            </a:fld>
            <a:r>
              <a:rPr lang="ca-ES"/>
              <a:t>1</a:t>
            </a:r>
          </a:p>
        </p:txBody>
      </p:sp>
      <p:pic>
        <p:nvPicPr>
          <p:cNvPr id="2051" name="Picture 2" descr="diapos_verticales"/>
          <p:cNvPicPr>
            <a:picLocks noChangeAspect="1" noChangeArrowheads="1"/>
          </p:cNvPicPr>
          <p:nvPr/>
        </p:nvPicPr>
        <p:blipFill>
          <a:blip r:embed="rId4" cstate="print"/>
          <a:srcRect/>
          <a:stretch>
            <a:fillRect/>
          </a:stretch>
        </p:blipFill>
        <p:spPr bwMode="auto">
          <a:xfrm>
            <a:off x="0" y="0"/>
            <a:ext cx="10102850" cy="69945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521" r:id="rId1"/>
    <p:sldLayoutId id="2147484522" r:id="rId2"/>
  </p:sldLayoutIdLst>
  <p:hf hdr="0" ftr="0" dt="0"/>
  <p:txStyles>
    <p:titleStyle>
      <a:lvl1pPr algn="l" rtl="0" eaLnBrk="0" fontAlgn="base" hangingPunct="0">
        <a:spcBef>
          <a:spcPct val="0"/>
        </a:spcBef>
        <a:spcAft>
          <a:spcPct val="0"/>
        </a:spcAft>
        <a:defRPr sz="1900" b="1">
          <a:solidFill>
            <a:schemeClr val="bg1"/>
          </a:solidFill>
          <a:latin typeface="+mj-lt"/>
          <a:ea typeface="ＭＳ Ｐゴシック" charset="0"/>
          <a:cs typeface="ＭＳ Ｐゴシック" charset="0"/>
        </a:defRPr>
      </a:lvl1pPr>
      <a:lvl2pPr algn="l" rtl="0" eaLnBrk="0" fontAlgn="base" hangingPunct="0">
        <a:spcBef>
          <a:spcPct val="0"/>
        </a:spcBef>
        <a:spcAft>
          <a:spcPct val="0"/>
        </a:spcAft>
        <a:defRPr sz="1900" b="1">
          <a:solidFill>
            <a:schemeClr val="bg1"/>
          </a:solidFill>
          <a:latin typeface="Calibri" pitchFamily="34" charset="0"/>
          <a:ea typeface="ＭＳ Ｐゴシック" charset="0"/>
          <a:cs typeface="ＭＳ Ｐゴシック" charset="0"/>
        </a:defRPr>
      </a:lvl2pPr>
      <a:lvl3pPr algn="l" rtl="0" eaLnBrk="0" fontAlgn="base" hangingPunct="0">
        <a:spcBef>
          <a:spcPct val="0"/>
        </a:spcBef>
        <a:spcAft>
          <a:spcPct val="0"/>
        </a:spcAft>
        <a:defRPr sz="1900" b="1">
          <a:solidFill>
            <a:schemeClr val="bg1"/>
          </a:solidFill>
          <a:latin typeface="Calibri" pitchFamily="34" charset="0"/>
          <a:ea typeface="ＭＳ Ｐゴシック" charset="0"/>
          <a:cs typeface="ＭＳ Ｐゴシック" charset="0"/>
        </a:defRPr>
      </a:lvl3pPr>
      <a:lvl4pPr algn="l" rtl="0" eaLnBrk="0" fontAlgn="base" hangingPunct="0">
        <a:spcBef>
          <a:spcPct val="0"/>
        </a:spcBef>
        <a:spcAft>
          <a:spcPct val="0"/>
        </a:spcAft>
        <a:defRPr sz="1900" b="1">
          <a:solidFill>
            <a:schemeClr val="bg1"/>
          </a:solidFill>
          <a:latin typeface="Calibri" pitchFamily="34" charset="0"/>
          <a:ea typeface="ＭＳ Ｐゴシック" charset="0"/>
          <a:cs typeface="ＭＳ Ｐゴシック" charset="0"/>
        </a:defRPr>
      </a:lvl4pPr>
      <a:lvl5pPr algn="l" rtl="0" eaLnBrk="0" fontAlgn="base" hangingPunct="0">
        <a:spcBef>
          <a:spcPct val="0"/>
        </a:spcBef>
        <a:spcAft>
          <a:spcPct val="0"/>
        </a:spcAft>
        <a:defRPr sz="1900" b="1">
          <a:solidFill>
            <a:schemeClr val="bg1"/>
          </a:solidFill>
          <a:latin typeface="Calibri" pitchFamily="34" charset="0"/>
          <a:ea typeface="ＭＳ Ｐゴシック" charset="0"/>
          <a:cs typeface="ＭＳ Ｐゴシック" charset="0"/>
        </a:defRPr>
      </a:lvl5pPr>
      <a:lvl6pPr marL="457200" algn="l" rtl="0" fontAlgn="base">
        <a:spcBef>
          <a:spcPct val="0"/>
        </a:spcBef>
        <a:spcAft>
          <a:spcPct val="0"/>
        </a:spcAft>
        <a:defRPr sz="1900" b="1">
          <a:solidFill>
            <a:schemeClr val="bg1"/>
          </a:solidFill>
          <a:latin typeface="Calibri" pitchFamily="34" charset="0"/>
        </a:defRPr>
      </a:lvl6pPr>
      <a:lvl7pPr marL="914400" algn="l" rtl="0" fontAlgn="base">
        <a:spcBef>
          <a:spcPct val="0"/>
        </a:spcBef>
        <a:spcAft>
          <a:spcPct val="0"/>
        </a:spcAft>
        <a:defRPr sz="1900" b="1">
          <a:solidFill>
            <a:schemeClr val="bg1"/>
          </a:solidFill>
          <a:latin typeface="Calibri" pitchFamily="34" charset="0"/>
        </a:defRPr>
      </a:lvl7pPr>
      <a:lvl8pPr marL="1371600" algn="l" rtl="0" fontAlgn="base">
        <a:spcBef>
          <a:spcPct val="0"/>
        </a:spcBef>
        <a:spcAft>
          <a:spcPct val="0"/>
        </a:spcAft>
        <a:defRPr sz="1900" b="1">
          <a:solidFill>
            <a:schemeClr val="bg1"/>
          </a:solidFill>
          <a:latin typeface="Calibri" pitchFamily="34" charset="0"/>
        </a:defRPr>
      </a:lvl8pPr>
      <a:lvl9pPr marL="1828800" algn="l" rtl="0" fontAlgn="base">
        <a:spcBef>
          <a:spcPct val="0"/>
        </a:spcBef>
        <a:spcAft>
          <a:spcPct val="0"/>
        </a:spcAft>
        <a:defRPr sz="1900" b="1">
          <a:solidFill>
            <a:schemeClr val="bg1"/>
          </a:solidFill>
          <a:latin typeface="Calibri" pitchFamily="34" charset="0"/>
        </a:defRPr>
      </a:lvl9pPr>
    </p:titleStyle>
    <p:bodyStyle>
      <a:lvl1pPr marL="609600" indent="-609600" algn="l" rtl="0" eaLnBrk="0" fontAlgn="base" hangingPunct="0">
        <a:spcBef>
          <a:spcPct val="20000"/>
        </a:spcBef>
        <a:spcAft>
          <a:spcPct val="0"/>
        </a:spcAft>
        <a:buChar char="•"/>
        <a:defRPr sz="2300" b="1">
          <a:solidFill>
            <a:srgbClr val="7D468C"/>
          </a:solidFill>
          <a:latin typeface="+mn-lt"/>
          <a:ea typeface="ＭＳ Ｐゴシック" charset="0"/>
          <a:cs typeface="ＭＳ Ｐゴシック" charset="0"/>
        </a:defRPr>
      </a:lvl1pPr>
      <a:lvl2pPr marL="800100" indent="-342900" algn="l" rtl="0" eaLnBrk="0" fontAlgn="base" hangingPunct="0">
        <a:spcBef>
          <a:spcPct val="20000"/>
        </a:spcBef>
        <a:spcAft>
          <a:spcPct val="0"/>
        </a:spcAft>
        <a:buChar char="–"/>
        <a:defRPr sz="2800">
          <a:solidFill>
            <a:srgbClr val="4D4D4D"/>
          </a:solidFill>
          <a:latin typeface="+mn-lt"/>
          <a:ea typeface="ＭＳ Ｐゴシック" charset="0"/>
        </a:defRPr>
      </a:lvl2pPr>
      <a:lvl3pPr marL="1371600" indent="-457200" algn="l" rtl="0" eaLnBrk="0" fontAlgn="base" hangingPunct="0">
        <a:spcBef>
          <a:spcPct val="20000"/>
        </a:spcBef>
        <a:spcAft>
          <a:spcPct val="0"/>
        </a:spcAft>
        <a:buChar char="•"/>
        <a:defRPr sz="2400">
          <a:solidFill>
            <a:schemeClr val="tx1"/>
          </a:solidFill>
          <a:latin typeface="Arial" charset="0"/>
          <a:ea typeface="ＭＳ Ｐゴシック" charset="0"/>
        </a:defRPr>
      </a:lvl3pPr>
      <a:lvl4pPr marL="1714500" indent="-342900" algn="l" rtl="0" eaLnBrk="0" fontAlgn="base" hangingPunct="0">
        <a:spcBef>
          <a:spcPct val="20000"/>
        </a:spcBef>
        <a:spcAft>
          <a:spcPct val="0"/>
        </a:spcAft>
        <a:buChar char="–"/>
        <a:defRPr sz="2000">
          <a:solidFill>
            <a:srgbClr val="4D4D4D"/>
          </a:solidFill>
          <a:latin typeface="Arial" charset="0"/>
          <a:ea typeface="ＭＳ Ｐゴシック" charset="0"/>
        </a:defRPr>
      </a:lvl4pPr>
      <a:lvl5pPr marL="2209800" indent="-381000" algn="l" rtl="0" eaLnBrk="0" fontAlgn="base" hangingPunct="0">
        <a:spcBef>
          <a:spcPct val="20000"/>
        </a:spcBef>
        <a:spcAft>
          <a:spcPct val="0"/>
        </a:spcAft>
        <a:buChar char="»"/>
        <a:defRPr sz="2000">
          <a:solidFill>
            <a:schemeClr val="tx1"/>
          </a:solidFill>
          <a:latin typeface="Arial" charset="0"/>
          <a:ea typeface="ＭＳ Ｐゴシック" charset="0"/>
        </a:defRPr>
      </a:lvl5pPr>
      <a:lvl6pPr marL="2667000" indent="-381000" algn="l" rtl="0" fontAlgn="base">
        <a:spcBef>
          <a:spcPct val="20000"/>
        </a:spcBef>
        <a:spcAft>
          <a:spcPct val="0"/>
        </a:spcAft>
        <a:defRPr sz="2000">
          <a:solidFill>
            <a:schemeClr val="tx1"/>
          </a:solidFill>
          <a:latin typeface="Arial" charset="0"/>
        </a:defRPr>
      </a:lvl6pPr>
      <a:lvl7pPr marL="3124200" indent="-381000" algn="l" rtl="0" fontAlgn="base">
        <a:spcBef>
          <a:spcPct val="20000"/>
        </a:spcBef>
        <a:spcAft>
          <a:spcPct val="0"/>
        </a:spcAft>
        <a:defRPr sz="2000">
          <a:solidFill>
            <a:schemeClr val="tx1"/>
          </a:solidFill>
          <a:latin typeface="Arial" charset="0"/>
        </a:defRPr>
      </a:lvl7pPr>
      <a:lvl8pPr marL="3581400" indent="-381000" algn="l" rtl="0" fontAlgn="base">
        <a:spcBef>
          <a:spcPct val="20000"/>
        </a:spcBef>
        <a:spcAft>
          <a:spcPct val="0"/>
        </a:spcAft>
        <a:defRPr sz="2000">
          <a:solidFill>
            <a:schemeClr val="tx1"/>
          </a:solidFill>
          <a:latin typeface="Arial" charset="0"/>
        </a:defRPr>
      </a:lvl8pPr>
      <a:lvl9pPr marL="4038600" indent="-381000" algn="l" rtl="0" fontAlgn="base">
        <a:spcBef>
          <a:spcPct val="20000"/>
        </a:spcBef>
        <a:spcAft>
          <a:spcPct val="0"/>
        </a:spcAft>
        <a:defRPr sz="2000">
          <a:solidFill>
            <a:schemeClr val="tx1"/>
          </a:solidFill>
          <a:latin typeface="Arial" charset="0"/>
        </a:defRPr>
      </a:lvl9pPr>
    </p:bodyStyle>
    <p:otherStyle>
      <a:defPPr>
        <a:defRPr lang="ca-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7" descr="diapo_texto"/>
          <p:cNvPicPr>
            <a:picLocks noChangeAspect="1" noChangeArrowheads="1"/>
          </p:cNvPicPr>
          <p:nvPr/>
        </p:nvPicPr>
        <p:blipFill>
          <a:blip r:embed="rId10" cstate="print"/>
          <a:srcRect/>
          <a:stretch>
            <a:fillRect/>
          </a:stretch>
        </p:blipFill>
        <p:spPr bwMode="auto">
          <a:xfrm>
            <a:off x="0" y="0"/>
            <a:ext cx="9906000" cy="6858000"/>
          </a:xfrm>
          <a:prstGeom prst="rect">
            <a:avLst/>
          </a:prstGeom>
          <a:noFill/>
          <a:ln w="9525">
            <a:noFill/>
            <a:miter lim="800000"/>
            <a:headEnd/>
            <a:tailEnd/>
          </a:ln>
        </p:spPr>
      </p:pic>
      <p:sp>
        <p:nvSpPr>
          <p:cNvPr id="3" name="2 Marcador de número de diapositiva"/>
          <p:cNvSpPr>
            <a:spLocks noGrp="1"/>
          </p:cNvSpPr>
          <p:nvPr>
            <p:ph type="sldNum" sz="quarter" idx="4"/>
          </p:nvPr>
        </p:nvSpPr>
        <p:spPr>
          <a:xfrm>
            <a:off x="7099300" y="6356350"/>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693E6-05C7-4835-B090-7C06735099B0}"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4528" r:id="rId1"/>
    <p:sldLayoutId id="2147484523" r:id="rId2"/>
    <p:sldLayoutId id="2147484524" r:id="rId3"/>
    <p:sldLayoutId id="2147484525" r:id="rId4"/>
    <p:sldLayoutId id="2147484526" r:id="rId5"/>
    <p:sldLayoutId id="2147484527" r:id="rId6"/>
    <p:sldLayoutId id="2147484529" r:id="rId7"/>
    <p:sldLayoutId id="2147484530" r:id="rId8"/>
  </p:sldLayoutIdLst>
  <p:hf hdr="0" ftr="0" dt="0"/>
  <p:txStyles>
    <p:titleStyle>
      <a:lvl1pPr algn="l" rtl="0" eaLnBrk="0" fontAlgn="base" hangingPunct="0">
        <a:spcBef>
          <a:spcPct val="0"/>
        </a:spcBef>
        <a:spcAft>
          <a:spcPct val="0"/>
        </a:spcAft>
        <a:defRPr sz="1900" b="1">
          <a:solidFill>
            <a:schemeClr val="bg1"/>
          </a:solidFill>
          <a:latin typeface="+mj-lt"/>
          <a:ea typeface="+mj-ea"/>
          <a:cs typeface="+mj-cs"/>
        </a:defRPr>
      </a:lvl1pPr>
      <a:lvl2pPr algn="l" rtl="0" eaLnBrk="0" fontAlgn="base" hangingPunct="0">
        <a:spcBef>
          <a:spcPct val="0"/>
        </a:spcBef>
        <a:spcAft>
          <a:spcPct val="0"/>
        </a:spcAft>
        <a:defRPr sz="1900" b="1">
          <a:solidFill>
            <a:schemeClr val="bg1"/>
          </a:solidFill>
          <a:latin typeface="Calibri" pitchFamily="34" charset="0"/>
        </a:defRPr>
      </a:lvl2pPr>
      <a:lvl3pPr algn="l" rtl="0" eaLnBrk="0" fontAlgn="base" hangingPunct="0">
        <a:spcBef>
          <a:spcPct val="0"/>
        </a:spcBef>
        <a:spcAft>
          <a:spcPct val="0"/>
        </a:spcAft>
        <a:defRPr sz="1900" b="1">
          <a:solidFill>
            <a:schemeClr val="bg1"/>
          </a:solidFill>
          <a:latin typeface="Calibri" pitchFamily="34" charset="0"/>
        </a:defRPr>
      </a:lvl3pPr>
      <a:lvl4pPr algn="l" rtl="0" eaLnBrk="0" fontAlgn="base" hangingPunct="0">
        <a:spcBef>
          <a:spcPct val="0"/>
        </a:spcBef>
        <a:spcAft>
          <a:spcPct val="0"/>
        </a:spcAft>
        <a:defRPr sz="1900" b="1">
          <a:solidFill>
            <a:schemeClr val="bg1"/>
          </a:solidFill>
          <a:latin typeface="Calibri" pitchFamily="34" charset="0"/>
        </a:defRPr>
      </a:lvl4pPr>
      <a:lvl5pPr algn="l" rtl="0" eaLnBrk="0" fontAlgn="base" hangingPunct="0">
        <a:spcBef>
          <a:spcPct val="0"/>
        </a:spcBef>
        <a:spcAft>
          <a:spcPct val="0"/>
        </a:spcAft>
        <a:defRPr sz="1900" b="1">
          <a:solidFill>
            <a:schemeClr val="bg1"/>
          </a:solidFill>
          <a:latin typeface="Calibri" pitchFamily="34" charset="0"/>
        </a:defRPr>
      </a:lvl5pPr>
      <a:lvl6pPr marL="457200" algn="l" rtl="0" fontAlgn="base">
        <a:spcBef>
          <a:spcPct val="0"/>
        </a:spcBef>
        <a:spcAft>
          <a:spcPct val="0"/>
        </a:spcAft>
        <a:defRPr sz="1900" b="1">
          <a:solidFill>
            <a:schemeClr val="bg1"/>
          </a:solidFill>
          <a:latin typeface="Calibri" pitchFamily="34" charset="0"/>
        </a:defRPr>
      </a:lvl6pPr>
      <a:lvl7pPr marL="914400" algn="l" rtl="0" fontAlgn="base">
        <a:spcBef>
          <a:spcPct val="0"/>
        </a:spcBef>
        <a:spcAft>
          <a:spcPct val="0"/>
        </a:spcAft>
        <a:defRPr sz="1900" b="1">
          <a:solidFill>
            <a:schemeClr val="bg1"/>
          </a:solidFill>
          <a:latin typeface="Calibri" pitchFamily="34" charset="0"/>
        </a:defRPr>
      </a:lvl7pPr>
      <a:lvl8pPr marL="1371600" algn="l" rtl="0" fontAlgn="base">
        <a:spcBef>
          <a:spcPct val="0"/>
        </a:spcBef>
        <a:spcAft>
          <a:spcPct val="0"/>
        </a:spcAft>
        <a:defRPr sz="1900" b="1">
          <a:solidFill>
            <a:schemeClr val="bg1"/>
          </a:solidFill>
          <a:latin typeface="Calibri" pitchFamily="34" charset="0"/>
        </a:defRPr>
      </a:lvl8pPr>
      <a:lvl9pPr marL="1828800" algn="l" rtl="0" fontAlgn="base">
        <a:spcBef>
          <a:spcPct val="0"/>
        </a:spcBef>
        <a:spcAft>
          <a:spcPct val="0"/>
        </a:spcAft>
        <a:defRPr sz="1900" b="1">
          <a:solidFill>
            <a:schemeClr val="bg1"/>
          </a:solidFill>
          <a:latin typeface="Calibri" pitchFamily="34" charset="0"/>
        </a:defRPr>
      </a:lvl9pPr>
    </p:titleStyle>
    <p:bodyStyle>
      <a:lvl1pPr marL="609600" indent="-609600" algn="l" rtl="0" eaLnBrk="0" fontAlgn="base" hangingPunct="0">
        <a:spcBef>
          <a:spcPct val="20000"/>
        </a:spcBef>
        <a:spcAft>
          <a:spcPct val="0"/>
        </a:spcAft>
        <a:defRPr sz="2300" b="1">
          <a:solidFill>
            <a:srgbClr val="7D468C"/>
          </a:solidFill>
          <a:latin typeface="+mn-lt"/>
          <a:ea typeface="+mn-ea"/>
          <a:cs typeface="+mn-cs"/>
        </a:defRPr>
      </a:lvl1pPr>
      <a:lvl2pPr marL="800100" indent="-342900" algn="l" rtl="0" eaLnBrk="0" fontAlgn="base" hangingPunct="0">
        <a:spcBef>
          <a:spcPct val="20000"/>
        </a:spcBef>
        <a:spcAft>
          <a:spcPct val="0"/>
        </a:spcAft>
        <a:defRPr>
          <a:solidFill>
            <a:srgbClr val="4D4D4D"/>
          </a:solidFill>
          <a:latin typeface="+mn-lt"/>
        </a:defRPr>
      </a:lvl2pPr>
      <a:lvl3pPr marL="1371600" indent="-457200" algn="l" rtl="0" eaLnBrk="0" fontAlgn="base" hangingPunct="0">
        <a:spcBef>
          <a:spcPct val="20000"/>
        </a:spcBef>
        <a:spcAft>
          <a:spcPct val="0"/>
        </a:spcAft>
        <a:defRPr sz="2400">
          <a:solidFill>
            <a:schemeClr val="tx1"/>
          </a:solidFill>
          <a:latin typeface="Arial" charset="0"/>
        </a:defRPr>
      </a:lvl3pPr>
      <a:lvl4pPr marL="1714500" indent="-342900" algn="l" rtl="0" eaLnBrk="0" fontAlgn="base" hangingPunct="0">
        <a:spcBef>
          <a:spcPct val="20000"/>
        </a:spcBef>
        <a:spcAft>
          <a:spcPct val="0"/>
        </a:spcAft>
        <a:defRPr>
          <a:solidFill>
            <a:srgbClr val="4D4D4D"/>
          </a:solidFill>
          <a:latin typeface="Arial" charset="0"/>
        </a:defRPr>
      </a:lvl4pPr>
      <a:lvl5pPr marL="2209800" indent="-381000" algn="l" rtl="0" eaLnBrk="0" fontAlgn="base" hangingPunct="0">
        <a:spcBef>
          <a:spcPct val="20000"/>
        </a:spcBef>
        <a:spcAft>
          <a:spcPct val="0"/>
        </a:spcAft>
        <a:defRPr sz="2000">
          <a:solidFill>
            <a:schemeClr val="tx1"/>
          </a:solidFill>
          <a:latin typeface="Arial" charset="0"/>
        </a:defRPr>
      </a:lvl5pPr>
      <a:lvl6pPr marL="2667000" indent="-381000" algn="l" rtl="0" fontAlgn="base">
        <a:spcBef>
          <a:spcPct val="20000"/>
        </a:spcBef>
        <a:spcAft>
          <a:spcPct val="0"/>
        </a:spcAft>
        <a:defRPr sz="2000">
          <a:solidFill>
            <a:schemeClr val="tx1"/>
          </a:solidFill>
          <a:latin typeface="Arial" charset="0"/>
        </a:defRPr>
      </a:lvl6pPr>
      <a:lvl7pPr marL="3124200" indent="-381000" algn="l" rtl="0" fontAlgn="base">
        <a:spcBef>
          <a:spcPct val="20000"/>
        </a:spcBef>
        <a:spcAft>
          <a:spcPct val="0"/>
        </a:spcAft>
        <a:defRPr sz="2000">
          <a:solidFill>
            <a:schemeClr val="tx1"/>
          </a:solidFill>
          <a:latin typeface="Arial" charset="0"/>
        </a:defRPr>
      </a:lvl7pPr>
      <a:lvl8pPr marL="3581400" indent="-381000" algn="l" rtl="0" fontAlgn="base">
        <a:spcBef>
          <a:spcPct val="20000"/>
        </a:spcBef>
        <a:spcAft>
          <a:spcPct val="0"/>
        </a:spcAft>
        <a:defRPr sz="2000">
          <a:solidFill>
            <a:schemeClr val="tx1"/>
          </a:solidFill>
          <a:latin typeface="Arial" charset="0"/>
        </a:defRPr>
      </a:lvl8pPr>
      <a:lvl9pPr marL="4038600" indent="-381000" algn="l" rtl="0" fontAlgn="base">
        <a:spcBef>
          <a:spcPct val="20000"/>
        </a:spcBef>
        <a:spcAft>
          <a:spcPct val="0"/>
        </a:spcAft>
        <a:defRPr sz="2000">
          <a:solidFill>
            <a:schemeClr val="tx1"/>
          </a:solidFill>
          <a:latin typeface="Arial" charset="0"/>
        </a:defRPr>
      </a:lvl9pPr>
    </p:bodyStyle>
    <p:otherStyle>
      <a:defPPr>
        <a:defRPr lang="ca-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ca-ES"/>
          </a:p>
        </p:txBody>
      </p:sp>
      <p:sp>
        <p:nvSpPr>
          <p:cNvPr id="3" name="2 Marcador de texto"/>
          <p:cNvSpPr>
            <a:spLocks noGrp="1"/>
          </p:cNvSpPr>
          <p:nvPr>
            <p:ph type="body" idx="1"/>
          </p:nvPr>
        </p:nvSpPr>
        <p:spPr>
          <a:xfrm>
            <a:off x="495300" y="1600203"/>
            <a:ext cx="89154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ca-ES"/>
          </a:p>
        </p:txBody>
      </p:sp>
      <p:sp>
        <p:nvSpPr>
          <p:cNvPr id="4" name="3 Marcador de fecha"/>
          <p:cNvSpPr>
            <a:spLocks noGrp="1"/>
          </p:cNvSpPr>
          <p:nvPr>
            <p:ph type="dt" sz="half" idx="2"/>
          </p:nvPr>
        </p:nvSpPr>
        <p:spPr>
          <a:xfrm>
            <a:off x="495300" y="6356353"/>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70A026-F29D-4349-8FDF-E31AC0A9FDF1}" type="datetimeFigureOut">
              <a:rPr lang="ca-ES" smtClean="0"/>
              <a:t>20/11/2017</a:t>
            </a:fld>
            <a:endParaRPr lang="ca-ES"/>
          </a:p>
        </p:txBody>
      </p:sp>
      <p:sp>
        <p:nvSpPr>
          <p:cNvPr id="5" name="4 Marcador de pie de página"/>
          <p:cNvSpPr>
            <a:spLocks noGrp="1"/>
          </p:cNvSpPr>
          <p:nvPr>
            <p:ph type="ftr" sz="quarter" idx="3"/>
          </p:nvPr>
        </p:nvSpPr>
        <p:spPr>
          <a:xfrm>
            <a:off x="3384550" y="6356353"/>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a-ES"/>
          </a:p>
        </p:txBody>
      </p:sp>
      <p:sp>
        <p:nvSpPr>
          <p:cNvPr id="6" name="5 Marcador de número de diapositiva"/>
          <p:cNvSpPr>
            <a:spLocks noGrp="1"/>
          </p:cNvSpPr>
          <p:nvPr>
            <p:ph type="sldNum" sz="quarter" idx="4"/>
          </p:nvPr>
        </p:nvSpPr>
        <p:spPr>
          <a:xfrm>
            <a:off x="7099300" y="6356353"/>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93E192-06A8-4597-BE46-D113F9CFBA26}" type="slidenum">
              <a:rPr lang="es-ES" smtClean="0"/>
              <a:pPr/>
              <a:t>‹Nº›</a:t>
            </a:fld>
            <a:endParaRPr lang="es-ES"/>
          </a:p>
        </p:txBody>
      </p:sp>
    </p:spTree>
    <p:extLst>
      <p:ext uri="{BB962C8B-B14F-4D97-AF65-F5344CB8AC3E}">
        <p14:creationId xmlns:p14="http://schemas.microsoft.com/office/powerpoint/2010/main" val="104662058"/>
      </p:ext>
    </p:extLst>
  </p:cSld>
  <p:clrMap bg1="lt1" tx1="dk1" bg2="lt2" tx2="dk2" accent1="accent1" accent2="accent2" accent3="accent3" accent4="accent4" accent5="accent5" accent6="accent6" hlink="hlink" folHlink="folHlink"/>
  <p:sldLayoutIdLst>
    <p:sldLayoutId id="2147484545" r:id="rId1"/>
    <p:sldLayoutId id="2147484546" r:id="rId2"/>
    <p:sldLayoutId id="2147484547" r:id="rId3"/>
    <p:sldLayoutId id="2147484548" r:id="rId4"/>
    <p:sldLayoutId id="2147484549" r:id="rId5"/>
    <p:sldLayoutId id="2147484550" r:id="rId6"/>
    <p:sldLayoutId id="2147484551" r:id="rId7"/>
    <p:sldLayoutId id="2147484552" r:id="rId8"/>
    <p:sldLayoutId id="2147484553" r:id="rId9"/>
    <p:sldLayoutId id="2147484554" r:id="rId10"/>
    <p:sldLayoutId id="2147484555" r:id="rId11"/>
    <p:sldLayoutId id="2147484557" r:id="rId12"/>
    <p:sldLayoutId id="2147484558" r:id="rId13"/>
    <p:sldLayoutId id="2147484559" r:id="rId14"/>
    <p:sldLayoutId id="2147484560"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ca-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www.cebm.net/wp-content/uploads/2014/06/CEBM-study-design-april-20131.pdf" TargetMode="External"/><Relationship Id="rId1" Type="http://schemas.openxmlformats.org/officeDocument/2006/relationships/slideLayout" Target="../slideLayouts/slideLayout24.xml"/><Relationship Id="rId5" Type="http://schemas.openxmlformats.org/officeDocument/2006/relationships/hyperlink" Target="http://guides.mclibrary.duke.edu/c.php?g=158201&amp;p=1036068" TargetMode="External"/><Relationship Id="rId4" Type="http://schemas.openxmlformats.org/officeDocument/2006/relationships/hyperlink" Target="https://www.ncbi.nlm.nih.gov/pmc/articles/PMC268957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hyperlink" Target="http://statpages.org/" TargetMode="External"/><Relationship Id="rId2" Type="http://schemas.openxmlformats.org/officeDocument/2006/relationships/hyperlink" Target="http://www.randomizer.org/" TargetMode="Externa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hyperlink" Target="http://homepage.stat.uiowa.edu/~rlenth/Power" TargetMode="Externa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hyperlink" Target="http://www.tfrec.wsu.edu/anova/index.html" TargetMode="External"/><Relationship Id="rId2" Type="http://schemas.openxmlformats.org/officeDocument/2006/relationships/hyperlink" Target="http://www.3rs-reduction.co.uk/html/main_menu.html" TargetMode="External"/><Relationship Id="rId1" Type="http://schemas.openxmlformats.org/officeDocument/2006/relationships/slideLayout" Target="../slideLayouts/slideLayout25.xml"/><Relationship Id="rId4" Type="http://schemas.openxmlformats.org/officeDocument/2006/relationships/hyperlink" Target="http://www.stats.gla.ac.uk/steps/glossary/anova.html" TargetMode="External"/></Relationships>
</file>

<file path=ppt/slides/_rels/slide5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1 Título"/>
          <p:cNvSpPr txBox="1">
            <a:spLocks noGrp="1"/>
          </p:cNvSpPr>
          <p:nvPr>
            <p:ph type="title" idx="4294967295"/>
          </p:nvPr>
        </p:nvSpPr>
        <p:spPr>
          <a:xfrm>
            <a:off x="662120" y="908051"/>
            <a:ext cx="8420100" cy="1152525"/>
          </a:xfrm>
        </p:spPr>
        <p:txBody>
          <a:bodyPr lIns="91440" tIns="45720" rIns="91440" bIns="45720">
            <a:normAutofit/>
          </a:bodyPr>
          <a:lstStyle/>
          <a:p>
            <a:pPr eaLnBrk="1" hangingPunct="1">
              <a:lnSpc>
                <a:spcPct val="150000"/>
              </a:lnSpc>
            </a:pPr>
            <a:r>
              <a:rPr lang="es-ES" altLang="ca-ES" dirty="0" smtClean="0">
                <a:latin typeface="Calibri" pitchFamily="34" charset="0"/>
              </a:rPr>
              <a:t>Experimental </a:t>
            </a:r>
            <a:r>
              <a:rPr lang="es-ES" altLang="ca-ES" dirty="0" err="1" smtClean="0">
                <a:latin typeface="Calibri" pitchFamily="34" charset="0"/>
              </a:rPr>
              <a:t>Design</a:t>
            </a:r>
            <a:r>
              <a:rPr lang="es-ES" altLang="ca-ES" dirty="0" smtClean="0">
                <a:latin typeface="Calibri" pitchFamily="34" charset="0"/>
              </a:rPr>
              <a:t> </a:t>
            </a:r>
            <a:r>
              <a:rPr lang="es-ES" altLang="ca-ES" dirty="0" err="1" smtClean="0">
                <a:latin typeface="Calibri" pitchFamily="34" charset="0"/>
              </a:rPr>
              <a:t>Principles</a:t>
            </a:r>
            <a:endParaRPr lang="es-ES" altLang="ca-ES" dirty="0" smtClean="0">
              <a:latin typeface="Calibri" pitchFamily="34" charset="0"/>
            </a:endParaRPr>
          </a:p>
        </p:txBody>
      </p:sp>
      <p:pic>
        <p:nvPicPr>
          <p:cNvPr id="2051"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0200" y="4483100"/>
            <a:ext cx="2227131"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61673" y="4413250"/>
            <a:ext cx="174902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0201" y="5099051"/>
            <a:ext cx="1298443"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005631" y="5300664"/>
            <a:ext cx="1570169"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Rectangle 6"/>
          <p:cNvSpPr>
            <a:spLocks noChangeArrowheads="1"/>
          </p:cNvSpPr>
          <p:nvPr/>
        </p:nvSpPr>
        <p:spPr bwMode="auto">
          <a:xfrm>
            <a:off x="2641600" y="3716338"/>
            <a:ext cx="4787900" cy="2233612"/>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17694720 60000 65536"/>
              <a:gd name="T9" fmla="*/ 0 60000 65536"/>
              <a:gd name="T10" fmla="*/ 5898240 60000 65536"/>
              <a:gd name="T11" fmla="*/ 1179648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1pPr>
            <a:lvl2pPr marL="742950" indent="-28575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2pPr>
            <a:lvl3pPr marL="11430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3pPr>
            <a:lvl4pPr marL="16002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4pPr>
            <a:lvl5pPr marL="2057400" indent="-228600" eaLnBrk="0" hangingPunct="0">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914400" algn="l"/>
                <a:tab pos="1828800" algn="l"/>
                <a:tab pos="2741613" algn="l"/>
                <a:tab pos="3657600" algn="l"/>
                <a:tab pos="4572000" algn="l"/>
                <a:tab pos="5484813" algn="l"/>
                <a:tab pos="6399213" algn="l"/>
                <a:tab pos="7315200" algn="l"/>
                <a:tab pos="8229600" algn="l"/>
                <a:tab pos="9144000" algn="l"/>
                <a:tab pos="10058400" algn="l"/>
              </a:tabLst>
              <a:defRPr>
                <a:solidFill>
                  <a:schemeClr val="tx1"/>
                </a:solidFill>
                <a:latin typeface="Arial" pitchFamily="34" charset="0"/>
                <a:cs typeface="Arial" pitchFamily="34" charset="0"/>
              </a:defRPr>
            </a:lvl9pPr>
          </a:lstStyle>
          <a:p>
            <a:pPr eaLnBrk="1" hangingPunct="1">
              <a:lnSpc>
                <a:spcPct val="90000"/>
              </a:lnSpc>
            </a:pPr>
            <a:endParaRPr lang="es-ES" altLang="ca-ES" sz="1600" i="1" dirty="0">
              <a:solidFill>
                <a:srgbClr val="000000"/>
              </a:solidFill>
              <a:latin typeface="Calibri" pitchFamily="34" charset="0"/>
            </a:endParaRPr>
          </a:p>
          <a:p>
            <a:pPr algn="ctr" eaLnBrk="1" hangingPunct="1">
              <a:lnSpc>
                <a:spcPct val="90000"/>
              </a:lnSpc>
            </a:pPr>
            <a:r>
              <a:rPr lang="es-ES" altLang="ca-ES" sz="2400" dirty="0">
                <a:solidFill>
                  <a:srgbClr val="000000"/>
                </a:solidFill>
                <a:latin typeface="Calibri" pitchFamily="34" charset="0"/>
              </a:rPr>
              <a:t>Alex </a:t>
            </a:r>
            <a:r>
              <a:rPr lang="es-ES" altLang="ca-ES" sz="2400" dirty="0" smtClean="0">
                <a:solidFill>
                  <a:srgbClr val="000000"/>
                </a:solidFill>
                <a:latin typeface="Calibri" pitchFamily="34" charset="0"/>
              </a:rPr>
              <a:t>Sánchez</a:t>
            </a:r>
            <a:r>
              <a:rPr lang="es-ES" altLang="ca-ES" sz="2400" baseline="30000" dirty="0" smtClean="0">
                <a:solidFill>
                  <a:srgbClr val="000000"/>
                </a:solidFill>
                <a:latin typeface="Calibri" pitchFamily="34" charset="0"/>
              </a:rPr>
              <a:t>1,2</a:t>
            </a:r>
            <a:r>
              <a:rPr lang="es-ES" altLang="ca-ES" sz="2400" dirty="0" smtClean="0">
                <a:solidFill>
                  <a:srgbClr val="000000"/>
                </a:solidFill>
                <a:latin typeface="Calibri" pitchFamily="34" charset="0"/>
              </a:rPr>
              <a:t>, Ricardo Gonzalo</a:t>
            </a:r>
            <a:r>
              <a:rPr lang="es-ES" altLang="ca-ES" sz="2400" baseline="30000" dirty="0" smtClean="0">
                <a:solidFill>
                  <a:srgbClr val="000000"/>
                </a:solidFill>
                <a:latin typeface="Calibri" pitchFamily="34" charset="0"/>
              </a:rPr>
              <a:t>2</a:t>
            </a:r>
            <a:endParaRPr lang="es-ES" altLang="ca-ES" sz="2400" baseline="30000" dirty="0">
              <a:solidFill>
                <a:srgbClr val="000000"/>
              </a:solidFill>
              <a:latin typeface="Calibri" pitchFamily="34" charset="0"/>
            </a:endParaRPr>
          </a:p>
          <a:p>
            <a:pPr eaLnBrk="1" hangingPunct="1">
              <a:lnSpc>
                <a:spcPct val="90000"/>
              </a:lnSpc>
            </a:pPr>
            <a:endParaRPr lang="es-ES" altLang="ca-ES" sz="1600" i="1" dirty="0">
              <a:solidFill>
                <a:srgbClr val="000000"/>
              </a:solidFill>
              <a:latin typeface="Calibri" pitchFamily="34" charset="0"/>
            </a:endParaRPr>
          </a:p>
          <a:p>
            <a:pPr eaLnBrk="1" hangingPunct="1">
              <a:lnSpc>
                <a:spcPct val="90000"/>
              </a:lnSpc>
            </a:pPr>
            <a:r>
              <a:rPr lang="es-ES" altLang="ca-ES" sz="1600" i="1" dirty="0" err="1">
                <a:solidFill>
                  <a:srgbClr val="000000"/>
                </a:solidFill>
                <a:latin typeface="Calibri" pitchFamily="34" charset="0"/>
              </a:rPr>
              <a:t>Statistics</a:t>
            </a:r>
            <a:r>
              <a:rPr lang="es-ES" altLang="ca-ES" sz="1600" i="1" dirty="0">
                <a:solidFill>
                  <a:srgbClr val="000000"/>
                </a:solidFill>
                <a:latin typeface="Calibri" pitchFamily="34" charset="0"/>
              </a:rPr>
              <a:t> and </a:t>
            </a:r>
            <a:r>
              <a:rPr lang="es-ES" altLang="ca-ES" sz="1600" i="1" dirty="0" err="1">
                <a:solidFill>
                  <a:srgbClr val="000000"/>
                </a:solidFill>
                <a:latin typeface="Calibri" pitchFamily="34" charset="0"/>
              </a:rPr>
              <a:t>Bioinformatics</a:t>
            </a:r>
            <a:r>
              <a:rPr lang="es-ES" altLang="ca-ES" sz="1600" i="1" dirty="0">
                <a:solidFill>
                  <a:srgbClr val="000000"/>
                </a:solidFill>
                <a:latin typeface="Calibri" pitchFamily="34" charset="0"/>
              </a:rPr>
              <a:t> </a:t>
            </a:r>
            <a:r>
              <a:rPr lang="es-ES" altLang="ca-ES" sz="1600" i="1" dirty="0" err="1">
                <a:solidFill>
                  <a:srgbClr val="000000"/>
                </a:solidFill>
                <a:latin typeface="Calibri" pitchFamily="34" charset="0"/>
              </a:rPr>
              <a:t>Research</a:t>
            </a:r>
            <a:r>
              <a:rPr lang="es-ES" altLang="ca-ES" sz="1600" i="1" dirty="0">
                <a:solidFill>
                  <a:srgbClr val="000000"/>
                </a:solidFill>
                <a:latin typeface="Calibri" pitchFamily="34" charset="0"/>
              </a:rPr>
              <a:t> </a:t>
            </a:r>
            <a:r>
              <a:rPr lang="es-ES" altLang="ca-ES" sz="1600" i="1" dirty="0" err="1">
                <a:solidFill>
                  <a:srgbClr val="000000"/>
                </a:solidFill>
                <a:latin typeface="Calibri" pitchFamily="34" charset="0"/>
              </a:rPr>
              <a:t>Group</a:t>
            </a:r>
            <a:endParaRPr lang="es-ES" altLang="ca-ES" sz="1600" i="1" dirty="0">
              <a:solidFill>
                <a:srgbClr val="000000"/>
              </a:solidFill>
              <a:latin typeface="Calibri" pitchFamily="34" charset="0"/>
            </a:endParaRPr>
          </a:p>
          <a:p>
            <a:pPr eaLnBrk="1" hangingPunct="1">
              <a:lnSpc>
                <a:spcPct val="90000"/>
              </a:lnSpc>
            </a:pPr>
            <a:r>
              <a:rPr lang="es-ES" altLang="ca-ES" sz="1600" i="1" dirty="0" err="1" smtClean="0">
                <a:solidFill>
                  <a:srgbClr val="000000"/>
                </a:solidFill>
                <a:latin typeface="Calibri" pitchFamily="34" charset="0"/>
              </a:rPr>
              <a:t>Department</a:t>
            </a:r>
            <a:r>
              <a:rPr lang="es-ES" altLang="ca-ES" sz="1600" i="1" dirty="0" smtClean="0">
                <a:solidFill>
                  <a:srgbClr val="000000"/>
                </a:solidFill>
                <a:latin typeface="Calibri" pitchFamily="34" charset="0"/>
              </a:rPr>
              <a:t> of </a:t>
            </a:r>
            <a:r>
              <a:rPr lang="es-ES" altLang="ca-ES" sz="1600" i="1" dirty="0" err="1" smtClean="0">
                <a:solidFill>
                  <a:srgbClr val="000000"/>
                </a:solidFill>
                <a:latin typeface="Calibri" pitchFamily="34" charset="0"/>
              </a:rPr>
              <a:t>Genetics</a:t>
            </a:r>
            <a:r>
              <a:rPr lang="es-ES" altLang="ca-ES" sz="1600" i="1" dirty="0" smtClean="0">
                <a:solidFill>
                  <a:srgbClr val="000000"/>
                </a:solidFill>
                <a:latin typeface="Calibri" pitchFamily="34" charset="0"/>
              </a:rPr>
              <a:t>, </a:t>
            </a:r>
            <a:r>
              <a:rPr lang="es-ES" altLang="ca-ES" sz="1600" i="1" dirty="0" err="1" smtClean="0">
                <a:solidFill>
                  <a:srgbClr val="000000"/>
                </a:solidFill>
                <a:latin typeface="Calibri" pitchFamily="34" charset="0"/>
              </a:rPr>
              <a:t>Microbiology</a:t>
            </a:r>
            <a:r>
              <a:rPr lang="es-ES" altLang="ca-ES" sz="1600" i="1" dirty="0" smtClean="0">
                <a:solidFill>
                  <a:srgbClr val="000000"/>
                </a:solidFill>
                <a:latin typeface="Calibri" pitchFamily="34" charset="0"/>
              </a:rPr>
              <a:t> and </a:t>
            </a:r>
            <a:r>
              <a:rPr lang="es-ES" altLang="ca-ES" sz="1600" i="1" dirty="0" err="1" smtClean="0">
                <a:solidFill>
                  <a:srgbClr val="000000"/>
                </a:solidFill>
                <a:latin typeface="Calibri" pitchFamily="34" charset="0"/>
              </a:rPr>
              <a:t>Statistics</a:t>
            </a:r>
            <a:r>
              <a:rPr lang="es-ES" altLang="ca-ES" sz="1600" i="1" dirty="0" smtClean="0">
                <a:solidFill>
                  <a:srgbClr val="000000"/>
                </a:solidFill>
                <a:latin typeface="Calibri" pitchFamily="34" charset="0"/>
              </a:rPr>
              <a:t> </a:t>
            </a:r>
            <a:r>
              <a:rPr lang="es-ES" altLang="ca-ES" sz="1600" i="1" dirty="0" err="1" smtClean="0">
                <a:solidFill>
                  <a:srgbClr val="000000"/>
                </a:solidFill>
                <a:latin typeface="Calibri" pitchFamily="34" charset="0"/>
              </a:rPr>
              <a:t>Universitat</a:t>
            </a:r>
            <a:r>
              <a:rPr lang="es-ES" altLang="ca-ES" sz="1600" i="1" dirty="0" smtClean="0">
                <a:solidFill>
                  <a:srgbClr val="000000"/>
                </a:solidFill>
                <a:latin typeface="Calibri" pitchFamily="34" charset="0"/>
              </a:rPr>
              <a:t> </a:t>
            </a:r>
            <a:r>
              <a:rPr lang="es-ES" altLang="ca-ES" sz="1600" i="1" dirty="0">
                <a:solidFill>
                  <a:srgbClr val="000000"/>
                </a:solidFill>
                <a:latin typeface="Calibri" pitchFamily="34" charset="0"/>
              </a:rPr>
              <a:t>de </a:t>
            </a:r>
            <a:r>
              <a:rPr lang="es-ES" altLang="ca-ES" sz="1600" i="1" dirty="0" smtClean="0">
                <a:solidFill>
                  <a:srgbClr val="000000"/>
                </a:solidFill>
                <a:latin typeface="Calibri" pitchFamily="34" charset="0"/>
              </a:rPr>
              <a:t>Barcelona </a:t>
            </a:r>
            <a:r>
              <a:rPr lang="es-ES" altLang="ca-ES" sz="1600" i="1" dirty="0" smtClean="0">
                <a:solidFill>
                  <a:srgbClr val="000000"/>
                </a:solidFill>
                <a:latin typeface="Calibri" pitchFamily="34" charset="0"/>
              </a:rPr>
              <a:t>(UB)</a:t>
            </a:r>
            <a:endParaRPr lang="es-ES" altLang="ca-ES" sz="1600" i="1" dirty="0">
              <a:solidFill>
                <a:srgbClr val="000000"/>
              </a:solidFill>
              <a:latin typeface="Calibri" pitchFamily="34" charset="0"/>
            </a:endParaRPr>
          </a:p>
          <a:p>
            <a:pPr eaLnBrk="1" hangingPunct="1">
              <a:lnSpc>
                <a:spcPct val="90000"/>
              </a:lnSpc>
            </a:pPr>
            <a:endParaRPr lang="es-ES" altLang="ca-ES" sz="1600" dirty="0">
              <a:solidFill>
                <a:srgbClr val="000000"/>
              </a:solidFill>
              <a:latin typeface="Calibri" pitchFamily="34" charset="0"/>
            </a:endParaRPr>
          </a:p>
          <a:p>
            <a:pPr eaLnBrk="1" hangingPunct="1">
              <a:lnSpc>
                <a:spcPct val="90000"/>
              </a:lnSpc>
            </a:pPr>
            <a:r>
              <a:rPr lang="es-ES" altLang="ca-ES" sz="1600" i="1" dirty="0" err="1">
                <a:solidFill>
                  <a:srgbClr val="000000"/>
                </a:solidFill>
                <a:latin typeface="Calibri" pitchFamily="34" charset="0"/>
              </a:rPr>
              <a:t>Statistics</a:t>
            </a:r>
            <a:r>
              <a:rPr lang="es-ES" altLang="ca-ES" sz="1600" i="1" dirty="0">
                <a:solidFill>
                  <a:srgbClr val="000000"/>
                </a:solidFill>
                <a:latin typeface="Calibri" pitchFamily="34" charset="0"/>
              </a:rPr>
              <a:t> and </a:t>
            </a:r>
            <a:r>
              <a:rPr lang="es-ES" altLang="ca-ES" sz="1600" i="1" dirty="0" err="1">
                <a:solidFill>
                  <a:srgbClr val="000000"/>
                </a:solidFill>
                <a:latin typeface="Calibri" pitchFamily="34" charset="0"/>
              </a:rPr>
              <a:t>Bioinformatics</a:t>
            </a:r>
            <a:r>
              <a:rPr lang="es-ES" altLang="ca-ES" sz="1600" i="1" dirty="0">
                <a:solidFill>
                  <a:srgbClr val="000000"/>
                </a:solidFill>
                <a:latin typeface="Calibri" pitchFamily="34" charset="0"/>
              </a:rPr>
              <a:t> </a:t>
            </a:r>
            <a:r>
              <a:rPr lang="es-ES" altLang="ca-ES" sz="1600" i="1" dirty="0" err="1" smtClean="0">
                <a:solidFill>
                  <a:srgbClr val="000000"/>
                </a:solidFill>
                <a:latin typeface="Calibri" pitchFamily="34" charset="0"/>
              </a:rPr>
              <a:t>Unit</a:t>
            </a:r>
            <a:r>
              <a:rPr lang="es-ES" altLang="ca-ES" sz="1600" i="1" smtClean="0">
                <a:solidFill>
                  <a:srgbClr val="000000"/>
                </a:solidFill>
                <a:latin typeface="Calibri" pitchFamily="34" charset="0"/>
              </a:rPr>
              <a:t> (UEB)</a:t>
            </a:r>
            <a:endParaRPr lang="es-ES" altLang="ca-ES" sz="1600" i="1" dirty="0">
              <a:solidFill>
                <a:srgbClr val="000000"/>
              </a:solidFill>
              <a:latin typeface="Calibri" pitchFamily="34" charset="0"/>
            </a:endParaRPr>
          </a:p>
          <a:p>
            <a:pPr eaLnBrk="1" hangingPunct="1">
              <a:lnSpc>
                <a:spcPct val="90000"/>
              </a:lnSpc>
            </a:pPr>
            <a:r>
              <a:rPr lang="es-ES" altLang="ca-ES" sz="1600" i="1" dirty="0" err="1">
                <a:solidFill>
                  <a:srgbClr val="000000"/>
                </a:solidFill>
                <a:latin typeface="Calibri" pitchFamily="34" charset="0"/>
              </a:rPr>
              <a:t>Vall</a:t>
            </a:r>
            <a:r>
              <a:rPr lang="es-ES" altLang="ca-ES" sz="1600" i="1" dirty="0">
                <a:solidFill>
                  <a:srgbClr val="000000"/>
                </a:solidFill>
                <a:latin typeface="Calibri" pitchFamily="34" charset="0"/>
              </a:rPr>
              <a:t> </a:t>
            </a:r>
            <a:r>
              <a:rPr lang="es-ES" altLang="ca-ES" sz="1600" i="1" dirty="0" err="1">
                <a:solidFill>
                  <a:srgbClr val="000000"/>
                </a:solidFill>
                <a:latin typeface="Calibri" pitchFamily="34" charset="0"/>
              </a:rPr>
              <a:t>d’Hebron</a:t>
            </a:r>
            <a:r>
              <a:rPr lang="es-ES" altLang="ca-ES" sz="1600" i="1" dirty="0">
                <a:solidFill>
                  <a:srgbClr val="000000"/>
                </a:solidFill>
                <a:latin typeface="Calibri" pitchFamily="34" charset="0"/>
              </a:rPr>
              <a:t> </a:t>
            </a:r>
            <a:r>
              <a:rPr lang="es-ES" altLang="ca-ES" sz="1600" i="1" dirty="0" err="1">
                <a:solidFill>
                  <a:srgbClr val="000000"/>
                </a:solidFill>
                <a:latin typeface="Calibri" pitchFamily="34" charset="0"/>
              </a:rPr>
              <a:t>Institut</a:t>
            </a:r>
            <a:r>
              <a:rPr lang="es-ES" altLang="ca-ES" sz="1600" i="1" dirty="0">
                <a:solidFill>
                  <a:srgbClr val="000000"/>
                </a:solidFill>
                <a:latin typeface="Calibri" pitchFamily="34" charset="0"/>
              </a:rPr>
              <a:t> de </a:t>
            </a:r>
            <a:r>
              <a:rPr lang="es-ES" altLang="ca-ES" sz="1600" i="1" dirty="0" smtClean="0">
                <a:solidFill>
                  <a:srgbClr val="000000"/>
                </a:solidFill>
                <a:latin typeface="Calibri" pitchFamily="34" charset="0"/>
              </a:rPr>
              <a:t>Recerca (VHIR)</a:t>
            </a:r>
            <a:endParaRPr lang="es-ES" altLang="ca-ES" sz="1600" i="1" dirty="0">
              <a:solidFill>
                <a:srgbClr val="000000"/>
              </a:solidFill>
              <a:latin typeface="Calibri" pitchFamily="34" charset="0"/>
            </a:endParaRPr>
          </a:p>
        </p:txBody>
      </p:sp>
      <p:pic>
        <p:nvPicPr>
          <p:cNvPr id="2056" name="Picture 2" descr="GRBIO"/>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32883" y="6092826"/>
            <a:ext cx="88913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7" name="Picture 4" descr="Biostatnet, (open link in a new window)"/>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977879" y="6191250"/>
            <a:ext cx="1950244"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Picture 6" descr="Bioinformatics Barcelona - BIB"/>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8346150" y="5883276"/>
            <a:ext cx="975121"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5158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Marcador de texto"/>
          <p:cNvSpPr>
            <a:spLocks noGrp="1"/>
          </p:cNvSpPr>
          <p:nvPr>
            <p:ph type="body" sz="quarter" idx="10"/>
          </p:nvPr>
        </p:nvSpPr>
        <p:spPr bwMode="auto">
          <a:xfrm>
            <a:off x="3903663" y="579438"/>
            <a:ext cx="6002337" cy="5349875"/>
          </a:xfrm>
          <a:noFill/>
          <a:ln>
            <a:miter lim="800000"/>
            <a:headEnd/>
            <a:tailEnd/>
          </a:ln>
        </p:spPr>
        <p:txBody>
          <a:bodyPr vert="horz" wrap="square" lIns="91440" tIns="45720" rIns="91440" bIns="45720" numCol="1" anchor="t" anchorCtr="0" compatLnSpc="1">
            <a:prstTxWarp prst="textNoShape">
              <a:avLst/>
            </a:prstTxWarp>
          </a:bodyPr>
          <a:lstStyle/>
          <a:p>
            <a:pPr marL="358775" indent="-358775">
              <a:buFont typeface="Calibri" pitchFamily="34" charset="0"/>
              <a:buAutoNum type="arabicPeriod"/>
            </a:pPr>
            <a:r>
              <a:rPr lang="en-GB" dirty="0" smtClean="0">
                <a:ea typeface="ＭＳ Ｐゴシック" pitchFamily="34" charset="-128"/>
              </a:rPr>
              <a:t>Basic ideas of experimental design</a:t>
            </a:r>
          </a:p>
          <a:p>
            <a:pPr marL="358775" indent="-358775">
              <a:buFont typeface="Calibri" pitchFamily="34" charset="0"/>
              <a:buAutoNum type="arabicPeriod"/>
            </a:pPr>
            <a:r>
              <a:rPr lang="en-GB" dirty="0" smtClean="0">
                <a:ea typeface="ＭＳ Ｐゴシック" pitchFamily="34" charset="-128"/>
              </a:rPr>
              <a:t>Experimental Design Types</a:t>
            </a:r>
          </a:p>
          <a:p>
            <a:pPr marL="798875" lvl="1" indent="-358775">
              <a:buFont typeface="Calibri" pitchFamily="34" charset="0"/>
              <a:buAutoNum type="arabicPeriod"/>
            </a:pPr>
            <a:r>
              <a:rPr lang="en-GB" dirty="0" smtClean="0">
                <a:ea typeface="ＭＳ Ｐゴシック" pitchFamily="34" charset="-128"/>
              </a:rPr>
              <a:t>Randomize</a:t>
            </a:r>
          </a:p>
          <a:p>
            <a:pPr marL="798875" lvl="1" indent="-358775">
              <a:buFont typeface="Calibri" pitchFamily="34" charset="0"/>
              <a:buAutoNum type="arabicPeriod"/>
            </a:pPr>
            <a:r>
              <a:rPr lang="en-GB" dirty="0" smtClean="0">
                <a:ea typeface="ＭＳ Ｐゴシック" pitchFamily="34" charset="-128"/>
              </a:rPr>
              <a:t>Replicate</a:t>
            </a:r>
          </a:p>
          <a:p>
            <a:pPr marL="798875" lvl="1" indent="-358775">
              <a:buFont typeface="Calibri" pitchFamily="34" charset="0"/>
              <a:buAutoNum type="arabicPeriod"/>
            </a:pPr>
            <a:r>
              <a:rPr lang="en-GB" dirty="0" smtClean="0">
                <a:ea typeface="ＭＳ Ｐゴシック" pitchFamily="34" charset="-128"/>
              </a:rPr>
              <a:t>Local control</a:t>
            </a:r>
          </a:p>
          <a:p>
            <a:pPr marL="358775" indent="-358775">
              <a:buFont typeface="Calibri" pitchFamily="34" charset="0"/>
              <a:buAutoNum type="arabicPeriod"/>
            </a:pPr>
            <a:r>
              <a:rPr lang="en-GB" dirty="0" smtClean="0">
                <a:ea typeface="ＭＳ Ｐゴシック" pitchFamily="34" charset="-128"/>
              </a:rPr>
              <a:t>Experimental Design types</a:t>
            </a:r>
          </a:p>
          <a:p>
            <a:pPr marL="798875" lvl="1" indent="-358775">
              <a:buFont typeface="Calibri" pitchFamily="34" charset="0"/>
              <a:buAutoNum type="arabicPeriod"/>
            </a:pPr>
            <a:r>
              <a:rPr lang="en-GB" dirty="0" smtClean="0">
                <a:ea typeface="ＭＳ Ｐゴシック" pitchFamily="34" charset="-128"/>
              </a:rPr>
              <a:t>Completely Randomized Design (CRD)</a:t>
            </a:r>
          </a:p>
          <a:p>
            <a:pPr marL="798875" lvl="1" indent="-358775">
              <a:buFont typeface="Calibri" pitchFamily="34" charset="0"/>
              <a:buAutoNum type="arabicPeriod"/>
            </a:pPr>
            <a:r>
              <a:rPr lang="en-GB" dirty="0" smtClean="0">
                <a:ea typeface="ＭＳ Ｐゴシック" pitchFamily="34" charset="-128"/>
              </a:rPr>
              <a:t>Randomized Block Design (RBD)</a:t>
            </a:r>
          </a:p>
          <a:p>
            <a:pPr marL="798875" lvl="1" indent="-358775">
              <a:buFont typeface="Calibri" pitchFamily="34" charset="0"/>
              <a:buAutoNum type="arabicPeriod"/>
            </a:pPr>
            <a:r>
              <a:rPr lang="en-GB" dirty="0" smtClean="0">
                <a:ea typeface="ＭＳ Ｐゴシック" pitchFamily="34" charset="-128"/>
              </a:rPr>
              <a:t>Factorial Experiments</a:t>
            </a:r>
          </a:p>
          <a:p>
            <a:pPr marL="798875" lvl="1" indent="-358775">
              <a:buFont typeface="Calibri" pitchFamily="34" charset="0"/>
              <a:buAutoNum type="arabicPeriod"/>
            </a:pPr>
            <a:r>
              <a:rPr lang="en-GB" dirty="0" smtClean="0">
                <a:ea typeface="ＭＳ Ｐゴシック" pitchFamily="34" charset="-128"/>
              </a:rPr>
              <a:t>Repeated Measures (Within Subjects Designs)</a:t>
            </a:r>
          </a:p>
          <a:p>
            <a:pPr marL="358775" indent="-358775">
              <a:buFont typeface="Calibri" pitchFamily="34" charset="0"/>
              <a:buAutoNum type="arabicPeriod"/>
            </a:pPr>
            <a:r>
              <a:rPr lang="en-GB" dirty="0" smtClean="0">
                <a:ea typeface="ＭＳ Ｐゴシック" pitchFamily="34" charset="-128"/>
              </a:rPr>
              <a:t>Some references</a:t>
            </a:r>
          </a:p>
          <a:p>
            <a:pPr marL="358775" indent="-358775">
              <a:buFont typeface="Calibri" pitchFamily="34" charset="0"/>
              <a:buAutoNum type="arabicPeriod"/>
            </a:pPr>
            <a:r>
              <a:rPr lang="en-GB" dirty="0" smtClean="0">
                <a:ea typeface="ＭＳ Ｐゴシック" pitchFamily="34" charset="-128"/>
              </a:rPr>
              <a:t>Exercises</a:t>
            </a:r>
          </a:p>
          <a:p>
            <a:pPr marL="798875" lvl="1" indent="-358775">
              <a:buFont typeface="Calibri" pitchFamily="34" charset="0"/>
              <a:buAutoNum type="arabicPeriod"/>
            </a:pPr>
            <a:endParaRPr lang="en-GB" dirty="0" smtClean="0">
              <a:ea typeface="ＭＳ Ｐゴシック" pitchFamily="34" charset="-128"/>
            </a:endParaRPr>
          </a:p>
          <a:p>
            <a:pPr marL="358775" indent="-358775">
              <a:buFont typeface="Calibri" pitchFamily="34" charset="0"/>
              <a:buAutoNum type="arabicPeriod"/>
            </a:pPr>
            <a:endParaRPr lang="en-GB" dirty="0" smtClean="0">
              <a:ea typeface="ＭＳ Ｐゴシック" pitchFamily="34" charset="-128"/>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Marcador de texto"/>
          <p:cNvSpPr>
            <a:spLocks noGrp="1"/>
          </p:cNvSpPr>
          <p:nvPr>
            <p:ph type="body" sz="quarter" idx="11"/>
          </p:nvPr>
        </p:nvSpPr>
        <p:spPr>
          <a:xfrm>
            <a:off x="520501" y="1316717"/>
            <a:ext cx="8751075" cy="424638"/>
          </a:xfrm>
        </p:spPr>
        <p:txBody>
          <a:bodyPr>
            <a:normAutofit fontScale="70000" lnSpcReduction="20000"/>
          </a:bodyPr>
          <a:lstStyle/>
          <a:p>
            <a:r>
              <a:rPr lang="en-GB" dirty="0" smtClean="0"/>
              <a:t>Why are many life scientists so adverse to thinking about design?</a:t>
            </a:r>
            <a:endParaRPr lang="en-GB" dirty="0"/>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Flecha abajo"/>
          <p:cNvSpPr/>
          <p:nvPr/>
        </p:nvSpPr>
        <p:spPr bwMode="auto">
          <a:xfrm>
            <a:off x="1960775" y="1845158"/>
            <a:ext cx="301658" cy="660752"/>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7" name="6 CuadroTexto"/>
          <p:cNvSpPr txBox="1"/>
          <p:nvPr/>
        </p:nvSpPr>
        <p:spPr>
          <a:xfrm>
            <a:off x="957651" y="2471348"/>
            <a:ext cx="5093525" cy="1015663"/>
          </a:xfrm>
          <a:prstGeom prst="rect">
            <a:avLst/>
          </a:prstGeom>
          <a:noFill/>
        </p:spPr>
        <p:txBody>
          <a:bodyPr wrap="square" rtlCol="0">
            <a:spAutoFit/>
          </a:bodyPr>
          <a:lstStyle/>
          <a:p>
            <a:pPr algn="just"/>
            <a:r>
              <a:rPr lang="en-GB" sz="2000" dirty="0" smtClean="0">
                <a:solidFill>
                  <a:schemeClr val="bg2">
                    <a:lumMod val="50000"/>
                  </a:schemeClr>
                </a:solidFill>
                <a:latin typeface="+mn-lt"/>
              </a:rPr>
              <a:t>It is common to think that time spent designing  experiments would be better spent actually doing experiments</a:t>
            </a:r>
          </a:p>
        </p:txBody>
      </p:sp>
      <p:sp>
        <p:nvSpPr>
          <p:cNvPr id="8" name="7 CuadroTexto"/>
          <p:cNvSpPr txBox="1"/>
          <p:nvPr/>
        </p:nvSpPr>
        <p:spPr>
          <a:xfrm>
            <a:off x="386498" y="3695308"/>
            <a:ext cx="9087440" cy="2462213"/>
          </a:xfrm>
          <a:prstGeom prst="rect">
            <a:avLst/>
          </a:prstGeom>
          <a:noFill/>
        </p:spPr>
        <p:txBody>
          <a:bodyPr wrap="square" rtlCol="0">
            <a:spAutoFit/>
          </a:bodyPr>
          <a:lstStyle/>
          <a:p>
            <a:pPr algn="just"/>
            <a:r>
              <a:rPr lang="en-GB" sz="2200" dirty="0">
                <a:latin typeface="+mn-lt"/>
              </a:rPr>
              <a:t>Some myths arise in biologists and statistical fields about that.</a:t>
            </a:r>
          </a:p>
          <a:p>
            <a:pPr algn="just"/>
            <a:endParaRPr lang="en-GB" sz="2200" dirty="0">
              <a:solidFill>
                <a:schemeClr val="bg2">
                  <a:lumMod val="50000"/>
                </a:schemeClr>
              </a:solidFill>
              <a:latin typeface="+mn-lt"/>
            </a:endParaRPr>
          </a:p>
          <a:p>
            <a:pPr marL="536575" lvl="1" indent="-252000" algn="just">
              <a:buFont typeface="Arial" pitchFamily="34" charset="0"/>
              <a:buChar char="•"/>
            </a:pPr>
            <a:r>
              <a:rPr lang="en-GB" sz="2200" i="1" dirty="0" smtClean="0">
                <a:solidFill>
                  <a:schemeClr val="bg2">
                    <a:lumMod val="50000"/>
                  </a:schemeClr>
                </a:solidFill>
                <a:latin typeface="+mn-lt"/>
              </a:rPr>
              <a:t>“It does not matter how you collect your data, there will always be a statistical ‘fix’ that will allow you to analyse them”</a:t>
            </a:r>
          </a:p>
          <a:p>
            <a:pPr marL="536575" lvl="1" indent="-252000" algn="just">
              <a:buFont typeface="Arial" pitchFamily="34" charset="0"/>
              <a:buChar char="•"/>
            </a:pPr>
            <a:r>
              <a:rPr lang="en-GB" sz="2200" i="1" dirty="0" smtClean="0">
                <a:solidFill>
                  <a:schemeClr val="bg2">
                    <a:lumMod val="50000"/>
                  </a:schemeClr>
                </a:solidFill>
                <a:latin typeface="+mn-lt"/>
              </a:rPr>
              <a:t>“If you collect lots of data something interesting will come out, and you’ll be able to detect even very subtle effects”</a:t>
            </a:r>
          </a:p>
          <a:p>
            <a:pPr marL="536575" lvl="1" indent="-252000" algn="just">
              <a:buFont typeface="Arial" pitchFamily="34" charset="0"/>
              <a:buChar char="•"/>
            </a:pPr>
            <a:r>
              <a:rPr lang="en-GB" sz="2200" i="1" dirty="0" smtClean="0">
                <a:solidFill>
                  <a:schemeClr val="bg2">
                    <a:lumMod val="50000"/>
                  </a:schemeClr>
                </a:solidFill>
                <a:latin typeface="+mn-lt"/>
              </a:rPr>
              <a:t>“In science, as in life: more haste, less speed”</a:t>
            </a:r>
          </a:p>
        </p:txBody>
      </p:sp>
      <p:pic>
        <p:nvPicPr>
          <p:cNvPr id="53250" name="Picture 2" descr="http://blogs.periodistadigital.com/imgs/20080328/enfadado.jpg"/>
          <p:cNvPicPr>
            <a:picLocks noChangeAspect="1" noChangeArrowheads="1"/>
          </p:cNvPicPr>
          <p:nvPr/>
        </p:nvPicPr>
        <p:blipFill>
          <a:blip r:embed="rId2" cstate="print"/>
          <a:srcRect/>
          <a:stretch>
            <a:fillRect/>
          </a:stretch>
        </p:blipFill>
        <p:spPr bwMode="auto">
          <a:xfrm>
            <a:off x="7105650" y="1968966"/>
            <a:ext cx="2800350" cy="1849999"/>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a:xfrm>
            <a:off x="654972" y="1464634"/>
            <a:ext cx="8751075" cy="424638"/>
          </a:xfrm>
        </p:spPr>
        <p:txBody>
          <a:bodyPr>
            <a:normAutofit fontScale="85000" lnSpcReduction="20000"/>
          </a:bodyPr>
          <a:lstStyle/>
          <a:p>
            <a:r>
              <a:rPr lang="en-GB" dirty="0" smtClean="0"/>
              <a:t>Why Experiment?</a:t>
            </a:r>
            <a:endParaRPr lang="en-GB" dirty="0"/>
          </a:p>
        </p:txBody>
      </p:sp>
      <p:sp>
        <p:nvSpPr>
          <p:cNvPr id="3" name="2 Marcador de texto"/>
          <p:cNvSpPr>
            <a:spLocks noGrp="1"/>
          </p:cNvSpPr>
          <p:nvPr>
            <p:ph type="body" sz="quarter" idx="12"/>
          </p:nvPr>
        </p:nvSpPr>
        <p:spPr/>
        <p:txBody>
          <a:bodyPr/>
          <a:lstStyle/>
          <a:p>
            <a:pPr marL="266700" indent="-266700">
              <a:buFont typeface="Arial" pitchFamily="34" charset="0"/>
              <a:buChar char="•"/>
            </a:pPr>
            <a:r>
              <a:rPr lang="en-US" dirty="0" smtClean="0"/>
              <a:t>Researchers</a:t>
            </a:r>
            <a:r>
              <a:rPr lang="es-ES" dirty="0" smtClean="0"/>
              <a:t> use </a:t>
            </a:r>
            <a:r>
              <a:rPr lang="en-US" dirty="0" smtClean="0"/>
              <a:t>experiments</a:t>
            </a:r>
            <a:r>
              <a:rPr lang="es-ES" dirty="0" smtClean="0"/>
              <a:t> </a:t>
            </a:r>
            <a:r>
              <a:rPr lang="en-US" dirty="0" smtClean="0"/>
              <a:t>to answer questions:</a:t>
            </a:r>
          </a:p>
          <a:p>
            <a:pPr marL="1028700" lvl="2" indent="-266700">
              <a:buFont typeface="Wingdings" pitchFamily="2" charset="2"/>
              <a:buChar char="ü"/>
            </a:pPr>
            <a:r>
              <a:rPr lang="en-US" sz="1800" dirty="0" smtClean="0">
                <a:solidFill>
                  <a:schemeClr val="bg2">
                    <a:lumMod val="50000"/>
                  </a:schemeClr>
                </a:solidFill>
                <a:latin typeface="+mn-lt"/>
                <a:ea typeface="+mn-ea"/>
                <a:cs typeface="+mn-cs"/>
              </a:rPr>
              <a:t>Is a drug a safe, effective cure for a disease?</a:t>
            </a:r>
          </a:p>
          <a:p>
            <a:pPr marL="1028700" lvl="2" indent="-266700">
              <a:buFont typeface="Wingdings" pitchFamily="2" charset="2"/>
              <a:buChar char="ü"/>
            </a:pPr>
            <a:r>
              <a:rPr lang="en-US" sz="1800" dirty="0" smtClean="0">
                <a:solidFill>
                  <a:schemeClr val="bg2">
                    <a:lumMod val="50000"/>
                  </a:schemeClr>
                </a:solidFill>
                <a:latin typeface="+mn-lt"/>
                <a:ea typeface="+mn-ea"/>
                <a:cs typeface="+mn-cs"/>
              </a:rPr>
              <a:t>Which combination of protein and carbohydrate sources provides the best nutrition for growing lambs?</a:t>
            </a:r>
          </a:p>
          <a:p>
            <a:pPr marL="1028700" lvl="2" indent="-266700">
              <a:buFont typeface="Wingdings" pitchFamily="2" charset="2"/>
              <a:buChar char="ü"/>
            </a:pPr>
            <a:r>
              <a:rPr lang="en-US" sz="1800" dirty="0" smtClean="0">
                <a:solidFill>
                  <a:schemeClr val="bg2">
                    <a:lumMod val="50000"/>
                  </a:schemeClr>
                </a:solidFill>
                <a:latin typeface="+mn-lt"/>
                <a:ea typeface="+mn-ea"/>
                <a:cs typeface="+mn-cs"/>
              </a:rPr>
              <a:t>…</a:t>
            </a:r>
          </a:p>
          <a:p>
            <a:pPr marL="266700" lvl="1" indent="-266700">
              <a:buFont typeface="Arial" pitchFamily="34" charset="0"/>
              <a:buChar char="•"/>
            </a:pPr>
            <a:r>
              <a:rPr lang="en-US" sz="2200" dirty="0" smtClean="0">
                <a:solidFill>
                  <a:schemeClr val="bg2">
                    <a:lumMod val="50000"/>
                  </a:schemeClr>
                </a:solidFill>
                <a:ea typeface="+mn-ea"/>
                <a:cs typeface="+mn-cs"/>
              </a:rPr>
              <a:t>Experiments usually want to compare some treatments induced to some items and then measure one or more responses.</a:t>
            </a:r>
            <a:endParaRPr lang="en-US" sz="2200" dirty="0">
              <a:solidFill>
                <a:schemeClr val="bg2">
                  <a:lumMod val="50000"/>
                </a:schemeClr>
              </a:solidFill>
              <a:ea typeface="+mn-ea"/>
              <a:cs typeface="+mn-cs"/>
            </a:endParaRPr>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Flecha abajo"/>
          <p:cNvSpPr/>
          <p:nvPr/>
        </p:nvSpPr>
        <p:spPr bwMode="auto">
          <a:xfrm>
            <a:off x="4352925" y="4552950"/>
            <a:ext cx="438150" cy="523875"/>
          </a:xfrm>
          <a:prstGeom prst="downArrow">
            <a:avLst/>
          </a:prstGeom>
          <a:noFill/>
          <a:ln w="9525"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7" name="6 Flecha abajo"/>
          <p:cNvSpPr/>
          <p:nvPr/>
        </p:nvSpPr>
        <p:spPr bwMode="auto">
          <a:xfrm>
            <a:off x="4962525" y="1219200"/>
            <a:ext cx="276225" cy="257175"/>
          </a:xfrm>
          <a:prstGeom prst="downArrow">
            <a:avLst/>
          </a:prstGeom>
          <a:noFill/>
          <a:ln w="9525"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8" name="7 Flecha abajo"/>
          <p:cNvSpPr/>
          <p:nvPr/>
        </p:nvSpPr>
        <p:spPr bwMode="auto">
          <a:xfrm>
            <a:off x="2954431" y="4451538"/>
            <a:ext cx="342900" cy="672105"/>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algn="ctr"/>
            <a:endParaRPr lang="en-GB" sz="3200" smtClean="0">
              <a:latin typeface="Calibri" pitchFamily="34" charset="0"/>
            </a:endParaRPr>
          </a:p>
        </p:txBody>
      </p:sp>
      <p:sp>
        <p:nvSpPr>
          <p:cNvPr id="9" name="8 CuadroTexto"/>
          <p:cNvSpPr txBox="1"/>
          <p:nvPr/>
        </p:nvSpPr>
        <p:spPr>
          <a:xfrm>
            <a:off x="1280833" y="5253878"/>
            <a:ext cx="4407273" cy="1323439"/>
          </a:xfrm>
          <a:prstGeom prst="rect">
            <a:avLst/>
          </a:prstGeom>
          <a:noFill/>
        </p:spPr>
        <p:txBody>
          <a:bodyPr wrap="square" rtlCol="0">
            <a:spAutoFit/>
          </a:bodyPr>
          <a:lstStyle/>
          <a:p>
            <a:pPr algn="just"/>
            <a:r>
              <a:rPr lang="en-GB" sz="2000" dirty="0" smtClean="0">
                <a:solidFill>
                  <a:schemeClr val="bg2">
                    <a:lumMod val="50000"/>
                  </a:schemeClr>
                </a:solidFill>
                <a:latin typeface="+mn-lt"/>
              </a:rPr>
              <a:t>This could tell us if there are any differences in responses between treatments, what the estimated sizes of those differences are,…. </a:t>
            </a:r>
            <a:endParaRPr lang="en-GB" sz="2000" dirty="0">
              <a:solidFill>
                <a:schemeClr val="bg2">
                  <a:lumMod val="50000"/>
                </a:schemeClr>
              </a:solidFill>
              <a:latin typeface="+mn-lt"/>
            </a:endParaRPr>
          </a:p>
        </p:txBody>
      </p:sp>
      <p:sp>
        <p:nvSpPr>
          <p:cNvPr id="10" name="9 Flecha derecha"/>
          <p:cNvSpPr/>
          <p:nvPr/>
        </p:nvSpPr>
        <p:spPr bwMode="auto">
          <a:xfrm>
            <a:off x="6024283" y="5499847"/>
            <a:ext cx="551329" cy="564777"/>
          </a:xfrm>
          <a:prstGeom prst="right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ca-ES" sz="3200" b="0" i="0" u="none" strike="noStrike" cap="none" normalizeH="0" baseline="0" smtClean="0">
              <a:ln>
                <a:noFill/>
              </a:ln>
              <a:solidFill>
                <a:schemeClr val="tx1"/>
              </a:solidFill>
              <a:effectLst/>
              <a:latin typeface="Calibri" pitchFamily="34" charset="0"/>
            </a:endParaRPr>
          </a:p>
        </p:txBody>
      </p:sp>
      <p:sp>
        <p:nvSpPr>
          <p:cNvPr id="11" name="10 CuadroTexto"/>
          <p:cNvSpPr txBox="1"/>
          <p:nvPr/>
        </p:nvSpPr>
        <p:spPr>
          <a:xfrm>
            <a:off x="6790766" y="5392271"/>
            <a:ext cx="2084294" cy="769441"/>
          </a:xfrm>
          <a:prstGeom prst="rect">
            <a:avLst/>
          </a:prstGeom>
          <a:solidFill>
            <a:srgbClr val="7D468C"/>
          </a:solidFill>
        </p:spPr>
        <p:txBody>
          <a:bodyPr wrap="square" rtlCol="0">
            <a:spAutoFit/>
          </a:bodyPr>
          <a:lstStyle/>
          <a:p>
            <a:pPr algn="just"/>
            <a:r>
              <a:rPr lang="ca-ES" sz="2200" dirty="0" smtClean="0">
                <a:solidFill>
                  <a:schemeClr val="bg1"/>
                </a:solidFill>
                <a:latin typeface="+mn-lt"/>
              </a:rPr>
              <a:t>UNDERSTAND A PROCESS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a:xfrm>
            <a:off x="495300" y="101643"/>
            <a:ext cx="7569543" cy="615048"/>
          </a:xfrm>
        </p:spPr>
        <p:txBody>
          <a:bodyPr/>
          <a:lstStyle/>
          <a:p>
            <a:r>
              <a:rPr lang="es-ES" dirty="0" smtClean="0"/>
              <a:t>Basic </a:t>
            </a:r>
            <a:r>
              <a:rPr lang="es-ES" dirty="0" smtClean="0"/>
              <a:t>Ideas: </a:t>
            </a:r>
            <a:r>
              <a:rPr lang="es-ES" dirty="0" err="1" smtClean="0"/>
              <a:t>Study</a:t>
            </a:r>
            <a:r>
              <a:rPr lang="es-ES" dirty="0" smtClean="0"/>
              <a:t> </a:t>
            </a:r>
            <a:r>
              <a:rPr lang="es-ES" dirty="0" err="1" smtClean="0"/>
              <a:t>types</a:t>
            </a:r>
            <a:endParaRPr lang="en-GB" dirty="0"/>
          </a:p>
        </p:txBody>
      </p:sp>
      <p:sp>
        <p:nvSpPr>
          <p:cNvPr id="6" name="5 Flecha abajo"/>
          <p:cNvSpPr/>
          <p:nvPr/>
        </p:nvSpPr>
        <p:spPr bwMode="auto">
          <a:xfrm>
            <a:off x="4352925" y="4552950"/>
            <a:ext cx="438150" cy="523875"/>
          </a:xfrm>
          <a:prstGeom prst="downArrow">
            <a:avLst/>
          </a:prstGeom>
          <a:noFill/>
          <a:ln w="9525"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7" name="6 Flecha abajo"/>
          <p:cNvSpPr/>
          <p:nvPr/>
        </p:nvSpPr>
        <p:spPr bwMode="auto">
          <a:xfrm>
            <a:off x="4962525" y="1219200"/>
            <a:ext cx="276225" cy="257175"/>
          </a:xfrm>
          <a:prstGeom prst="downArrow">
            <a:avLst/>
          </a:prstGeom>
          <a:noFill/>
          <a:ln w="9525"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pic>
        <p:nvPicPr>
          <p:cNvPr id="8" name="Imagen 7">
            <a:hlinkClick r:id="rId2"/>
          </p:cNvPr>
          <p:cNvPicPr>
            <a:picLocks noChangeAspect="1"/>
          </p:cNvPicPr>
          <p:nvPr/>
        </p:nvPicPr>
        <p:blipFill>
          <a:blip r:embed="rId3"/>
          <a:stretch>
            <a:fillRect/>
          </a:stretch>
        </p:blipFill>
        <p:spPr>
          <a:xfrm>
            <a:off x="691982" y="815165"/>
            <a:ext cx="5099222" cy="6009497"/>
          </a:xfrm>
          <a:prstGeom prst="rect">
            <a:avLst/>
          </a:prstGeom>
        </p:spPr>
      </p:pic>
      <p:sp>
        <p:nvSpPr>
          <p:cNvPr id="19" name="Rectángulo 18"/>
          <p:cNvSpPr/>
          <p:nvPr/>
        </p:nvSpPr>
        <p:spPr>
          <a:xfrm>
            <a:off x="5791204" y="1410384"/>
            <a:ext cx="4114796" cy="2123658"/>
          </a:xfrm>
          <a:prstGeom prst="rect">
            <a:avLst/>
          </a:prstGeom>
        </p:spPr>
        <p:txBody>
          <a:bodyPr wrap="square">
            <a:spAutoFit/>
          </a:bodyPr>
          <a:lstStyle/>
          <a:p>
            <a:r>
              <a:rPr lang="es-ES" sz="1200" dirty="0">
                <a:hlinkClick r:id="rId2"/>
              </a:rPr>
              <a:t>http://</a:t>
            </a:r>
            <a:r>
              <a:rPr lang="es-ES" sz="1200" dirty="0" smtClean="0">
                <a:hlinkClick r:id="rId2"/>
              </a:rPr>
              <a:t>www.cebm.net/wp-content/uploads/2014/06/CEBM-study-design-april-20131.pdf</a:t>
            </a:r>
            <a:endParaRPr lang="es-ES" sz="1200" dirty="0" smtClean="0"/>
          </a:p>
          <a:p>
            <a:endParaRPr lang="es-ES" sz="1200" dirty="0" smtClean="0"/>
          </a:p>
          <a:p>
            <a:r>
              <a:rPr lang="es-ES" sz="1200" dirty="0" err="1" smtClean="0"/>
              <a:t>But</a:t>
            </a:r>
            <a:r>
              <a:rPr lang="es-ES" sz="1200" dirty="0" smtClean="0"/>
              <a:t> </a:t>
            </a:r>
            <a:r>
              <a:rPr lang="es-ES" sz="1200" dirty="0" err="1" smtClean="0"/>
              <a:t>see</a:t>
            </a:r>
            <a:r>
              <a:rPr lang="es-ES" sz="1200" dirty="0" smtClean="0"/>
              <a:t> </a:t>
            </a:r>
            <a:r>
              <a:rPr lang="es-ES" sz="1200" dirty="0" err="1" smtClean="0"/>
              <a:t>also</a:t>
            </a:r>
            <a:r>
              <a:rPr lang="es-ES" sz="1200" dirty="0" smtClean="0"/>
              <a:t>:</a:t>
            </a:r>
          </a:p>
          <a:p>
            <a:endParaRPr lang="es-ES" sz="1200" dirty="0"/>
          </a:p>
          <a:p>
            <a:r>
              <a:rPr lang="en-US" sz="1200" dirty="0">
                <a:hlinkClick r:id="rId4"/>
              </a:rPr>
              <a:t>Types of Study in Medical Research</a:t>
            </a:r>
            <a:endParaRPr lang="en-US" sz="1200" dirty="0"/>
          </a:p>
          <a:p>
            <a:r>
              <a:rPr lang="es-ES" sz="1200" dirty="0" err="1" smtClean="0"/>
              <a:t>Or</a:t>
            </a:r>
            <a:endParaRPr lang="es-ES" sz="1200" dirty="0" smtClean="0"/>
          </a:p>
          <a:p>
            <a:r>
              <a:rPr lang="en-US" sz="1200" u="sng" dirty="0">
                <a:hlinkClick r:id="rId5"/>
              </a:rPr>
              <a:t>Types of Studies - Introduction to Evidence-Based Practice</a:t>
            </a:r>
            <a:endParaRPr lang="en-US" sz="1200" dirty="0"/>
          </a:p>
          <a:p>
            <a:endParaRPr lang="es-ES" sz="1200" dirty="0" smtClean="0"/>
          </a:p>
          <a:p>
            <a:endParaRPr lang="es-ES" sz="1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p:txBody>
          <a:bodyPr>
            <a:normAutofit fontScale="85000" lnSpcReduction="20000"/>
          </a:bodyPr>
          <a:lstStyle/>
          <a:p>
            <a:r>
              <a:rPr lang="en-GB" dirty="0" smtClean="0"/>
              <a:t>Components of an </a:t>
            </a:r>
            <a:r>
              <a:rPr lang="en-GB" dirty="0" smtClean="0"/>
              <a:t>experiment</a:t>
            </a:r>
            <a:endParaRPr lang="en-GB" dirty="0"/>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5" name="4 CuadroTexto"/>
          <p:cNvSpPr txBox="1"/>
          <p:nvPr/>
        </p:nvSpPr>
        <p:spPr>
          <a:xfrm>
            <a:off x="704850" y="2057400"/>
            <a:ext cx="8705850" cy="4154984"/>
          </a:xfrm>
          <a:prstGeom prst="rect">
            <a:avLst/>
          </a:prstGeom>
          <a:noFill/>
        </p:spPr>
        <p:txBody>
          <a:bodyPr wrap="square" rtlCol="0">
            <a:spAutoFit/>
          </a:bodyPr>
          <a:lstStyle/>
          <a:p>
            <a:pPr marL="179388" lvl="1" indent="-179388" algn="just">
              <a:buFont typeface="Arial" pitchFamily="34" charset="0"/>
              <a:buChar char="•"/>
            </a:pPr>
            <a:r>
              <a:rPr lang="en-GB" sz="2200" dirty="0" smtClean="0">
                <a:solidFill>
                  <a:schemeClr val="bg2">
                    <a:lumMod val="50000"/>
                  </a:schemeClr>
                </a:solidFill>
                <a:latin typeface="+mn-lt"/>
              </a:rPr>
              <a:t>An experiment is characterized by the </a:t>
            </a:r>
            <a:r>
              <a:rPr lang="en-GB" sz="2200" i="1" dirty="0" smtClean="0">
                <a:solidFill>
                  <a:schemeClr val="bg2">
                    <a:lumMod val="50000"/>
                  </a:schemeClr>
                </a:solidFill>
                <a:effectLst>
                  <a:outerShdw blurRad="38100" dist="38100" dir="2700000" algn="tl">
                    <a:srgbClr val="000000">
                      <a:alpha val="43137"/>
                    </a:srgbClr>
                  </a:outerShdw>
                </a:effectLst>
                <a:latin typeface="+mn-lt"/>
              </a:rPr>
              <a:t>treatments</a:t>
            </a:r>
            <a:r>
              <a:rPr lang="en-GB" sz="2200" dirty="0" smtClean="0">
                <a:solidFill>
                  <a:schemeClr val="bg2">
                    <a:lumMod val="50000"/>
                  </a:schemeClr>
                </a:solidFill>
                <a:latin typeface="+mn-lt"/>
              </a:rPr>
              <a:t> and </a:t>
            </a:r>
            <a:r>
              <a:rPr lang="en-GB" sz="2200" i="1" dirty="0" smtClean="0">
                <a:solidFill>
                  <a:schemeClr val="bg2">
                    <a:lumMod val="50000"/>
                  </a:schemeClr>
                </a:solidFill>
                <a:effectLst>
                  <a:outerShdw blurRad="38100" dist="38100" dir="2700000" algn="tl">
                    <a:srgbClr val="000000">
                      <a:alpha val="43137"/>
                    </a:srgbClr>
                  </a:outerShdw>
                </a:effectLst>
                <a:latin typeface="+mn-lt"/>
              </a:rPr>
              <a:t>experimental units</a:t>
            </a:r>
            <a:r>
              <a:rPr lang="en-GB" sz="2200" dirty="0" smtClean="0">
                <a:solidFill>
                  <a:schemeClr val="bg2">
                    <a:lumMod val="50000"/>
                  </a:schemeClr>
                </a:solidFill>
                <a:latin typeface="+mn-lt"/>
              </a:rPr>
              <a:t> to be used, the </a:t>
            </a:r>
            <a:r>
              <a:rPr lang="en-GB" sz="2200" i="1" dirty="0" smtClean="0">
                <a:solidFill>
                  <a:schemeClr val="bg2">
                    <a:lumMod val="50000"/>
                  </a:schemeClr>
                </a:solidFill>
                <a:effectLst>
                  <a:outerShdw blurRad="38100" dist="38100" dir="2700000" algn="tl">
                    <a:srgbClr val="000000">
                      <a:alpha val="43137"/>
                    </a:srgbClr>
                  </a:outerShdw>
                </a:effectLst>
                <a:latin typeface="+mn-lt"/>
              </a:rPr>
              <a:t>method</a:t>
            </a:r>
            <a:r>
              <a:rPr lang="en-GB" sz="2200" dirty="0" smtClean="0">
                <a:solidFill>
                  <a:schemeClr val="bg2">
                    <a:lumMod val="50000"/>
                  </a:schemeClr>
                </a:solidFill>
                <a:latin typeface="+mn-lt"/>
              </a:rPr>
              <a:t> treatments are assigned to units and the </a:t>
            </a:r>
            <a:r>
              <a:rPr lang="en-GB" sz="2200" i="1" dirty="0" smtClean="0">
                <a:solidFill>
                  <a:schemeClr val="bg2">
                    <a:lumMod val="50000"/>
                  </a:schemeClr>
                </a:solidFill>
                <a:effectLst>
                  <a:outerShdw blurRad="38100" dist="38100" dir="2700000" algn="tl">
                    <a:srgbClr val="000000">
                      <a:alpha val="43137"/>
                    </a:srgbClr>
                  </a:outerShdw>
                </a:effectLst>
                <a:latin typeface="+mn-lt"/>
              </a:rPr>
              <a:t>responses</a:t>
            </a:r>
            <a:r>
              <a:rPr lang="en-GB" sz="2200" dirty="0" smtClean="0">
                <a:solidFill>
                  <a:schemeClr val="bg2">
                    <a:lumMod val="50000"/>
                  </a:schemeClr>
                </a:solidFill>
                <a:latin typeface="+mn-lt"/>
              </a:rPr>
              <a:t> are measured.</a:t>
            </a:r>
          </a:p>
          <a:p>
            <a:pPr marL="179388" lvl="1" indent="-179388" algn="just"/>
            <a:endParaRPr lang="en-GB" sz="2200" dirty="0" smtClean="0">
              <a:solidFill>
                <a:schemeClr val="bg2">
                  <a:lumMod val="50000"/>
                </a:schemeClr>
              </a:solidFill>
              <a:latin typeface="+mn-lt"/>
            </a:endParaRPr>
          </a:p>
          <a:p>
            <a:pPr marL="179388" lvl="1" indent="-179388" algn="just">
              <a:buFont typeface="Arial" pitchFamily="34" charset="0"/>
              <a:buChar char="•"/>
            </a:pPr>
            <a:r>
              <a:rPr lang="en-GB" sz="2200" dirty="0" smtClean="0">
                <a:solidFill>
                  <a:schemeClr val="bg2">
                    <a:lumMod val="50000"/>
                  </a:schemeClr>
                </a:solidFill>
                <a:latin typeface="+mn-lt"/>
              </a:rPr>
              <a:t>Treatments, units, and assignment method specify the </a:t>
            </a:r>
            <a:r>
              <a:rPr lang="en-GB" sz="2200" i="1" dirty="0" smtClean="0">
                <a:solidFill>
                  <a:schemeClr val="bg2">
                    <a:lumMod val="50000"/>
                  </a:schemeClr>
                </a:solidFill>
                <a:latin typeface="+mn-lt"/>
              </a:rPr>
              <a:t>experimental design.</a:t>
            </a:r>
          </a:p>
          <a:p>
            <a:pPr marL="179388" lvl="1" indent="-179388" algn="just">
              <a:buFont typeface="Arial" pitchFamily="34" charset="0"/>
              <a:buChar char="•"/>
            </a:pPr>
            <a:endParaRPr lang="en-GB" sz="2200" i="1" dirty="0" smtClean="0">
              <a:solidFill>
                <a:schemeClr val="bg2">
                  <a:lumMod val="50000"/>
                </a:schemeClr>
              </a:solidFill>
              <a:latin typeface="+mn-lt"/>
            </a:endParaRPr>
          </a:p>
          <a:p>
            <a:pPr marL="179388" lvl="1" indent="-179388" algn="just">
              <a:buFont typeface="Arial" pitchFamily="34" charset="0"/>
              <a:buChar char="•"/>
            </a:pPr>
            <a:endParaRPr lang="en-GB" sz="2200" i="1" dirty="0" smtClean="0">
              <a:solidFill>
                <a:schemeClr val="bg2">
                  <a:lumMod val="50000"/>
                </a:schemeClr>
              </a:solidFill>
              <a:latin typeface="+mn-lt"/>
            </a:endParaRPr>
          </a:p>
          <a:p>
            <a:pPr marL="179388" lvl="1" indent="-179388" algn="just">
              <a:buFont typeface="Arial" pitchFamily="34" charset="0"/>
              <a:buChar char="•"/>
            </a:pPr>
            <a:endParaRPr lang="en-GB" sz="2200" i="1" dirty="0" smtClean="0">
              <a:solidFill>
                <a:schemeClr val="bg2">
                  <a:lumMod val="50000"/>
                </a:schemeClr>
              </a:solidFill>
              <a:latin typeface="+mn-lt"/>
            </a:endParaRPr>
          </a:p>
          <a:p>
            <a:pPr marL="442913" lvl="2" indent="14288" algn="just"/>
            <a:r>
              <a:rPr lang="en-GB" sz="2200" dirty="0" smtClean="0">
                <a:solidFill>
                  <a:schemeClr val="bg2">
                    <a:lumMod val="50000"/>
                  </a:schemeClr>
                </a:solidFill>
                <a:latin typeface="+mn-lt"/>
              </a:rPr>
              <a:t>What about </a:t>
            </a:r>
            <a:r>
              <a:rPr lang="en-GB" sz="2200" i="1" dirty="0" smtClean="0">
                <a:solidFill>
                  <a:schemeClr val="bg2">
                    <a:lumMod val="50000"/>
                  </a:schemeClr>
                </a:solidFill>
                <a:effectLst>
                  <a:outerShdw blurRad="38100" dist="38100" dir="2700000" algn="tl">
                    <a:srgbClr val="000000">
                      <a:alpha val="43137"/>
                    </a:srgbClr>
                  </a:outerShdw>
                </a:effectLst>
                <a:latin typeface="+mn-lt"/>
              </a:rPr>
              <a:t>analysis</a:t>
            </a:r>
            <a:r>
              <a:rPr lang="en-GB" sz="2200" dirty="0" smtClean="0">
                <a:solidFill>
                  <a:schemeClr val="bg2">
                    <a:lumMod val="50000"/>
                  </a:schemeClr>
                </a:solidFill>
                <a:latin typeface="+mn-lt"/>
              </a:rPr>
              <a:t>? Analysis is not part of design, but MUST be consider during planning.</a:t>
            </a:r>
          </a:p>
          <a:p>
            <a:pPr marL="179388" lvl="1" indent="-179388" algn="just">
              <a:buFont typeface="Arial" pitchFamily="34" charset="0"/>
              <a:buChar char="•"/>
            </a:pPr>
            <a:endParaRPr lang="en-GB" sz="2200" dirty="0" smtClean="0">
              <a:solidFill>
                <a:schemeClr val="bg2">
                  <a:lumMod val="50000"/>
                </a:schemeClr>
              </a:solidFill>
              <a:latin typeface="+mn-lt"/>
            </a:endParaRPr>
          </a:p>
        </p:txBody>
      </p:sp>
      <p:sp>
        <p:nvSpPr>
          <p:cNvPr id="7" name="6 Flecha abajo"/>
          <p:cNvSpPr/>
          <p:nvPr/>
        </p:nvSpPr>
        <p:spPr bwMode="auto">
          <a:xfrm>
            <a:off x="1668545" y="4185501"/>
            <a:ext cx="311084" cy="810705"/>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p:txBody>
          <a:bodyPr>
            <a:normAutofit fontScale="85000" lnSpcReduction="20000"/>
          </a:bodyPr>
          <a:lstStyle/>
          <a:p>
            <a:r>
              <a:rPr lang="en-GB" dirty="0" smtClean="0"/>
              <a:t>Some important definitions:</a:t>
            </a:r>
            <a:endParaRPr lang="en-GB" dirty="0"/>
          </a:p>
        </p:txBody>
      </p:sp>
      <p:sp>
        <p:nvSpPr>
          <p:cNvPr id="3" name="2 Marcador de texto"/>
          <p:cNvSpPr>
            <a:spLocks noGrp="1"/>
          </p:cNvSpPr>
          <p:nvPr>
            <p:ph type="body" sz="quarter" idx="12"/>
          </p:nvPr>
        </p:nvSpPr>
        <p:spPr/>
        <p:txBody>
          <a:bodyPr>
            <a:normAutofit/>
          </a:bodyPr>
          <a:lstStyle/>
          <a:p>
            <a:pPr indent="-250825" algn="just">
              <a:lnSpc>
                <a:spcPct val="150000"/>
              </a:lnSpc>
              <a:buFont typeface="Arial" pitchFamily="34" charset="0"/>
              <a:buChar char="•"/>
            </a:pPr>
            <a:r>
              <a:rPr lang="en-GB" dirty="0" smtClean="0">
                <a:effectLst>
                  <a:outerShdw blurRad="38100" dist="38100" dir="2700000" algn="tl">
                    <a:srgbClr val="000000">
                      <a:alpha val="43137"/>
                    </a:srgbClr>
                  </a:outerShdw>
                </a:effectLst>
              </a:rPr>
              <a:t>Treatment</a:t>
            </a:r>
            <a:r>
              <a:rPr lang="en-GB" dirty="0" smtClean="0"/>
              <a:t>: </a:t>
            </a:r>
            <a:r>
              <a:rPr lang="en-GB" sz="2000" dirty="0" smtClean="0"/>
              <a:t>The set of circumstances created for the experiment in response to the research hypothesis </a:t>
            </a:r>
            <a:r>
              <a:rPr lang="en-GB" sz="2000" dirty="0" smtClean="0">
                <a:solidFill>
                  <a:srgbClr val="0070C0"/>
                </a:solidFill>
              </a:rPr>
              <a:t>(15º + 50%)</a:t>
            </a:r>
            <a:r>
              <a:rPr lang="en-GB" sz="2000" dirty="0" smtClean="0"/>
              <a:t>.</a:t>
            </a:r>
          </a:p>
          <a:p>
            <a:pPr indent="-250825" algn="just">
              <a:buFont typeface="Arial" pitchFamily="34" charset="0"/>
              <a:buChar char="•"/>
            </a:pPr>
            <a:r>
              <a:rPr lang="en-GB" dirty="0" smtClean="0">
                <a:effectLst>
                  <a:outerShdw blurRad="38100" dist="38100" dir="2700000" algn="tl">
                    <a:srgbClr val="000000">
                      <a:alpha val="43137"/>
                    </a:srgbClr>
                  </a:outerShdw>
                </a:effectLst>
              </a:rPr>
              <a:t>Factor</a:t>
            </a:r>
            <a:r>
              <a:rPr lang="en-GB" sz="2000" dirty="0" smtClean="0"/>
              <a:t>: A set of treatments grouped together logically </a:t>
            </a:r>
            <a:r>
              <a:rPr lang="en-GB" sz="2000" dirty="0" smtClean="0">
                <a:solidFill>
                  <a:srgbClr val="0070C0"/>
                </a:solidFill>
              </a:rPr>
              <a:t>(</a:t>
            </a:r>
            <a:r>
              <a:rPr lang="en-GB" sz="2000" dirty="0" err="1" smtClean="0">
                <a:solidFill>
                  <a:srgbClr val="0070C0"/>
                </a:solidFill>
              </a:rPr>
              <a:t>Temperat</a:t>
            </a:r>
            <a:r>
              <a:rPr lang="en-GB" sz="2000" dirty="0">
                <a:solidFill>
                  <a:srgbClr val="0070C0"/>
                </a:solidFill>
              </a:rPr>
              <a:t>.</a:t>
            </a:r>
            <a:r>
              <a:rPr lang="en-GB" sz="2000" dirty="0" smtClean="0">
                <a:solidFill>
                  <a:srgbClr val="0070C0"/>
                </a:solidFill>
              </a:rPr>
              <a:t>, </a:t>
            </a:r>
            <a:r>
              <a:rPr lang="en-GB" sz="2000" dirty="0" smtClean="0">
                <a:solidFill>
                  <a:srgbClr val="0070C0"/>
                </a:solidFill>
              </a:rPr>
              <a:t>humidity)</a:t>
            </a:r>
            <a:r>
              <a:rPr lang="en-GB" sz="2000" dirty="0" smtClean="0"/>
              <a:t>.</a:t>
            </a:r>
          </a:p>
          <a:p>
            <a:pPr indent="-250825" algn="just">
              <a:lnSpc>
                <a:spcPct val="150000"/>
              </a:lnSpc>
              <a:buFont typeface="Arial" pitchFamily="34" charset="0"/>
              <a:buChar char="•"/>
            </a:pPr>
            <a:r>
              <a:rPr lang="en-GB" dirty="0" smtClean="0">
                <a:effectLst>
                  <a:outerShdw blurRad="38100" dist="38100" dir="2700000" algn="tl">
                    <a:srgbClr val="000000">
                      <a:alpha val="43137"/>
                    </a:srgbClr>
                  </a:outerShdw>
                </a:effectLst>
              </a:rPr>
              <a:t>Level</a:t>
            </a:r>
            <a:r>
              <a:rPr lang="en-GB" sz="2400" dirty="0" smtClean="0"/>
              <a:t>:</a:t>
            </a:r>
            <a:r>
              <a:rPr lang="en-GB" sz="2800" dirty="0" smtClean="0"/>
              <a:t> </a:t>
            </a:r>
            <a:r>
              <a:rPr lang="en-GB" sz="2000" dirty="0" smtClean="0"/>
              <a:t>The several categories of a factor </a:t>
            </a:r>
            <a:r>
              <a:rPr lang="en-GB" sz="2000" dirty="0" smtClean="0">
                <a:solidFill>
                  <a:srgbClr val="0070C0"/>
                </a:solidFill>
              </a:rPr>
              <a:t>(15º, 25º, 37º).</a:t>
            </a:r>
            <a:endParaRPr lang="en-GB" dirty="0" smtClean="0">
              <a:solidFill>
                <a:srgbClr val="0070C0"/>
              </a:solidFill>
            </a:endParaRPr>
          </a:p>
          <a:p>
            <a:pPr indent="-250825" algn="just">
              <a:lnSpc>
                <a:spcPct val="150000"/>
              </a:lnSpc>
              <a:buFont typeface="Arial" pitchFamily="34" charset="0"/>
              <a:buChar char="•"/>
            </a:pPr>
            <a:r>
              <a:rPr lang="en-GB" dirty="0" smtClean="0">
                <a:effectLst>
                  <a:outerShdw blurRad="38100" dist="38100" dir="2700000" algn="tl">
                    <a:srgbClr val="000000">
                      <a:alpha val="43137"/>
                    </a:srgbClr>
                  </a:outerShdw>
                </a:effectLst>
              </a:rPr>
              <a:t>Responses</a:t>
            </a:r>
            <a:r>
              <a:rPr lang="en-GB" dirty="0" smtClean="0"/>
              <a:t>: </a:t>
            </a:r>
            <a:r>
              <a:rPr lang="en-GB" sz="2000" dirty="0" smtClean="0"/>
              <a:t>outcomes that we observe after applying a treatment to an experimental unit. Often more than one response is obtained</a:t>
            </a:r>
            <a:endParaRPr lang="en-GB" dirty="0" smtClean="0">
              <a:effectLst>
                <a:outerShdw blurRad="38100" dist="38100" dir="2700000" algn="tl">
                  <a:srgbClr val="000000">
                    <a:alpha val="43137"/>
                  </a:srgbClr>
                </a:outerShdw>
              </a:effectLst>
            </a:endParaRPr>
          </a:p>
          <a:p>
            <a:pPr indent="-250825" algn="just">
              <a:buFont typeface="Arial" pitchFamily="34" charset="0"/>
              <a:buChar char="•"/>
            </a:pPr>
            <a:r>
              <a:rPr lang="en-GB" dirty="0" smtClean="0">
                <a:effectLst>
                  <a:outerShdw blurRad="38100" dist="38100" dir="2700000" algn="tl">
                    <a:srgbClr val="000000">
                      <a:alpha val="43137"/>
                    </a:srgbClr>
                  </a:outerShdw>
                </a:effectLst>
              </a:rPr>
              <a:t>Randomization</a:t>
            </a:r>
            <a:r>
              <a:rPr lang="en-GB" dirty="0" smtClean="0"/>
              <a:t>: </a:t>
            </a:r>
            <a:r>
              <a:rPr lang="en-GB" sz="2000" dirty="0" smtClean="0"/>
              <a:t>probabilistic  mechanism for the assignment of treatment units</a:t>
            </a:r>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p:txBody>
          <a:bodyPr>
            <a:normAutofit fontScale="85000" lnSpcReduction="20000"/>
          </a:bodyPr>
          <a:lstStyle/>
          <a:p>
            <a:r>
              <a:rPr lang="en-GB" dirty="0" smtClean="0"/>
              <a:t>Some important definitions:</a:t>
            </a:r>
            <a:endParaRPr lang="en-GB" dirty="0"/>
          </a:p>
        </p:txBody>
      </p:sp>
      <p:sp>
        <p:nvSpPr>
          <p:cNvPr id="3" name="2 Marcador de texto"/>
          <p:cNvSpPr>
            <a:spLocks noGrp="1"/>
          </p:cNvSpPr>
          <p:nvPr>
            <p:ph type="body" sz="quarter" idx="12"/>
          </p:nvPr>
        </p:nvSpPr>
        <p:spPr>
          <a:xfrm>
            <a:off x="524071" y="2066336"/>
            <a:ext cx="8739298" cy="3815990"/>
          </a:xfrm>
        </p:spPr>
        <p:txBody>
          <a:bodyPr/>
          <a:lstStyle/>
          <a:p>
            <a:pPr marL="365125" lvl="1" indent="-174625">
              <a:lnSpc>
                <a:spcPct val="150000"/>
              </a:lnSpc>
              <a:buFont typeface="Arial" pitchFamily="34" charset="0"/>
              <a:buChar char="•"/>
              <a:tabLst>
                <a:tab pos="358775" algn="l"/>
              </a:tabLst>
            </a:pPr>
            <a:r>
              <a:rPr lang="en-GB" dirty="0" smtClean="0">
                <a:solidFill>
                  <a:schemeClr val="bg2">
                    <a:lumMod val="50000"/>
                  </a:schemeClr>
                </a:solidFill>
                <a:effectLst>
                  <a:outerShdw blurRad="38100" dist="38100" dir="2700000" algn="tl">
                    <a:srgbClr val="000000">
                      <a:alpha val="43137"/>
                    </a:srgbClr>
                  </a:outerShdw>
                </a:effectLst>
              </a:rPr>
              <a:t>Experimental unit</a:t>
            </a:r>
            <a:r>
              <a:rPr lang="en-GB" dirty="0" smtClean="0">
                <a:solidFill>
                  <a:schemeClr val="bg2">
                    <a:lumMod val="50000"/>
                  </a:schemeClr>
                </a:solidFill>
              </a:rPr>
              <a:t>: sample exposed to the treatment. The things to which we apply the treatments </a:t>
            </a:r>
            <a:r>
              <a:rPr lang="en-GB" dirty="0" smtClean="0">
                <a:solidFill>
                  <a:srgbClr val="0070C0"/>
                </a:solidFill>
              </a:rPr>
              <a:t>(patient, alumni, brain region)</a:t>
            </a:r>
          </a:p>
          <a:p>
            <a:pPr marL="365125" lvl="1" indent="-174625">
              <a:lnSpc>
                <a:spcPct val="150000"/>
              </a:lnSpc>
              <a:buFont typeface="Arial" pitchFamily="34" charset="0"/>
              <a:buChar char="•"/>
              <a:tabLst>
                <a:tab pos="358775" algn="l"/>
              </a:tabLst>
            </a:pPr>
            <a:r>
              <a:rPr lang="en-GB" dirty="0" smtClean="0">
                <a:solidFill>
                  <a:schemeClr val="bg2">
                    <a:lumMod val="50000"/>
                  </a:schemeClr>
                </a:solidFill>
                <a:effectLst>
                  <a:outerShdw blurRad="38100" dist="38100" dir="2700000" algn="tl">
                    <a:srgbClr val="000000">
                      <a:alpha val="43137"/>
                    </a:srgbClr>
                  </a:outerShdw>
                </a:effectLst>
              </a:rPr>
              <a:t>Measurement unit: </a:t>
            </a:r>
            <a:r>
              <a:rPr lang="en-GB" dirty="0" smtClean="0">
                <a:solidFill>
                  <a:schemeClr val="bg2">
                    <a:lumMod val="50000"/>
                  </a:schemeClr>
                </a:solidFill>
              </a:rPr>
              <a:t>Unit where the measures are collected. It could be indistinguishable from experimental unit </a:t>
            </a:r>
            <a:r>
              <a:rPr lang="en-GB" dirty="0" smtClean="0">
                <a:solidFill>
                  <a:srgbClr val="0070C0"/>
                </a:solidFill>
              </a:rPr>
              <a:t>(patient, classroom, mouse)</a:t>
            </a:r>
          </a:p>
          <a:p>
            <a:pPr marL="365125" indent="-174625">
              <a:lnSpc>
                <a:spcPct val="150000"/>
              </a:lnSpc>
              <a:buFont typeface="Arial" pitchFamily="34" charset="0"/>
              <a:buChar char="•"/>
              <a:tabLst>
                <a:tab pos="358775" algn="l"/>
              </a:tabLst>
            </a:pPr>
            <a:r>
              <a:rPr lang="en-GB" sz="2000" dirty="0" smtClean="0">
                <a:effectLst>
                  <a:outerShdw blurRad="38100" dist="38100" dir="2700000" algn="tl">
                    <a:srgbClr val="000000">
                      <a:alpha val="43137"/>
                    </a:srgbClr>
                  </a:outerShdw>
                </a:effectLst>
              </a:rPr>
              <a:t>Experimental Error</a:t>
            </a:r>
            <a:r>
              <a:rPr lang="en-GB" sz="2000" dirty="0" smtClean="0"/>
              <a:t>: random variation present in all experimental results</a:t>
            </a:r>
          </a:p>
          <a:p>
            <a:pPr marL="365125" indent="-174625">
              <a:lnSpc>
                <a:spcPct val="150000"/>
              </a:lnSpc>
              <a:buFont typeface="Arial" pitchFamily="34" charset="0"/>
              <a:buChar char="•"/>
              <a:tabLst>
                <a:tab pos="358775" algn="l"/>
              </a:tabLst>
            </a:pPr>
            <a:r>
              <a:rPr lang="en-GB" sz="2000" dirty="0" smtClean="0">
                <a:effectLst>
                  <a:outerShdw blurRad="38100" dist="38100" dir="2700000" algn="tl">
                    <a:srgbClr val="000000">
                      <a:alpha val="43137"/>
                    </a:srgbClr>
                  </a:outerShdw>
                </a:effectLst>
              </a:rPr>
              <a:t>Observational Error: </a:t>
            </a:r>
            <a:r>
              <a:rPr lang="en-GB" sz="2000" dirty="0" smtClean="0"/>
              <a:t>The variation among multiple observations from the same experimental unit.</a:t>
            </a:r>
            <a:endParaRPr lang="en-GB" sz="2000" dirty="0" smtClean="0">
              <a:effectLst>
                <a:outerShdw blurRad="38100" dist="38100" dir="2700000" algn="tl">
                  <a:srgbClr val="000000">
                    <a:alpha val="43137"/>
                  </a:srgbClr>
                </a:outerShdw>
              </a:effectLst>
            </a:endParaRPr>
          </a:p>
          <a:p>
            <a:pPr indent="-250825">
              <a:lnSpc>
                <a:spcPct val="150000"/>
              </a:lnSpc>
            </a:pPr>
            <a:endParaRPr lang="en-GB" dirty="0" smtClean="0">
              <a:effectLst>
                <a:outerShdw blurRad="38100" dist="38100" dir="2700000" algn="tl">
                  <a:srgbClr val="000000">
                    <a:alpha val="43137"/>
                  </a:srgbClr>
                </a:outerShdw>
              </a:effectLst>
            </a:endParaRPr>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Marcador de texto"/>
          <p:cNvSpPr>
            <a:spLocks noGrp="1"/>
          </p:cNvSpPr>
          <p:nvPr>
            <p:ph type="body" sz="quarter" idx="11"/>
          </p:nvPr>
        </p:nvSpPr>
        <p:spPr/>
        <p:txBody>
          <a:bodyPr>
            <a:normAutofit fontScale="85000" lnSpcReduction="20000"/>
          </a:bodyPr>
          <a:lstStyle/>
          <a:p>
            <a:r>
              <a:rPr lang="en-GB" dirty="0" smtClean="0"/>
              <a:t>Some important definitions:</a:t>
            </a:r>
            <a:endParaRPr lang="en-GB" dirty="0"/>
          </a:p>
        </p:txBody>
      </p:sp>
      <p:sp>
        <p:nvSpPr>
          <p:cNvPr id="5"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7" name="6 Rectángulo"/>
          <p:cNvSpPr/>
          <p:nvPr/>
        </p:nvSpPr>
        <p:spPr>
          <a:xfrm>
            <a:off x="983876" y="2013374"/>
            <a:ext cx="8012206" cy="3939540"/>
          </a:xfrm>
          <a:prstGeom prst="rect">
            <a:avLst/>
          </a:prstGeom>
        </p:spPr>
        <p:txBody>
          <a:bodyPr wrap="square">
            <a:spAutoFit/>
          </a:bodyPr>
          <a:lstStyle/>
          <a:p>
            <a:pPr marL="174625" indent="-174625">
              <a:buFont typeface="Arial" pitchFamily="34" charset="0"/>
              <a:buChar char="•"/>
            </a:pPr>
            <a:r>
              <a:rPr lang="en-GB" sz="2000" dirty="0" smtClean="0">
                <a:solidFill>
                  <a:schemeClr val="bg2">
                    <a:lumMod val="50000"/>
                  </a:schemeClr>
                </a:solidFill>
                <a:effectLst>
                  <a:outerShdw blurRad="38100" dist="38100" dir="2700000" algn="tl">
                    <a:srgbClr val="000000">
                      <a:alpha val="43137"/>
                    </a:srgbClr>
                  </a:outerShdw>
                </a:effectLst>
                <a:latin typeface="+mn-lt"/>
              </a:rPr>
              <a:t>Confounding:</a:t>
            </a:r>
            <a:r>
              <a:rPr lang="en-GB" sz="2000" dirty="0" smtClean="0">
                <a:solidFill>
                  <a:schemeClr val="bg2">
                    <a:lumMod val="50000"/>
                  </a:schemeClr>
                </a:solidFill>
                <a:latin typeface="+mn-lt"/>
              </a:rPr>
              <a:t> occurs when the effect of one factor o treatment cannot be distinguished from that of another factor o treatment.</a:t>
            </a:r>
          </a:p>
          <a:p>
            <a:pPr marL="174625" indent="-174625">
              <a:buFont typeface="Arial" pitchFamily="34" charset="0"/>
              <a:buChar char="•"/>
            </a:pPr>
            <a:endParaRPr lang="en-GB" sz="2000" dirty="0" smtClean="0">
              <a:solidFill>
                <a:schemeClr val="bg2">
                  <a:lumMod val="50000"/>
                </a:schemeClr>
              </a:solidFill>
              <a:latin typeface="+mn-lt"/>
            </a:endParaRPr>
          </a:p>
          <a:p>
            <a:pPr marL="174625" indent="-174625">
              <a:buFont typeface="Arial" pitchFamily="34" charset="0"/>
              <a:buChar char="•"/>
            </a:pPr>
            <a:r>
              <a:rPr lang="en-GB" sz="2000" dirty="0" smtClean="0">
                <a:solidFill>
                  <a:schemeClr val="bg2">
                    <a:lumMod val="50000"/>
                  </a:schemeClr>
                </a:solidFill>
                <a:effectLst>
                  <a:outerShdw blurRad="38100" dist="38100" dir="2700000" algn="tl">
                    <a:srgbClr val="000000">
                      <a:alpha val="43137"/>
                    </a:srgbClr>
                  </a:outerShdw>
                </a:effectLst>
                <a:latin typeface="+mn-lt"/>
              </a:rPr>
              <a:t>Blinding</a:t>
            </a:r>
            <a:r>
              <a:rPr lang="en-GB" sz="2000" dirty="0" smtClean="0">
                <a:solidFill>
                  <a:schemeClr val="bg2">
                    <a:lumMod val="50000"/>
                  </a:schemeClr>
                </a:solidFill>
                <a:latin typeface="+mn-lt"/>
              </a:rPr>
              <a:t>: When the evaluators of a response do not know which treatment was given to which unit</a:t>
            </a:r>
          </a:p>
          <a:p>
            <a:pPr marL="174625" indent="-174625">
              <a:lnSpc>
                <a:spcPct val="150000"/>
              </a:lnSpc>
              <a:buFont typeface="Arial" pitchFamily="34" charset="0"/>
              <a:buChar char="•"/>
            </a:pPr>
            <a:r>
              <a:rPr lang="en-GB" sz="2000" dirty="0" smtClean="0">
                <a:solidFill>
                  <a:schemeClr val="bg2">
                    <a:lumMod val="50000"/>
                  </a:schemeClr>
                </a:solidFill>
                <a:effectLst>
                  <a:outerShdw blurRad="38100" dist="38100" dir="2700000" algn="tl">
                    <a:srgbClr val="000000">
                      <a:alpha val="43137"/>
                    </a:srgbClr>
                  </a:outerShdw>
                </a:effectLst>
                <a:latin typeface="+mn-lt"/>
              </a:rPr>
              <a:t>Block</a:t>
            </a:r>
            <a:r>
              <a:rPr lang="en-GB" sz="2000" dirty="0" smtClean="0">
                <a:solidFill>
                  <a:schemeClr val="bg2">
                    <a:lumMod val="50000"/>
                  </a:schemeClr>
                </a:solidFill>
                <a:latin typeface="+mn-lt"/>
              </a:rPr>
              <a:t>: block of units is a set of units that are homogeneous in some sense</a:t>
            </a:r>
          </a:p>
          <a:p>
            <a:pPr marL="174625" indent="-174625">
              <a:buFont typeface="Arial" pitchFamily="34" charset="0"/>
              <a:buChar char="•"/>
            </a:pPr>
            <a:endParaRPr lang="en-GB" sz="2000" dirty="0" smtClean="0">
              <a:solidFill>
                <a:schemeClr val="bg2">
                  <a:lumMod val="50000"/>
                </a:schemeClr>
              </a:solidFill>
              <a:latin typeface="+mn-lt"/>
              <a:ea typeface="+mn-ea"/>
              <a:cs typeface="+mn-cs"/>
            </a:endParaRPr>
          </a:p>
          <a:p>
            <a:pPr marL="174625" indent="-174625">
              <a:buFont typeface="Arial" pitchFamily="34" charset="0"/>
              <a:buChar char="•"/>
            </a:pPr>
            <a:r>
              <a:rPr lang="en-GB" sz="2000" dirty="0" smtClean="0">
                <a:solidFill>
                  <a:schemeClr val="bg2">
                    <a:lumMod val="50000"/>
                  </a:schemeClr>
                </a:solidFill>
                <a:effectLst>
                  <a:outerShdw blurRad="38100" dist="38100" dir="2700000" algn="tl">
                    <a:srgbClr val="000000">
                      <a:alpha val="43137"/>
                    </a:srgbClr>
                  </a:outerShdw>
                </a:effectLst>
                <a:latin typeface="+mn-lt"/>
                <a:ea typeface="+mn-ea"/>
                <a:cs typeface="+mn-cs"/>
              </a:rPr>
              <a:t>Fixed factor</a:t>
            </a:r>
            <a:r>
              <a:rPr lang="en-GB" sz="2000" dirty="0" smtClean="0">
                <a:solidFill>
                  <a:schemeClr val="bg2">
                    <a:lumMod val="50000"/>
                  </a:schemeClr>
                </a:solidFill>
                <a:latin typeface="+mn-lt"/>
                <a:ea typeface="+mn-ea"/>
                <a:cs typeface="+mn-cs"/>
              </a:rPr>
              <a:t>: has a finite number of levels.</a:t>
            </a:r>
          </a:p>
          <a:p>
            <a:pPr marL="174625" indent="-174625">
              <a:buFont typeface="Arial" pitchFamily="34" charset="0"/>
              <a:buChar char="•"/>
            </a:pPr>
            <a:endParaRPr lang="en-GB" sz="2000" dirty="0" smtClean="0">
              <a:solidFill>
                <a:schemeClr val="bg2">
                  <a:lumMod val="50000"/>
                </a:schemeClr>
              </a:solidFill>
              <a:latin typeface="+mn-lt"/>
              <a:ea typeface="+mn-ea"/>
              <a:cs typeface="+mn-cs"/>
            </a:endParaRPr>
          </a:p>
          <a:p>
            <a:pPr marL="174625" indent="-174625">
              <a:buFont typeface="Arial" pitchFamily="34" charset="0"/>
              <a:buChar char="•"/>
            </a:pPr>
            <a:r>
              <a:rPr lang="en-GB" sz="2000" dirty="0" smtClean="0">
                <a:solidFill>
                  <a:schemeClr val="bg2">
                    <a:lumMod val="50000"/>
                  </a:schemeClr>
                </a:solidFill>
                <a:effectLst>
                  <a:outerShdw blurRad="38100" dist="38100" dir="2700000" algn="tl">
                    <a:srgbClr val="000000">
                      <a:alpha val="43137"/>
                    </a:srgbClr>
                  </a:outerShdw>
                </a:effectLst>
                <a:latin typeface="+mn-lt"/>
                <a:ea typeface="+mn-ea"/>
                <a:cs typeface="+mn-cs"/>
              </a:rPr>
              <a:t>Random factor</a:t>
            </a:r>
            <a:r>
              <a:rPr lang="en-GB" sz="2000" dirty="0" smtClean="0">
                <a:solidFill>
                  <a:schemeClr val="bg2">
                    <a:lumMod val="50000"/>
                  </a:schemeClr>
                </a:solidFill>
                <a:latin typeface="+mn-lt"/>
                <a:ea typeface="+mn-ea"/>
                <a:cs typeface="+mn-cs"/>
              </a:rPr>
              <a:t>: can have many levels and the experiment usually tests a sample of levels</a:t>
            </a:r>
          </a:p>
          <a:p>
            <a:pPr marL="174625" indent="-174625">
              <a:buFont typeface="Arial" pitchFamily="34" charset="0"/>
              <a:buChar char="•"/>
            </a:pPr>
            <a:endParaRPr lang="en-GB" sz="2000" dirty="0" smtClean="0">
              <a:solidFill>
                <a:schemeClr val="bg2">
                  <a:lumMod val="50000"/>
                </a:schemeClr>
              </a:solidFill>
              <a:latin typeface="+mn-lt"/>
              <a:ea typeface="+mn-ea"/>
              <a:cs typeface="+mn-cs"/>
            </a:endParaRPr>
          </a:p>
        </p:txBody>
      </p:sp>
      <p:pic>
        <p:nvPicPr>
          <p:cNvPr id="2" name="1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50009" y="108933"/>
            <a:ext cx="1549974" cy="76185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p:txBody>
          <a:bodyPr>
            <a:normAutofit fontScale="85000" lnSpcReduction="20000"/>
          </a:bodyPr>
          <a:lstStyle/>
          <a:p>
            <a:r>
              <a:rPr lang="en-GB" dirty="0" smtClean="0"/>
              <a:t>Variability types that play a role in an experiment:</a:t>
            </a:r>
            <a:endParaRPr lang="en-GB" dirty="0"/>
          </a:p>
        </p:txBody>
      </p:sp>
      <p:sp>
        <p:nvSpPr>
          <p:cNvPr id="3" name="2 Marcador de texto"/>
          <p:cNvSpPr>
            <a:spLocks noGrp="1"/>
          </p:cNvSpPr>
          <p:nvPr>
            <p:ph type="body" sz="quarter" idx="12"/>
          </p:nvPr>
        </p:nvSpPr>
        <p:spPr>
          <a:xfrm>
            <a:off x="1146240" y="2066337"/>
            <a:ext cx="8167442" cy="3580320"/>
          </a:xfrm>
        </p:spPr>
        <p:txBody>
          <a:bodyPr>
            <a:noAutofit/>
          </a:bodyPr>
          <a:lstStyle/>
          <a:p>
            <a:pPr indent="-250825" algn="just">
              <a:buFont typeface="Arial" pitchFamily="34" charset="0"/>
              <a:buChar char="•"/>
            </a:pPr>
            <a:r>
              <a:rPr lang="en-GB" sz="2400" dirty="0" smtClean="0">
                <a:effectLst>
                  <a:outerShdw blurRad="38100" dist="38100" dir="2700000" algn="tl">
                    <a:srgbClr val="000000">
                      <a:alpha val="43137"/>
                    </a:srgbClr>
                  </a:outerShdw>
                </a:effectLst>
              </a:rPr>
              <a:t>Planned systematic variability</a:t>
            </a:r>
            <a:r>
              <a:rPr lang="en-GB" sz="2400" dirty="0" smtClean="0"/>
              <a:t>: This is the differences in response between treatments applied.</a:t>
            </a:r>
          </a:p>
          <a:p>
            <a:pPr indent="-250825" algn="just">
              <a:buFont typeface="Arial" pitchFamily="34" charset="0"/>
              <a:buChar char="•"/>
            </a:pPr>
            <a:endParaRPr lang="en-GB" sz="2400" dirty="0" smtClean="0"/>
          </a:p>
          <a:p>
            <a:pPr indent="-250825" algn="just">
              <a:buFont typeface="Arial" pitchFamily="34" charset="0"/>
              <a:buChar char="•"/>
            </a:pPr>
            <a:r>
              <a:rPr lang="en-GB" sz="2400" dirty="0" smtClean="0">
                <a:effectLst>
                  <a:outerShdw blurRad="38100" dist="38100" dir="2700000" algn="tl">
                    <a:srgbClr val="000000">
                      <a:alpha val="43137"/>
                    </a:srgbClr>
                  </a:outerShdw>
                </a:effectLst>
              </a:rPr>
              <a:t>Noise variability: </a:t>
            </a:r>
            <a:r>
              <a:rPr lang="en-GB" sz="2400" dirty="0" smtClean="0"/>
              <a:t>random noise. Differences between two consecutives measures. We cannot avoid that.</a:t>
            </a:r>
          </a:p>
          <a:p>
            <a:pPr indent="-250825" algn="just">
              <a:buFont typeface="Arial" pitchFamily="34" charset="0"/>
              <a:buChar char="•"/>
            </a:pPr>
            <a:endParaRPr lang="en-GB" sz="2400" dirty="0" smtClean="0"/>
          </a:p>
          <a:p>
            <a:pPr indent="-250825" algn="just">
              <a:buFont typeface="Arial" pitchFamily="34" charset="0"/>
              <a:buChar char="•"/>
            </a:pPr>
            <a:r>
              <a:rPr lang="en-GB" sz="2400" dirty="0" smtClean="0">
                <a:effectLst>
                  <a:outerShdw blurRad="38100" dist="38100" dir="2700000" algn="tl">
                    <a:srgbClr val="000000">
                      <a:alpha val="43137"/>
                    </a:srgbClr>
                  </a:outerShdw>
                </a:effectLst>
              </a:rPr>
              <a:t>Systematic variability not planned: </a:t>
            </a:r>
            <a:r>
              <a:rPr lang="en-GB" sz="2400" dirty="0" smtClean="0"/>
              <a:t>Produce a systematic variation in the results. A priori the reason is not known. It can be avoided with the </a:t>
            </a:r>
            <a:r>
              <a:rPr lang="en-GB" sz="2400" i="1" dirty="0" smtClean="0"/>
              <a:t>randomization</a:t>
            </a:r>
            <a:r>
              <a:rPr lang="en-GB" sz="2400" dirty="0" smtClean="0"/>
              <a:t> and the </a:t>
            </a:r>
            <a:r>
              <a:rPr lang="en-GB" sz="2400" i="1" dirty="0" smtClean="0"/>
              <a:t>local control</a:t>
            </a:r>
            <a:r>
              <a:rPr lang="en-GB" sz="2400" dirty="0" smtClean="0"/>
              <a:t>.</a:t>
            </a:r>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3490" name="AutoShape 2" descr="data:image/jpeg;base64,/9j/4AAQSkZJRgABAQAAAQABAAD/2wCEAAkGBxAQEhAQDxQPDw8VFRQUFQ8VEA8QFBAQFRYWFxUVFBQYHCggGB0lGxQUITsjJSkrLi4uFx8zODMsNyotLisBCgoKDg0OGxAQGywkICQwLywtLywsLCwsMCwsLCwsLC8sLCwsLCwrLCwsLCwsLCwsLCwsLCwsLCwsLCwsLCssK//AABEIAMwAzAMBIgACEQEDEQH/xAAbAAEAAQUBAAAAAAAAAAAAAAAAAQIDBAUHBv/EAD0QAAICAAMFBQUGBQIHAAAAAAABAgMEERIFITFBUQYiUmFxEzJCgZEUI0NisfEzocHR8CRTNGOCssLS4f/EABoBAQADAQEBAAAAAAAAAAAAAAADBAUCAQb/xAAlEQACAgMAAQQBBQAAAAAAAAAAAQIDBBESMQUTIUGRIkJRgbH/2gAMAwEAAhEDEQA/AO4gAAAAAAAAAAAAAAAAAAAAAAAAAAEEkABmJj9pU0LVdOEF5vJv0XM03a3tIsLHRXlK+XBcoLxS/sc0xN07ZOdknOb4ybz/AGKORmKt8x+WUsjMVb5j8s6XZ23wSeWqb81CTRsNnbfwt701Wwc/A+7J+ifE5BpDhn/nB+RVj6jPf6kVI+oz3+pHcwc/7H9qpqyOGxL1xlurtfvKXgn1z5M6AmalVsbI9RNSq2NkekSACQkAAAAAAAAAAAAAAAAAAAAAAAABqtv7WWGrzS12yemutcZy9Ohm47FwphKyxqMYrNs8Dj9oSzeKt/izTVNT/Cr5N+ZUy8j2o6XllbJv9uOl5PNYydk7Jytbdjb1Z8c+nlkWtJelm2297bzb6tjSYTe3swW9staSdJd0lUYN7keHhg7QzVcpLNSj3otcVKO9ZfNHaNm3OdcJPi0cjWG9vdDDw35NSsfJRT3Rfq1l8mdewFOiuMfI2fT4NQbf2bHp8GoNv7MsAGgaAAAAAAAAAAAAAAAAAAAAAAIkweb7T7RlJrCUvKclnZNfhVc/RvgR22KuPTOLLFCO2avbO0ViZuTf+jpe7/n3Lh6pHmMZiJWzc5c+C5JckjM2jfF6aq91UN0V1fUw1E+dtsdknJmBda5y2WdJOkvaRpOCAtqBXi5OmMYQWrEWbox8K6vojJThTXLEW+6vdjznLkkuZs+xuw52zeKxC+8ny/24coL+Wfn6FrFx3bL58FzFx3ZLb8G27F9nVRDXPvTl3pSa3yk+LPW5EQjkskVG8kktI3EklpAAHp6AAAAAAAAAAAAAAAAAACCS3daoJyk0opZtvdkkG9AwNu7UWGrcvem+7CHOc3wR4jF2OuMot6r7Xqtn6/CvLkZuLx7um8VP3FnHD1vpzm11f6Gmm3Jtve3vbMHLyPclpeEYuXkdPSLOknSXNJOkplAt6TIweG1tuXdhFZylySIqpcmox3tkbSzunHAYdvSsniLF/wBifV/omS1VuyWkTU1OctInZeFltHERnk1hanlVHgpNbnN/Td+x0zC4eNcVGO7Iwth7Mjh64xikty3dMjZn0NVarjyjfqrVceUSACQkAAAAAAAAAAAAAAAAAAABGYAPK9pMb7ef2WDyqjlK+a6cVX8+L8ja9odqewryh3rpvTXDrJ835LieQvXs4+yT1Tb1WT5zm97zM7OyOVwijmX8rlf2WMZdrlu3RW6K6JFjSXNJOkxjGb29lvSTpLmkyKFCEZXXPTVBZtvm+SPUts9jHp6RYx+JeEqTitWKt7tUOifxPp1N92L2AqIa596yXelJ8ZTfF/5yyNN2W2dPGXPGXprPdXF/h1Z7t3V7n/jOiQgkslwN3Eo9uO35NzFpUI7K0AC4WgAAAAAAAAAAAAAAAAAAAQASWr7Ywi5yajFJtt8ki4eW7R4v29n2WL+6hlK+XXnGv57m/IhvtVUOmRW2KuOzW24t2yli57s+7RB/DX4sur4mC1nvfEyMRZqfRLcl0Rb0nzs5ucm2YFs3NlvSTpLmROk5Ixh6HOSiv2Rg4uP26+OFq34Wl998rLV8Pmlxf/0ydtYuVFcaat+Kv3L8kOcn6I9J2O2HHDVR5yy3t8ZSe9yfm28zSwcfb6Zp4eP+5m62bg1VBRXQywDYNUAAAAAAAg0229vww+UIp23NZqtcl1k/hRxOcYLcjic4wW5G6IzPA37Uxdjzla614K4xSX/U02yiraGLralC6U/yWKM4y+eWa+pRfqVSfzspP1GtPwzoOZJoNi9pq7mqrV7C/wD25PdPzhL4v1N8mXoWRmuovaLsLIzW4vZIAOzsAAAEElM5pJt7kt+fkAa3b20vs9bce9bJqNcPFN/0XH5HlXD2cdGeqbeqyfOc3veZfuxft7JYl+4s4UR/L8U/m/5JGM3zMHMv9yWl4Ri5d/b0ijSTkSCkUSMi8rIUwnfbuhBZ+rIoqc5KK/ZGsxn+uxMcNXvw1LWrpZauC9Fx/cnx6nZLSLGPU5yMzsfs2eJtljb09U/di/gq4xjly5N/LodCjHJZIx9n4RVQUUZR9FCCguUb0IqK0gADo6AAAAAANdt3aP2emVmWcuEY+Kb3RX1PEVVtZym3OyTznN8ZS/t5G/7cS/4Xw+1efroll/M0+Ri+ozbnz9IxvUJtz5+kU6RkVAzigWMRhYzWUl5p8HF8mnyZsdj9o7MO1Vi251cI4nnHorf/AG+pilNkFJNPJp8U9+aOqbZ0PqH4O6rp0vcfwdArsUkpRaae9Nb00VnO9l7UswDy71mEz3w4ypz4uHWPl9D3uDxULYRsrkpwks1Jc0fQ4+TC+O4m7RkRujtF8AFgsA832nxbm44SDyclqtkvgp6esuHpmbnaeNjRXO2XCK4c2+SXm3kjxuqSUp2fx7Xqn+VfDFeSWSKGdfxHleWU8u7mPIvmnko7ox3JdEi1mU5jMwzEb29lWZGZTmX6ZRhGV1m6uCz9WexW2exjt6MXbmNlh6o1Vb8Vf3YrwxfFv0R6LsbsSOHqj4ss23xlJ73J+bZ57spgJ4y+WNuXvfw0/gq5L55J/Q6LCOSyRv4lPtx2/LNzGq4jsqABbLQAAAAAAAABrO0GzPtVMq89M90oS8M1vizweHxklN0YheyxEeMXwkvFF80dOyNP2h7PU4yOU1ptj7l0d04PyfNeRUycVXLf2VcnGVq39nlsxmYEpXYWaoxiSk/cuXuWr15PyMzMwrK5QepGHOEoPUirMZlGYzODkqZb2fjp4GeuvOeGbzspW/R1nWv6cycyMz2EpVy7h5/09hOVcuonQMFjIXQjZXJShJZprmXzm2z9ozwE/aRzlhZv7ytfht/iRX6o9rtXa0YYf21bU3JJV5b9c5bo5H0FGVC2vv8Ajyb1OTGyvr8mn25i1ddo/BoylPpO74Y+eSefq0ai21ybb5k3fdxVWecvenLxWS3tv5sx8zEutdk3JmRkWuci5mRmUaiHIiK5epg5yUVxZh7Vf2q+GBqz9jXk7ZL4pco/N/18jIx+M+y0OaWd9ndrjz37kzd9h9hexhrn3rJZylLxSfF/09EjQwqOpdPwjRw6OntnotlYJUwjFJLcZoBtGuAAAAAAAAAAAACGSADB2tsunFVuq6KlF/WL5OL5M57jsLdgJqq9udEnlXf/AOM+jOoGNj8FXfCVVsVOElk00V78eNsdMgvojbHTOfahqMfaez7NnzUJt2YaT+7t4uL8E/P9SrWYNtUq5cyMKyqVcuZF3URqLeojURkZd1LenvT4rqjH2fVOmazm7KIapVVN7q5S4v8AzhmVaiNR4txe0/PkRbi9ouzszbb5lOotORGo9Bd1GRgq1JuUt1cVqk/LoYSebSW9ja85S9ngaX3577ZL4Yc/7L1XmSVVuctIkqg5y0i/sPDy2hiniJL7mDcak+GSzUpfqvqdLprUUkuCNZ2c2XHD1RiklkksuiNufRVVquKij6CutQjoAAkJAAAAAAAAAAAAAAAAQSADHx2CrvhKq2KnCSycWszmm1dmWYCahPOeHk/u7eOn8k/P9TqZi7QwNd9cqrYqUJLJp/qvMgvojbHTIL6I2x0zmeojWRtTZ9mCt9jZnKt76rfEvC/NFlzPn7K3XLmRgWQlCXLLrkQ5llzIczg4L2shyLDmVUpykor6+QPdGZXfGmE758IrurrI23YTY8pOWJu32WPU8/hXwx+S/nmaLD0PG4mFMf4FLWpcpT4pP03P6HU8DhlXBRRs4NHK7ZsYVOl2zISJANE0AAAAAAAAAAAAAAAAAAAAAAAADA2zsuvFVSqsW58Jc4y5SRyvG4WzD2Sou99b1LlZDlJHYzR9qdhRxlWSyjdHN1z6S6PyZVysdWx+PJVysdWx+PJzLWQ5lq1ShKULE42ReUovky3rMFxcXpmE009MvuZXbe4QyhvtsajFev7N+iMaM+pvexmzHibftEs9CzUOmnnL5tfReZPjU+7PX0T41Puz19HrOxWxFh6ot75PNuWW+UnvbZ6korgopJcEVn0CWlo30tLSAAPT0AAAAAAAAAAAAAAAAAAAAAAAAAAA872m7LVYzvr7u9LJWJcV0kuaOeY3s3jam06nNcpQlFp/J5NHZERJJle3Grs+WivbjV2fLRyHZvZLE3yStXsqucU9Upro5LdFemfyOobI2bGiCjFJZLpkZ0YpcCokrqjWtRRJXVGtaigACQkAAAAAAAAAAAAAAAAAAP/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63492" name="Picture 4" descr="signo aceptar Tick"/>
          <p:cNvPicPr>
            <a:picLocks noChangeAspect="1" noChangeArrowheads="1"/>
          </p:cNvPicPr>
          <p:nvPr/>
        </p:nvPicPr>
        <p:blipFill>
          <a:blip r:embed="rId2" cstate="print"/>
          <a:srcRect/>
          <a:stretch>
            <a:fillRect/>
          </a:stretch>
        </p:blipFill>
        <p:spPr bwMode="auto">
          <a:xfrm>
            <a:off x="334158" y="2199095"/>
            <a:ext cx="690498" cy="690498"/>
          </a:xfrm>
          <a:prstGeom prst="rect">
            <a:avLst/>
          </a:prstGeom>
          <a:noFill/>
        </p:spPr>
      </p:pic>
      <p:pic>
        <p:nvPicPr>
          <p:cNvPr id="63494" name="Picture 6" descr="http://pixabay.com/static/uploads/photo/2011/08/14/17/47/of-way-eighth-shield-8602_640.png"/>
          <p:cNvPicPr>
            <a:picLocks noChangeAspect="1" noChangeArrowheads="1"/>
          </p:cNvPicPr>
          <p:nvPr/>
        </p:nvPicPr>
        <p:blipFill>
          <a:blip r:embed="rId3" cstate="print"/>
          <a:srcRect/>
          <a:stretch>
            <a:fillRect/>
          </a:stretch>
        </p:blipFill>
        <p:spPr bwMode="auto">
          <a:xfrm>
            <a:off x="279317" y="3491346"/>
            <a:ext cx="835417" cy="694440"/>
          </a:xfrm>
          <a:prstGeom prst="rect">
            <a:avLst/>
          </a:prstGeom>
          <a:noFill/>
        </p:spPr>
      </p:pic>
      <p:pic>
        <p:nvPicPr>
          <p:cNvPr id="8" name="Picture 6" descr="http://pixabay.com/static/uploads/photo/2011/08/14/17/47/of-way-eighth-shield-8602_640.png"/>
          <p:cNvPicPr>
            <a:picLocks noChangeAspect="1" noChangeArrowheads="1"/>
          </p:cNvPicPr>
          <p:nvPr/>
        </p:nvPicPr>
        <p:blipFill>
          <a:blip r:embed="rId3" cstate="print"/>
          <a:srcRect/>
          <a:stretch>
            <a:fillRect/>
          </a:stretch>
        </p:blipFill>
        <p:spPr bwMode="auto">
          <a:xfrm>
            <a:off x="343391" y="4786867"/>
            <a:ext cx="835417" cy="69444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Marcador de texto"/>
          <p:cNvSpPr>
            <a:spLocks noGrp="1"/>
          </p:cNvSpPr>
          <p:nvPr>
            <p:ph type="body" sz="quarter" idx="11"/>
          </p:nvPr>
        </p:nvSpPr>
        <p:spPr>
          <a:xfrm>
            <a:off x="654972" y="1464634"/>
            <a:ext cx="8751075" cy="424638"/>
          </a:xfrm>
        </p:spPr>
        <p:txBody>
          <a:bodyPr>
            <a:normAutofit fontScale="85000" lnSpcReduction="20000"/>
          </a:bodyPr>
          <a:lstStyle/>
          <a:p>
            <a:r>
              <a:rPr lang="en-GB" dirty="0" smtClean="0"/>
              <a:t>Important steps to define before begin the experiment:</a:t>
            </a:r>
            <a:endParaRPr lang="en-GB" dirty="0"/>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CuadroTexto"/>
          <p:cNvSpPr txBox="1"/>
          <p:nvPr/>
        </p:nvSpPr>
        <p:spPr>
          <a:xfrm>
            <a:off x="980388" y="2055043"/>
            <a:ext cx="7984503" cy="3647152"/>
          </a:xfrm>
          <a:prstGeom prst="rect">
            <a:avLst/>
          </a:prstGeom>
          <a:noFill/>
        </p:spPr>
        <p:txBody>
          <a:bodyPr wrap="square" rtlCol="0">
            <a:spAutoFit/>
          </a:bodyPr>
          <a:lstStyle/>
          <a:p>
            <a:pPr marL="84138" indent="-84138" algn="just">
              <a:lnSpc>
                <a:spcPct val="150000"/>
              </a:lnSpc>
              <a:buFont typeface="Arial" pitchFamily="34" charset="0"/>
              <a:buChar char="•"/>
            </a:pPr>
            <a:r>
              <a:rPr lang="en-GB" sz="2200" dirty="0" smtClean="0">
                <a:solidFill>
                  <a:schemeClr val="bg2">
                    <a:lumMod val="50000"/>
                  </a:schemeClr>
                </a:solidFill>
                <a:latin typeface="+mn-lt"/>
              </a:rPr>
              <a:t> Establish main </a:t>
            </a:r>
            <a:r>
              <a:rPr lang="en-GB" sz="2200" b="1" dirty="0" smtClean="0">
                <a:solidFill>
                  <a:schemeClr val="bg2">
                    <a:lumMod val="50000"/>
                  </a:schemeClr>
                </a:solidFill>
                <a:latin typeface="+mn-lt"/>
              </a:rPr>
              <a:t>objectives</a:t>
            </a:r>
            <a:r>
              <a:rPr lang="en-GB" sz="2200" dirty="0" smtClean="0">
                <a:solidFill>
                  <a:schemeClr val="bg2">
                    <a:lumMod val="50000"/>
                  </a:schemeClr>
                </a:solidFill>
                <a:latin typeface="+mn-lt"/>
              </a:rPr>
              <a:t> of the experiment. </a:t>
            </a:r>
            <a:endParaRPr lang="en-GB" sz="2200" dirty="0" smtClean="0">
              <a:solidFill>
                <a:schemeClr val="bg2">
                  <a:lumMod val="50000"/>
                </a:schemeClr>
              </a:solidFill>
              <a:latin typeface="+mn-lt"/>
            </a:endParaRPr>
          </a:p>
          <a:p>
            <a:pPr marL="84138" indent="-84138" algn="just">
              <a:lnSpc>
                <a:spcPct val="150000"/>
              </a:lnSpc>
              <a:buFont typeface="Arial" pitchFamily="34" charset="0"/>
              <a:buChar char="•"/>
            </a:pPr>
            <a:r>
              <a:rPr lang="en-GB" sz="2200" dirty="0" smtClean="0">
                <a:solidFill>
                  <a:schemeClr val="bg2">
                    <a:lumMod val="50000"/>
                  </a:schemeClr>
                </a:solidFill>
                <a:latin typeface="+mn-lt"/>
              </a:rPr>
              <a:t> Identify </a:t>
            </a:r>
            <a:r>
              <a:rPr lang="en-GB" sz="2200" dirty="0" smtClean="0">
                <a:solidFill>
                  <a:schemeClr val="bg2">
                    <a:lumMod val="50000"/>
                  </a:schemeClr>
                </a:solidFill>
                <a:latin typeface="+mn-lt"/>
              </a:rPr>
              <a:t>all </a:t>
            </a:r>
            <a:r>
              <a:rPr lang="en-GB" sz="2200" b="1" dirty="0" smtClean="0">
                <a:solidFill>
                  <a:schemeClr val="bg2">
                    <a:lumMod val="50000"/>
                  </a:schemeClr>
                </a:solidFill>
                <a:latin typeface="+mn-lt"/>
              </a:rPr>
              <a:t>noise</a:t>
            </a:r>
            <a:r>
              <a:rPr lang="en-GB" sz="2200" dirty="0" smtClean="0">
                <a:solidFill>
                  <a:schemeClr val="bg2">
                    <a:lumMod val="50000"/>
                  </a:schemeClr>
                </a:solidFill>
                <a:latin typeface="+mn-lt"/>
              </a:rPr>
              <a:t> </a:t>
            </a:r>
            <a:r>
              <a:rPr lang="en-GB" sz="2200" dirty="0" smtClean="0">
                <a:solidFill>
                  <a:schemeClr val="bg2">
                    <a:lumMod val="50000"/>
                  </a:schemeClr>
                </a:solidFill>
                <a:latin typeface="+mn-lt"/>
              </a:rPr>
              <a:t>sources: Treatment, experimental errors,…</a:t>
            </a:r>
          </a:p>
          <a:p>
            <a:pPr marL="84138" indent="-84138" algn="just">
              <a:lnSpc>
                <a:spcPct val="150000"/>
              </a:lnSpc>
              <a:buFont typeface="Arial" pitchFamily="34" charset="0"/>
              <a:buChar char="•"/>
            </a:pPr>
            <a:r>
              <a:rPr lang="en-GB" sz="2200" b="1" dirty="0" smtClean="0">
                <a:solidFill>
                  <a:schemeClr val="bg2">
                    <a:lumMod val="50000"/>
                  </a:schemeClr>
                </a:solidFill>
                <a:latin typeface="+mn-lt"/>
              </a:rPr>
              <a:t> Allocate</a:t>
            </a:r>
            <a:r>
              <a:rPr lang="en-GB" sz="2200" dirty="0" smtClean="0">
                <a:solidFill>
                  <a:schemeClr val="bg2">
                    <a:lumMod val="50000"/>
                  </a:schemeClr>
                </a:solidFill>
                <a:latin typeface="+mn-lt"/>
              </a:rPr>
              <a:t> </a:t>
            </a:r>
            <a:r>
              <a:rPr lang="en-GB" sz="2200" dirty="0" smtClean="0">
                <a:solidFill>
                  <a:schemeClr val="bg2">
                    <a:lumMod val="50000"/>
                  </a:schemeClr>
                </a:solidFill>
                <a:latin typeface="+mn-lt"/>
              </a:rPr>
              <a:t>each experimental unit </a:t>
            </a:r>
            <a:r>
              <a:rPr lang="en-GB" sz="2000" dirty="0" smtClean="0">
                <a:solidFill>
                  <a:schemeClr val="bg2">
                    <a:lumMod val="50000"/>
                  </a:schemeClr>
                </a:solidFill>
              </a:rPr>
              <a:t>within </a:t>
            </a:r>
            <a:r>
              <a:rPr lang="en-GB" sz="2200" dirty="0" smtClean="0">
                <a:solidFill>
                  <a:schemeClr val="bg2">
                    <a:lumMod val="50000"/>
                  </a:schemeClr>
                </a:solidFill>
                <a:latin typeface="+mn-lt"/>
              </a:rPr>
              <a:t>each </a:t>
            </a:r>
            <a:r>
              <a:rPr lang="en-GB" sz="2200" dirty="0" smtClean="0">
                <a:solidFill>
                  <a:schemeClr val="bg2">
                    <a:lumMod val="50000"/>
                  </a:schemeClr>
                </a:solidFill>
                <a:latin typeface="+mn-lt"/>
              </a:rPr>
              <a:t>treatment</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Clarify </a:t>
            </a:r>
            <a:r>
              <a:rPr lang="en-GB" sz="2200" dirty="0" smtClean="0">
                <a:solidFill>
                  <a:schemeClr val="bg2">
                    <a:lumMod val="50000"/>
                  </a:schemeClr>
                </a:solidFill>
                <a:latin typeface="+mn-lt"/>
              </a:rPr>
              <a:t>the </a:t>
            </a:r>
            <a:r>
              <a:rPr lang="en-GB" sz="2200" b="1" dirty="0" smtClean="0">
                <a:solidFill>
                  <a:schemeClr val="bg2">
                    <a:lumMod val="50000"/>
                  </a:schemeClr>
                </a:solidFill>
                <a:latin typeface="+mn-lt"/>
              </a:rPr>
              <a:t>type of response</a:t>
            </a:r>
            <a:r>
              <a:rPr lang="en-GB" sz="2200" dirty="0" smtClean="0">
                <a:solidFill>
                  <a:schemeClr val="bg2">
                    <a:lumMod val="50000"/>
                  </a:schemeClr>
                </a:solidFill>
                <a:latin typeface="+mn-lt"/>
              </a:rPr>
              <a:t> expected in each treatment</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Determinate </a:t>
            </a:r>
            <a:r>
              <a:rPr lang="en-GB" sz="2200" dirty="0" smtClean="0">
                <a:solidFill>
                  <a:schemeClr val="bg2">
                    <a:lumMod val="50000"/>
                  </a:schemeClr>
                </a:solidFill>
                <a:latin typeface="+mn-lt"/>
              </a:rPr>
              <a:t>the </a:t>
            </a:r>
            <a:r>
              <a:rPr lang="en-GB" sz="2200" b="1" dirty="0" smtClean="0">
                <a:solidFill>
                  <a:schemeClr val="bg2">
                    <a:lumMod val="50000"/>
                  </a:schemeClr>
                </a:solidFill>
                <a:latin typeface="+mn-lt"/>
              </a:rPr>
              <a:t>number</a:t>
            </a:r>
            <a:r>
              <a:rPr lang="en-GB" sz="2200" dirty="0" smtClean="0">
                <a:solidFill>
                  <a:schemeClr val="bg2">
                    <a:lumMod val="50000"/>
                  </a:schemeClr>
                </a:solidFill>
                <a:latin typeface="+mn-lt"/>
              </a:rPr>
              <a:t> of individuals in each group </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Run </a:t>
            </a:r>
            <a:r>
              <a:rPr lang="en-GB" sz="2200" dirty="0" smtClean="0">
                <a:solidFill>
                  <a:schemeClr val="bg2">
                    <a:lumMod val="50000"/>
                  </a:schemeClr>
                </a:solidFill>
                <a:latin typeface="+mn-lt"/>
              </a:rPr>
              <a:t>a </a:t>
            </a:r>
            <a:r>
              <a:rPr lang="en-GB" sz="2200" b="1" dirty="0" smtClean="0">
                <a:solidFill>
                  <a:schemeClr val="bg2">
                    <a:lumMod val="50000"/>
                  </a:schemeClr>
                </a:solidFill>
                <a:latin typeface="+mn-lt"/>
              </a:rPr>
              <a:t>pilot </a:t>
            </a:r>
            <a:r>
              <a:rPr lang="en-GB" sz="2200" b="1" dirty="0" smtClean="0">
                <a:solidFill>
                  <a:schemeClr val="bg2">
                    <a:lumMod val="50000"/>
                  </a:schemeClr>
                </a:solidFill>
                <a:latin typeface="+mn-lt"/>
              </a:rPr>
              <a:t>study</a:t>
            </a:r>
          </a:p>
          <a:p>
            <a:pPr marL="84138" indent="-84138" algn="just">
              <a:lnSpc>
                <a:spcPct val="150000"/>
              </a:lnSpc>
              <a:buFont typeface="Arial" pitchFamily="34" charset="0"/>
              <a:buChar char="•"/>
            </a:pPr>
            <a:r>
              <a:rPr lang="en-GB" sz="2200" b="1" dirty="0">
                <a:solidFill>
                  <a:schemeClr val="bg2">
                    <a:lumMod val="50000"/>
                  </a:schemeClr>
                </a:solidFill>
                <a:latin typeface="+mn-lt"/>
              </a:rPr>
              <a:t> </a:t>
            </a:r>
            <a:r>
              <a:rPr lang="en-GB" sz="2200" dirty="0">
                <a:solidFill>
                  <a:schemeClr val="bg2">
                    <a:lumMod val="50000"/>
                  </a:schemeClr>
                </a:solidFill>
              </a:rPr>
              <a:t>How the </a:t>
            </a:r>
            <a:r>
              <a:rPr lang="en-GB" sz="2200" b="1" dirty="0">
                <a:solidFill>
                  <a:schemeClr val="bg2">
                    <a:lumMod val="50000"/>
                  </a:schemeClr>
                </a:solidFill>
              </a:rPr>
              <a:t>data</a:t>
            </a:r>
            <a:r>
              <a:rPr lang="en-GB" sz="2200" dirty="0">
                <a:solidFill>
                  <a:schemeClr val="bg2">
                    <a:lumMod val="50000"/>
                  </a:schemeClr>
                </a:solidFill>
              </a:rPr>
              <a:t> will be statistically analysed</a:t>
            </a:r>
            <a:r>
              <a:rPr lang="en-GB" sz="2200" dirty="0" smtClean="0">
                <a:solidFill>
                  <a:schemeClr val="bg2">
                    <a:lumMod val="50000"/>
                  </a:schemeClr>
                </a:solidFill>
              </a:rPr>
              <a:t>.</a:t>
            </a:r>
            <a:endParaRPr lang="en-GB" sz="2200" dirty="0">
              <a:solidFill>
                <a:schemeClr val="bg2">
                  <a:lumMod val="50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Marcador de texto"/>
          <p:cNvSpPr>
            <a:spLocks noGrp="1"/>
          </p:cNvSpPr>
          <p:nvPr>
            <p:ph type="body" sz="quarter" idx="11"/>
          </p:nvPr>
        </p:nvSpPr>
        <p:spPr>
          <a:xfrm>
            <a:off x="654972" y="1464634"/>
            <a:ext cx="8751075" cy="424638"/>
          </a:xfrm>
        </p:spPr>
        <p:txBody>
          <a:bodyPr>
            <a:normAutofit fontScale="85000" lnSpcReduction="20000"/>
          </a:bodyPr>
          <a:lstStyle/>
          <a:p>
            <a:r>
              <a:rPr lang="en-GB" dirty="0" smtClean="0"/>
              <a:t>Important steps to define before begin the experiment:</a:t>
            </a:r>
            <a:endParaRPr lang="en-GB" dirty="0"/>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CuadroTexto"/>
          <p:cNvSpPr txBox="1"/>
          <p:nvPr/>
        </p:nvSpPr>
        <p:spPr>
          <a:xfrm>
            <a:off x="980388" y="2055043"/>
            <a:ext cx="7984503" cy="3647152"/>
          </a:xfrm>
          <a:prstGeom prst="rect">
            <a:avLst/>
          </a:prstGeom>
          <a:noFill/>
        </p:spPr>
        <p:txBody>
          <a:bodyPr wrap="square" rtlCol="0">
            <a:spAutoFit/>
          </a:bodyPr>
          <a:lstStyle/>
          <a:p>
            <a:pPr marL="84138" indent="-84138" algn="just">
              <a:lnSpc>
                <a:spcPct val="150000"/>
              </a:lnSpc>
              <a:buFont typeface="Arial" pitchFamily="34" charset="0"/>
              <a:buChar char="•"/>
            </a:pPr>
            <a:r>
              <a:rPr lang="en-GB" sz="2200" dirty="0" smtClean="0">
                <a:solidFill>
                  <a:schemeClr val="bg2">
                    <a:lumMod val="50000"/>
                  </a:schemeClr>
                </a:solidFill>
                <a:latin typeface="+mn-lt"/>
              </a:rPr>
              <a:t> Establish main </a:t>
            </a:r>
            <a:r>
              <a:rPr lang="en-GB" sz="2200" b="1" dirty="0" smtClean="0">
                <a:solidFill>
                  <a:schemeClr val="bg2">
                    <a:lumMod val="50000"/>
                  </a:schemeClr>
                </a:solidFill>
                <a:latin typeface="+mn-lt"/>
              </a:rPr>
              <a:t>objectives</a:t>
            </a:r>
            <a:r>
              <a:rPr lang="en-GB" sz="2200" dirty="0" smtClean="0">
                <a:solidFill>
                  <a:schemeClr val="bg2">
                    <a:lumMod val="50000"/>
                  </a:schemeClr>
                </a:solidFill>
                <a:latin typeface="+mn-lt"/>
              </a:rPr>
              <a:t> of the experiment</a:t>
            </a:r>
            <a:r>
              <a:rPr lang="en-GB" sz="2200" dirty="0" smtClean="0">
                <a:solidFill>
                  <a:schemeClr val="bg2">
                    <a:lumMod val="50000"/>
                  </a:schemeClr>
                </a:solidFill>
                <a:latin typeface="+mn-lt"/>
              </a:rPr>
              <a:t>.</a:t>
            </a:r>
            <a:endParaRPr lang="en-GB" sz="2200" dirty="0" smtClean="0">
              <a:solidFill>
                <a:schemeClr val="bg2">
                  <a:lumMod val="50000"/>
                </a:schemeClr>
              </a:solidFill>
              <a:latin typeface="+mn-lt"/>
            </a:endParaRPr>
          </a:p>
          <a:p>
            <a:pPr marL="84138" indent="-84138" algn="just">
              <a:lnSpc>
                <a:spcPct val="150000"/>
              </a:lnSpc>
              <a:buFont typeface="Arial" pitchFamily="34" charset="0"/>
              <a:buChar char="•"/>
            </a:pPr>
            <a:r>
              <a:rPr lang="en-GB" sz="2200" dirty="0" smtClean="0">
                <a:solidFill>
                  <a:schemeClr val="bg2">
                    <a:lumMod val="50000"/>
                  </a:schemeClr>
                </a:solidFill>
                <a:latin typeface="+mn-lt"/>
              </a:rPr>
              <a:t> Identify </a:t>
            </a:r>
            <a:r>
              <a:rPr lang="en-GB" sz="2200" dirty="0" smtClean="0">
                <a:solidFill>
                  <a:schemeClr val="bg2">
                    <a:lumMod val="50000"/>
                  </a:schemeClr>
                </a:solidFill>
                <a:latin typeface="+mn-lt"/>
              </a:rPr>
              <a:t>all </a:t>
            </a:r>
            <a:r>
              <a:rPr lang="en-GB" sz="2200" b="1" dirty="0" smtClean="0">
                <a:solidFill>
                  <a:schemeClr val="bg2">
                    <a:lumMod val="50000"/>
                  </a:schemeClr>
                </a:solidFill>
                <a:latin typeface="+mn-lt"/>
              </a:rPr>
              <a:t>noise</a:t>
            </a:r>
            <a:r>
              <a:rPr lang="en-GB" sz="2200" dirty="0" smtClean="0">
                <a:solidFill>
                  <a:schemeClr val="bg2">
                    <a:lumMod val="50000"/>
                  </a:schemeClr>
                </a:solidFill>
                <a:latin typeface="+mn-lt"/>
              </a:rPr>
              <a:t> </a:t>
            </a:r>
            <a:r>
              <a:rPr lang="en-GB" sz="2200" dirty="0" smtClean="0">
                <a:solidFill>
                  <a:schemeClr val="bg2">
                    <a:lumMod val="50000"/>
                  </a:schemeClr>
                </a:solidFill>
                <a:latin typeface="+mn-lt"/>
              </a:rPr>
              <a:t>sources: Treatment, experimental errors,…</a:t>
            </a:r>
          </a:p>
          <a:p>
            <a:pPr marL="84138" indent="-84138" algn="just">
              <a:lnSpc>
                <a:spcPct val="150000"/>
              </a:lnSpc>
              <a:buFont typeface="Arial" pitchFamily="34" charset="0"/>
              <a:buChar char="•"/>
            </a:pPr>
            <a:r>
              <a:rPr lang="en-GB" sz="2200" b="1" dirty="0" smtClean="0">
                <a:solidFill>
                  <a:schemeClr val="bg2">
                    <a:lumMod val="50000"/>
                  </a:schemeClr>
                </a:solidFill>
                <a:latin typeface="+mn-lt"/>
              </a:rPr>
              <a:t> Allocate</a:t>
            </a:r>
            <a:r>
              <a:rPr lang="en-GB" sz="2200" dirty="0" smtClean="0">
                <a:solidFill>
                  <a:schemeClr val="bg2">
                    <a:lumMod val="50000"/>
                  </a:schemeClr>
                </a:solidFill>
                <a:latin typeface="+mn-lt"/>
              </a:rPr>
              <a:t> </a:t>
            </a:r>
            <a:r>
              <a:rPr lang="en-GB" sz="2200" dirty="0" smtClean="0">
                <a:solidFill>
                  <a:schemeClr val="bg2">
                    <a:lumMod val="50000"/>
                  </a:schemeClr>
                </a:solidFill>
                <a:latin typeface="+mn-lt"/>
              </a:rPr>
              <a:t>each experimental unit </a:t>
            </a:r>
            <a:r>
              <a:rPr lang="en-GB" sz="2000" dirty="0" smtClean="0">
                <a:solidFill>
                  <a:schemeClr val="bg2">
                    <a:lumMod val="50000"/>
                  </a:schemeClr>
                </a:solidFill>
              </a:rPr>
              <a:t>within </a:t>
            </a:r>
            <a:r>
              <a:rPr lang="en-GB" sz="2200" dirty="0" smtClean="0">
                <a:solidFill>
                  <a:schemeClr val="bg2">
                    <a:lumMod val="50000"/>
                  </a:schemeClr>
                </a:solidFill>
                <a:latin typeface="+mn-lt"/>
              </a:rPr>
              <a:t>each </a:t>
            </a:r>
            <a:r>
              <a:rPr lang="en-GB" sz="2200" dirty="0" smtClean="0">
                <a:solidFill>
                  <a:schemeClr val="bg2">
                    <a:lumMod val="50000"/>
                  </a:schemeClr>
                </a:solidFill>
                <a:latin typeface="+mn-lt"/>
              </a:rPr>
              <a:t>treatment</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Clarify </a:t>
            </a:r>
            <a:r>
              <a:rPr lang="en-GB" sz="2200" dirty="0" smtClean="0">
                <a:solidFill>
                  <a:schemeClr val="bg2">
                    <a:lumMod val="50000"/>
                  </a:schemeClr>
                </a:solidFill>
                <a:latin typeface="+mn-lt"/>
              </a:rPr>
              <a:t>the </a:t>
            </a:r>
            <a:r>
              <a:rPr lang="en-GB" sz="2200" b="1" dirty="0" smtClean="0">
                <a:solidFill>
                  <a:schemeClr val="bg2">
                    <a:lumMod val="50000"/>
                  </a:schemeClr>
                </a:solidFill>
                <a:latin typeface="+mn-lt"/>
              </a:rPr>
              <a:t>type of response</a:t>
            </a:r>
            <a:r>
              <a:rPr lang="en-GB" sz="2200" dirty="0" smtClean="0">
                <a:solidFill>
                  <a:schemeClr val="bg2">
                    <a:lumMod val="50000"/>
                  </a:schemeClr>
                </a:solidFill>
                <a:latin typeface="+mn-lt"/>
              </a:rPr>
              <a:t> expected in each treatment</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Determinate </a:t>
            </a:r>
            <a:r>
              <a:rPr lang="en-GB" sz="2200" dirty="0" smtClean="0">
                <a:solidFill>
                  <a:schemeClr val="bg2">
                    <a:lumMod val="50000"/>
                  </a:schemeClr>
                </a:solidFill>
                <a:latin typeface="+mn-lt"/>
              </a:rPr>
              <a:t>the </a:t>
            </a:r>
            <a:r>
              <a:rPr lang="en-GB" sz="2200" b="1" dirty="0" smtClean="0">
                <a:solidFill>
                  <a:schemeClr val="bg2">
                    <a:lumMod val="50000"/>
                  </a:schemeClr>
                </a:solidFill>
                <a:latin typeface="+mn-lt"/>
              </a:rPr>
              <a:t>number</a:t>
            </a:r>
            <a:r>
              <a:rPr lang="en-GB" sz="2200" dirty="0" smtClean="0">
                <a:solidFill>
                  <a:schemeClr val="bg2">
                    <a:lumMod val="50000"/>
                  </a:schemeClr>
                </a:solidFill>
                <a:latin typeface="+mn-lt"/>
              </a:rPr>
              <a:t> of individuals in each group </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Run </a:t>
            </a:r>
            <a:r>
              <a:rPr lang="en-GB" sz="2200" dirty="0" smtClean="0">
                <a:solidFill>
                  <a:schemeClr val="bg2">
                    <a:lumMod val="50000"/>
                  </a:schemeClr>
                </a:solidFill>
                <a:latin typeface="+mn-lt"/>
              </a:rPr>
              <a:t>a </a:t>
            </a:r>
            <a:r>
              <a:rPr lang="en-GB" sz="2200" b="1" dirty="0" smtClean="0">
                <a:solidFill>
                  <a:schemeClr val="bg2">
                    <a:lumMod val="50000"/>
                  </a:schemeClr>
                </a:solidFill>
                <a:latin typeface="+mn-lt"/>
              </a:rPr>
              <a:t>pilot </a:t>
            </a:r>
            <a:r>
              <a:rPr lang="en-GB" sz="2200" b="1" dirty="0" smtClean="0">
                <a:solidFill>
                  <a:schemeClr val="bg2">
                    <a:lumMod val="50000"/>
                  </a:schemeClr>
                </a:solidFill>
                <a:latin typeface="+mn-lt"/>
              </a:rPr>
              <a:t>study</a:t>
            </a:r>
          </a:p>
          <a:p>
            <a:pPr marL="84138" indent="-84138" algn="just">
              <a:lnSpc>
                <a:spcPct val="150000"/>
              </a:lnSpc>
              <a:buFont typeface="Arial" pitchFamily="34" charset="0"/>
              <a:buChar char="•"/>
            </a:pPr>
            <a:r>
              <a:rPr lang="en-GB" sz="2200" dirty="0" smtClean="0">
                <a:solidFill>
                  <a:schemeClr val="bg2">
                    <a:lumMod val="50000"/>
                  </a:schemeClr>
                </a:solidFill>
              </a:rPr>
              <a:t> How </a:t>
            </a:r>
            <a:r>
              <a:rPr lang="en-GB" sz="2200" dirty="0">
                <a:solidFill>
                  <a:schemeClr val="bg2">
                    <a:lumMod val="50000"/>
                  </a:schemeClr>
                </a:solidFill>
              </a:rPr>
              <a:t>the </a:t>
            </a:r>
            <a:r>
              <a:rPr lang="en-GB" sz="2200" b="1" dirty="0">
                <a:solidFill>
                  <a:schemeClr val="bg2">
                    <a:lumMod val="50000"/>
                  </a:schemeClr>
                </a:solidFill>
              </a:rPr>
              <a:t>data</a:t>
            </a:r>
            <a:r>
              <a:rPr lang="en-GB" sz="2200" dirty="0">
                <a:solidFill>
                  <a:schemeClr val="bg2">
                    <a:lumMod val="50000"/>
                  </a:schemeClr>
                </a:solidFill>
              </a:rPr>
              <a:t> will be statistically analysed</a:t>
            </a:r>
            <a:r>
              <a:rPr lang="en-GB" sz="2200" dirty="0" smtClean="0">
                <a:solidFill>
                  <a:schemeClr val="bg2">
                    <a:lumMod val="50000"/>
                  </a:schemeClr>
                </a:solidFill>
              </a:rPr>
              <a:t>.</a:t>
            </a:r>
            <a:endParaRPr lang="en-GB" sz="2200" dirty="0">
              <a:solidFill>
                <a:schemeClr val="bg2">
                  <a:lumMod val="50000"/>
                </a:schemeClr>
              </a:solidFill>
            </a:endParaRPr>
          </a:p>
        </p:txBody>
      </p:sp>
      <p:sp>
        <p:nvSpPr>
          <p:cNvPr id="7" name="6 Flecha curvada hacia abajo"/>
          <p:cNvSpPr/>
          <p:nvPr/>
        </p:nvSpPr>
        <p:spPr bwMode="auto">
          <a:xfrm rot="16200000">
            <a:off x="395293" y="4329818"/>
            <a:ext cx="641025" cy="586957"/>
          </a:xfrm>
          <a:prstGeom prst="curvedDownArrow">
            <a:avLst>
              <a:gd name="adj1" fmla="val 25000"/>
              <a:gd name="adj2" fmla="val 48137"/>
              <a:gd name="adj3" fmla="val 32407"/>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Marcador de texto"/>
          <p:cNvSpPr>
            <a:spLocks noGrp="1"/>
          </p:cNvSpPr>
          <p:nvPr>
            <p:ph type="body" sz="quarter" idx="11"/>
          </p:nvPr>
        </p:nvSpPr>
        <p:spPr>
          <a:xfrm>
            <a:off x="654972" y="1464634"/>
            <a:ext cx="8751075" cy="424638"/>
          </a:xfrm>
        </p:spPr>
        <p:txBody>
          <a:bodyPr>
            <a:normAutofit fontScale="85000" lnSpcReduction="20000"/>
          </a:bodyPr>
          <a:lstStyle/>
          <a:p>
            <a:r>
              <a:rPr lang="en-GB" dirty="0" smtClean="0"/>
              <a:t>Important steps to define before begin the experiment:</a:t>
            </a:r>
            <a:endParaRPr lang="en-GB" dirty="0"/>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CuadroTexto"/>
          <p:cNvSpPr txBox="1"/>
          <p:nvPr/>
        </p:nvSpPr>
        <p:spPr>
          <a:xfrm>
            <a:off x="980388" y="2055043"/>
            <a:ext cx="7984503" cy="3647152"/>
          </a:xfrm>
          <a:prstGeom prst="rect">
            <a:avLst/>
          </a:prstGeom>
          <a:noFill/>
        </p:spPr>
        <p:txBody>
          <a:bodyPr wrap="square" rtlCol="0">
            <a:spAutoFit/>
          </a:bodyPr>
          <a:lstStyle/>
          <a:p>
            <a:pPr marL="84138" indent="-84138" algn="just">
              <a:lnSpc>
                <a:spcPct val="150000"/>
              </a:lnSpc>
              <a:buFont typeface="Arial" pitchFamily="34" charset="0"/>
              <a:buChar char="•"/>
            </a:pPr>
            <a:r>
              <a:rPr lang="en-GB" sz="2200" dirty="0" smtClean="0">
                <a:solidFill>
                  <a:schemeClr val="bg2">
                    <a:lumMod val="50000"/>
                  </a:schemeClr>
                </a:solidFill>
                <a:latin typeface="+mn-lt"/>
              </a:rPr>
              <a:t> Establish main </a:t>
            </a:r>
            <a:r>
              <a:rPr lang="en-GB" sz="2200" b="1" dirty="0" smtClean="0">
                <a:solidFill>
                  <a:schemeClr val="bg2">
                    <a:lumMod val="50000"/>
                  </a:schemeClr>
                </a:solidFill>
                <a:latin typeface="+mn-lt"/>
              </a:rPr>
              <a:t>objectives</a:t>
            </a:r>
            <a:r>
              <a:rPr lang="en-GB" sz="2200" dirty="0" smtClean="0">
                <a:solidFill>
                  <a:schemeClr val="bg2">
                    <a:lumMod val="50000"/>
                  </a:schemeClr>
                </a:solidFill>
                <a:latin typeface="+mn-lt"/>
              </a:rPr>
              <a:t> of the experiment. </a:t>
            </a:r>
            <a:endParaRPr lang="en-GB" sz="2200" dirty="0" smtClean="0">
              <a:solidFill>
                <a:schemeClr val="bg2">
                  <a:lumMod val="50000"/>
                </a:schemeClr>
              </a:solidFill>
              <a:latin typeface="+mn-lt"/>
            </a:endParaRPr>
          </a:p>
          <a:p>
            <a:pPr marL="84138" indent="-84138" algn="just">
              <a:lnSpc>
                <a:spcPct val="150000"/>
              </a:lnSpc>
              <a:buFont typeface="Arial" pitchFamily="34" charset="0"/>
              <a:buChar char="•"/>
            </a:pPr>
            <a:r>
              <a:rPr lang="en-GB" sz="2200" dirty="0" smtClean="0">
                <a:solidFill>
                  <a:schemeClr val="bg2">
                    <a:lumMod val="50000"/>
                  </a:schemeClr>
                </a:solidFill>
                <a:latin typeface="+mn-lt"/>
              </a:rPr>
              <a:t> Identify </a:t>
            </a:r>
            <a:r>
              <a:rPr lang="en-GB" sz="2200" dirty="0" smtClean="0">
                <a:solidFill>
                  <a:schemeClr val="bg2">
                    <a:lumMod val="50000"/>
                  </a:schemeClr>
                </a:solidFill>
                <a:latin typeface="+mn-lt"/>
              </a:rPr>
              <a:t>all </a:t>
            </a:r>
            <a:r>
              <a:rPr lang="en-GB" sz="2200" b="1" dirty="0" smtClean="0">
                <a:solidFill>
                  <a:schemeClr val="bg2">
                    <a:lumMod val="50000"/>
                  </a:schemeClr>
                </a:solidFill>
                <a:latin typeface="+mn-lt"/>
              </a:rPr>
              <a:t>noise</a:t>
            </a:r>
            <a:r>
              <a:rPr lang="en-GB" sz="2200" dirty="0" smtClean="0">
                <a:solidFill>
                  <a:schemeClr val="bg2">
                    <a:lumMod val="50000"/>
                  </a:schemeClr>
                </a:solidFill>
                <a:latin typeface="+mn-lt"/>
              </a:rPr>
              <a:t> </a:t>
            </a:r>
            <a:r>
              <a:rPr lang="en-GB" sz="2200" dirty="0" smtClean="0">
                <a:solidFill>
                  <a:schemeClr val="bg2">
                    <a:lumMod val="50000"/>
                  </a:schemeClr>
                </a:solidFill>
                <a:latin typeface="+mn-lt"/>
              </a:rPr>
              <a:t>sources: Treatment, experimental errors,…</a:t>
            </a:r>
          </a:p>
          <a:p>
            <a:pPr marL="84138" indent="-84138" algn="just">
              <a:lnSpc>
                <a:spcPct val="150000"/>
              </a:lnSpc>
              <a:buFont typeface="Arial" pitchFamily="34" charset="0"/>
              <a:buChar char="•"/>
            </a:pPr>
            <a:r>
              <a:rPr lang="en-GB" sz="2200" b="1" dirty="0" smtClean="0">
                <a:solidFill>
                  <a:schemeClr val="bg2">
                    <a:lumMod val="50000"/>
                  </a:schemeClr>
                </a:solidFill>
                <a:latin typeface="+mn-lt"/>
              </a:rPr>
              <a:t> Allocate</a:t>
            </a:r>
            <a:r>
              <a:rPr lang="en-GB" sz="2200" dirty="0" smtClean="0">
                <a:solidFill>
                  <a:schemeClr val="bg2">
                    <a:lumMod val="50000"/>
                  </a:schemeClr>
                </a:solidFill>
                <a:latin typeface="+mn-lt"/>
              </a:rPr>
              <a:t> </a:t>
            </a:r>
            <a:r>
              <a:rPr lang="en-GB" sz="2200" dirty="0" smtClean="0">
                <a:solidFill>
                  <a:schemeClr val="bg2">
                    <a:lumMod val="50000"/>
                  </a:schemeClr>
                </a:solidFill>
                <a:latin typeface="+mn-lt"/>
              </a:rPr>
              <a:t>each experimental unit </a:t>
            </a:r>
            <a:r>
              <a:rPr lang="en-GB" sz="2200" dirty="0" smtClean="0">
                <a:solidFill>
                  <a:schemeClr val="bg2">
                    <a:lumMod val="50000"/>
                  </a:schemeClr>
                </a:solidFill>
                <a:latin typeface="+mn-lt"/>
              </a:rPr>
              <a:t>within </a:t>
            </a:r>
            <a:r>
              <a:rPr lang="en-GB" sz="2200" dirty="0" smtClean="0">
                <a:solidFill>
                  <a:schemeClr val="bg2">
                    <a:lumMod val="50000"/>
                  </a:schemeClr>
                </a:solidFill>
                <a:latin typeface="+mn-lt"/>
              </a:rPr>
              <a:t>each treatment</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Clarify </a:t>
            </a:r>
            <a:r>
              <a:rPr lang="en-GB" sz="2200" dirty="0" smtClean="0">
                <a:solidFill>
                  <a:schemeClr val="bg2">
                    <a:lumMod val="50000"/>
                  </a:schemeClr>
                </a:solidFill>
                <a:latin typeface="+mn-lt"/>
              </a:rPr>
              <a:t>the </a:t>
            </a:r>
            <a:r>
              <a:rPr lang="en-GB" sz="2200" b="1" dirty="0" smtClean="0">
                <a:solidFill>
                  <a:schemeClr val="bg2">
                    <a:lumMod val="50000"/>
                  </a:schemeClr>
                </a:solidFill>
                <a:latin typeface="+mn-lt"/>
              </a:rPr>
              <a:t>type of response</a:t>
            </a:r>
            <a:r>
              <a:rPr lang="en-GB" sz="2200" dirty="0" smtClean="0">
                <a:solidFill>
                  <a:schemeClr val="bg2">
                    <a:lumMod val="50000"/>
                  </a:schemeClr>
                </a:solidFill>
                <a:latin typeface="+mn-lt"/>
              </a:rPr>
              <a:t> expected in each treatment</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Determinate </a:t>
            </a:r>
            <a:r>
              <a:rPr lang="en-GB" sz="2200" dirty="0" smtClean="0">
                <a:solidFill>
                  <a:schemeClr val="bg2">
                    <a:lumMod val="50000"/>
                  </a:schemeClr>
                </a:solidFill>
                <a:latin typeface="+mn-lt"/>
              </a:rPr>
              <a:t>the </a:t>
            </a:r>
            <a:r>
              <a:rPr lang="en-GB" sz="2200" b="1" dirty="0" smtClean="0">
                <a:solidFill>
                  <a:schemeClr val="bg2">
                    <a:lumMod val="50000"/>
                  </a:schemeClr>
                </a:solidFill>
                <a:latin typeface="+mn-lt"/>
              </a:rPr>
              <a:t>number</a:t>
            </a:r>
            <a:r>
              <a:rPr lang="en-GB" sz="2200" dirty="0" smtClean="0">
                <a:solidFill>
                  <a:schemeClr val="bg2">
                    <a:lumMod val="50000"/>
                  </a:schemeClr>
                </a:solidFill>
                <a:latin typeface="+mn-lt"/>
              </a:rPr>
              <a:t> of individuals in each group </a:t>
            </a:r>
          </a:p>
          <a:p>
            <a:pPr marL="84138" indent="-84138" algn="just">
              <a:lnSpc>
                <a:spcPct val="150000"/>
              </a:lnSpc>
              <a:buFont typeface="Arial" pitchFamily="34" charset="0"/>
              <a:buChar char="•"/>
            </a:pPr>
            <a:r>
              <a:rPr lang="en-GB" sz="2200" dirty="0" smtClean="0">
                <a:solidFill>
                  <a:schemeClr val="bg2">
                    <a:lumMod val="50000"/>
                  </a:schemeClr>
                </a:solidFill>
                <a:latin typeface="+mn-lt"/>
              </a:rPr>
              <a:t> Run </a:t>
            </a:r>
            <a:r>
              <a:rPr lang="en-GB" sz="2200" dirty="0" smtClean="0">
                <a:solidFill>
                  <a:schemeClr val="bg2">
                    <a:lumMod val="50000"/>
                  </a:schemeClr>
                </a:solidFill>
                <a:latin typeface="+mn-lt"/>
              </a:rPr>
              <a:t>a </a:t>
            </a:r>
            <a:r>
              <a:rPr lang="en-GB" sz="2200" b="1" dirty="0" smtClean="0">
                <a:solidFill>
                  <a:schemeClr val="bg2">
                    <a:lumMod val="50000"/>
                  </a:schemeClr>
                </a:solidFill>
                <a:latin typeface="+mn-lt"/>
              </a:rPr>
              <a:t>pilot </a:t>
            </a:r>
            <a:r>
              <a:rPr lang="en-GB" sz="2200" b="1" dirty="0" smtClean="0">
                <a:solidFill>
                  <a:schemeClr val="bg2">
                    <a:lumMod val="50000"/>
                  </a:schemeClr>
                </a:solidFill>
                <a:latin typeface="+mn-lt"/>
              </a:rPr>
              <a:t>study</a:t>
            </a:r>
          </a:p>
          <a:p>
            <a:pPr marL="84138" indent="-84138" algn="just">
              <a:lnSpc>
                <a:spcPct val="150000"/>
              </a:lnSpc>
              <a:buFont typeface="Arial" pitchFamily="34" charset="0"/>
              <a:buChar char="•"/>
            </a:pPr>
            <a:r>
              <a:rPr lang="en-GB" sz="2200" dirty="0" smtClean="0">
                <a:solidFill>
                  <a:schemeClr val="bg2">
                    <a:lumMod val="50000"/>
                  </a:schemeClr>
                </a:solidFill>
              </a:rPr>
              <a:t> How </a:t>
            </a:r>
            <a:r>
              <a:rPr lang="en-GB" sz="2200" dirty="0">
                <a:solidFill>
                  <a:schemeClr val="bg2">
                    <a:lumMod val="50000"/>
                  </a:schemeClr>
                </a:solidFill>
              </a:rPr>
              <a:t>the </a:t>
            </a:r>
            <a:r>
              <a:rPr lang="en-GB" sz="2200" b="1" dirty="0">
                <a:solidFill>
                  <a:schemeClr val="bg2">
                    <a:lumMod val="50000"/>
                  </a:schemeClr>
                </a:solidFill>
              </a:rPr>
              <a:t>data</a:t>
            </a:r>
            <a:r>
              <a:rPr lang="en-GB" sz="2200" dirty="0">
                <a:solidFill>
                  <a:schemeClr val="bg2">
                    <a:lumMod val="50000"/>
                  </a:schemeClr>
                </a:solidFill>
              </a:rPr>
              <a:t> will be statistically analysed</a:t>
            </a:r>
            <a:r>
              <a:rPr lang="en-GB" sz="2200" dirty="0" smtClean="0">
                <a:solidFill>
                  <a:schemeClr val="bg2">
                    <a:lumMod val="50000"/>
                  </a:schemeClr>
                </a:solidFill>
              </a:rPr>
              <a:t>.</a:t>
            </a:r>
            <a:endParaRPr lang="en-GB" sz="2200" dirty="0">
              <a:solidFill>
                <a:schemeClr val="bg2">
                  <a:lumMod val="50000"/>
                </a:schemeClr>
              </a:solidFill>
            </a:endParaRPr>
          </a:p>
        </p:txBody>
      </p:sp>
      <p:sp>
        <p:nvSpPr>
          <p:cNvPr id="7" name="6 Flecha curvada hacia abajo"/>
          <p:cNvSpPr/>
          <p:nvPr/>
        </p:nvSpPr>
        <p:spPr bwMode="auto">
          <a:xfrm rot="16200000">
            <a:off x="-557622" y="3622765"/>
            <a:ext cx="2215303" cy="586957"/>
          </a:xfrm>
          <a:prstGeom prst="curved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9" name="8 Flecha curvada hacia abajo"/>
          <p:cNvSpPr/>
          <p:nvPr/>
        </p:nvSpPr>
        <p:spPr bwMode="auto">
          <a:xfrm rot="16200000">
            <a:off x="555991" y="4468305"/>
            <a:ext cx="575035" cy="377072"/>
          </a:xfrm>
          <a:prstGeom prst="curved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Marcador de texto"/>
          <p:cNvSpPr>
            <a:spLocks noGrp="1"/>
          </p:cNvSpPr>
          <p:nvPr>
            <p:ph type="body" sz="quarter" idx="11"/>
          </p:nvPr>
        </p:nvSpPr>
        <p:spPr>
          <a:xfrm>
            <a:off x="654972" y="1464634"/>
            <a:ext cx="8751075" cy="424638"/>
          </a:xfrm>
        </p:spPr>
        <p:txBody>
          <a:bodyPr>
            <a:normAutofit fontScale="85000" lnSpcReduction="20000"/>
          </a:bodyPr>
          <a:lstStyle/>
          <a:p>
            <a:r>
              <a:rPr lang="en-GB" dirty="0" smtClean="0"/>
              <a:t>Important steps to define before begin the experiment:</a:t>
            </a:r>
            <a:endParaRPr lang="en-GB" dirty="0"/>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CuadroTexto"/>
          <p:cNvSpPr txBox="1"/>
          <p:nvPr/>
        </p:nvSpPr>
        <p:spPr>
          <a:xfrm>
            <a:off x="980388" y="2055043"/>
            <a:ext cx="7984503" cy="4102533"/>
          </a:xfrm>
          <a:prstGeom prst="rect">
            <a:avLst/>
          </a:prstGeom>
          <a:noFill/>
        </p:spPr>
        <p:txBody>
          <a:bodyPr wrap="square" rtlCol="0">
            <a:spAutoFit/>
          </a:bodyPr>
          <a:lstStyle/>
          <a:p>
            <a:pPr marL="84138" indent="-84138" algn="just">
              <a:lnSpc>
                <a:spcPct val="150000"/>
              </a:lnSpc>
              <a:buFont typeface="Arial" pitchFamily="34" charset="0"/>
              <a:buChar char="•"/>
            </a:pPr>
            <a:r>
              <a:rPr lang="en-GB" sz="2200" dirty="0" smtClean="0">
                <a:solidFill>
                  <a:schemeClr val="bg2">
                    <a:lumMod val="50000"/>
                  </a:schemeClr>
                </a:solidFill>
                <a:latin typeface="+mn-lt"/>
              </a:rPr>
              <a:t>Establish the main </a:t>
            </a:r>
            <a:r>
              <a:rPr lang="en-GB" sz="2200" b="1" dirty="0" smtClean="0">
                <a:solidFill>
                  <a:schemeClr val="bg2">
                    <a:lumMod val="50000"/>
                  </a:schemeClr>
                </a:solidFill>
                <a:latin typeface="+mn-lt"/>
              </a:rPr>
              <a:t>objectives</a:t>
            </a:r>
            <a:r>
              <a:rPr lang="en-GB" sz="2200" dirty="0" smtClean="0">
                <a:solidFill>
                  <a:schemeClr val="bg2">
                    <a:lumMod val="50000"/>
                  </a:schemeClr>
                </a:solidFill>
                <a:latin typeface="+mn-lt"/>
              </a:rPr>
              <a:t> of the experiment. Avoid collateral problems</a:t>
            </a:r>
          </a:p>
          <a:p>
            <a:pPr marL="84138" indent="-84138" algn="just">
              <a:lnSpc>
                <a:spcPct val="150000"/>
              </a:lnSpc>
              <a:buFont typeface="Arial" pitchFamily="34" charset="0"/>
              <a:buChar char="•"/>
            </a:pPr>
            <a:r>
              <a:rPr lang="en-GB" sz="2200" dirty="0" smtClean="0">
                <a:solidFill>
                  <a:schemeClr val="bg2">
                    <a:lumMod val="50000"/>
                  </a:schemeClr>
                </a:solidFill>
                <a:latin typeface="+mn-lt"/>
              </a:rPr>
              <a:t>Identify all the </a:t>
            </a:r>
            <a:r>
              <a:rPr lang="en-GB" sz="2200" b="1" dirty="0" smtClean="0">
                <a:solidFill>
                  <a:schemeClr val="bg2">
                    <a:lumMod val="50000"/>
                  </a:schemeClr>
                </a:solidFill>
                <a:latin typeface="+mn-lt"/>
              </a:rPr>
              <a:t>noise</a:t>
            </a:r>
            <a:r>
              <a:rPr lang="en-GB" sz="2200" dirty="0" smtClean="0">
                <a:solidFill>
                  <a:schemeClr val="bg2">
                    <a:lumMod val="50000"/>
                  </a:schemeClr>
                </a:solidFill>
                <a:latin typeface="+mn-lt"/>
              </a:rPr>
              <a:t> sources: Treatment, experimental errors,…</a:t>
            </a:r>
          </a:p>
          <a:p>
            <a:pPr marL="84138" indent="-84138" algn="just">
              <a:lnSpc>
                <a:spcPct val="150000"/>
              </a:lnSpc>
              <a:buFont typeface="Arial" pitchFamily="34" charset="0"/>
              <a:buChar char="•"/>
            </a:pPr>
            <a:r>
              <a:rPr lang="en-GB" sz="2200" b="1" dirty="0" smtClean="0">
                <a:solidFill>
                  <a:schemeClr val="bg2">
                    <a:lumMod val="50000"/>
                  </a:schemeClr>
                </a:solidFill>
                <a:latin typeface="+mn-lt"/>
              </a:rPr>
              <a:t>Allocate</a:t>
            </a:r>
            <a:r>
              <a:rPr lang="en-GB" sz="2200" dirty="0" smtClean="0">
                <a:solidFill>
                  <a:schemeClr val="bg2">
                    <a:lumMod val="50000"/>
                  </a:schemeClr>
                </a:solidFill>
                <a:latin typeface="+mn-lt"/>
              </a:rPr>
              <a:t> each experimental unit which each treatment</a:t>
            </a:r>
          </a:p>
          <a:p>
            <a:pPr marL="84138" indent="-84138" algn="just">
              <a:lnSpc>
                <a:spcPct val="150000"/>
              </a:lnSpc>
              <a:buFont typeface="Arial" pitchFamily="34" charset="0"/>
              <a:buChar char="•"/>
            </a:pPr>
            <a:r>
              <a:rPr lang="en-GB" sz="2200" dirty="0" smtClean="0">
                <a:solidFill>
                  <a:schemeClr val="bg2">
                    <a:lumMod val="50000"/>
                  </a:schemeClr>
                </a:solidFill>
                <a:latin typeface="+mn-lt"/>
              </a:rPr>
              <a:t>Clarify the </a:t>
            </a:r>
            <a:r>
              <a:rPr lang="en-GB" sz="2200" b="1" dirty="0" smtClean="0">
                <a:solidFill>
                  <a:schemeClr val="bg2">
                    <a:lumMod val="50000"/>
                  </a:schemeClr>
                </a:solidFill>
                <a:latin typeface="+mn-lt"/>
              </a:rPr>
              <a:t>type of response</a:t>
            </a:r>
            <a:r>
              <a:rPr lang="en-GB" sz="2200" dirty="0" smtClean="0">
                <a:solidFill>
                  <a:schemeClr val="bg2">
                    <a:lumMod val="50000"/>
                  </a:schemeClr>
                </a:solidFill>
                <a:latin typeface="+mn-lt"/>
              </a:rPr>
              <a:t> expected in each treatment</a:t>
            </a:r>
          </a:p>
          <a:p>
            <a:pPr marL="84138" indent="-84138" algn="just">
              <a:lnSpc>
                <a:spcPct val="150000"/>
              </a:lnSpc>
              <a:buFont typeface="Arial" pitchFamily="34" charset="0"/>
              <a:buChar char="•"/>
            </a:pPr>
            <a:r>
              <a:rPr lang="en-GB" sz="2200" dirty="0" smtClean="0">
                <a:solidFill>
                  <a:schemeClr val="bg2">
                    <a:lumMod val="50000"/>
                  </a:schemeClr>
                </a:solidFill>
                <a:latin typeface="+mn-lt"/>
              </a:rPr>
              <a:t>Determinate the </a:t>
            </a:r>
            <a:r>
              <a:rPr lang="en-GB" sz="2200" b="1" dirty="0" smtClean="0">
                <a:solidFill>
                  <a:schemeClr val="bg2">
                    <a:lumMod val="50000"/>
                  </a:schemeClr>
                </a:solidFill>
                <a:latin typeface="+mn-lt"/>
              </a:rPr>
              <a:t>number</a:t>
            </a:r>
            <a:r>
              <a:rPr lang="en-GB" sz="2200" dirty="0" smtClean="0">
                <a:solidFill>
                  <a:schemeClr val="bg2">
                    <a:lumMod val="50000"/>
                  </a:schemeClr>
                </a:solidFill>
                <a:latin typeface="+mn-lt"/>
              </a:rPr>
              <a:t> of individuals in each group </a:t>
            </a:r>
          </a:p>
          <a:p>
            <a:pPr marL="84138" indent="-84138" algn="just">
              <a:lnSpc>
                <a:spcPct val="150000"/>
              </a:lnSpc>
              <a:buFont typeface="Arial" pitchFamily="34" charset="0"/>
              <a:buChar char="•"/>
            </a:pPr>
            <a:r>
              <a:rPr lang="en-GB" sz="2200" dirty="0" smtClean="0">
                <a:solidFill>
                  <a:schemeClr val="bg2">
                    <a:lumMod val="50000"/>
                  </a:schemeClr>
                </a:solidFill>
                <a:latin typeface="+mn-lt"/>
              </a:rPr>
              <a:t>Run a </a:t>
            </a:r>
            <a:r>
              <a:rPr lang="en-GB" sz="2200" b="1" dirty="0" smtClean="0">
                <a:solidFill>
                  <a:schemeClr val="bg2">
                    <a:lumMod val="50000"/>
                  </a:schemeClr>
                </a:solidFill>
                <a:latin typeface="+mn-lt"/>
              </a:rPr>
              <a:t>pilot study</a:t>
            </a:r>
          </a:p>
          <a:p>
            <a:pPr marL="84138" indent="-84138" algn="just">
              <a:lnSpc>
                <a:spcPct val="150000"/>
              </a:lnSpc>
              <a:buFont typeface="Arial" pitchFamily="34" charset="0"/>
              <a:buChar char="•"/>
            </a:pPr>
            <a:r>
              <a:rPr lang="en-GB" sz="2200" dirty="0" smtClean="0">
                <a:solidFill>
                  <a:schemeClr val="bg2">
                    <a:lumMod val="50000"/>
                  </a:schemeClr>
                </a:solidFill>
                <a:latin typeface="+mn-lt"/>
              </a:rPr>
              <a:t>How the </a:t>
            </a:r>
            <a:r>
              <a:rPr lang="en-GB" sz="2200" b="1" dirty="0" smtClean="0">
                <a:solidFill>
                  <a:schemeClr val="bg2">
                    <a:lumMod val="50000"/>
                  </a:schemeClr>
                </a:solidFill>
                <a:latin typeface="+mn-lt"/>
              </a:rPr>
              <a:t>data</a:t>
            </a:r>
            <a:r>
              <a:rPr lang="en-GB" sz="2200" dirty="0" smtClean="0">
                <a:solidFill>
                  <a:schemeClr val="bg2">
                    <a:lumMod val="50000"/>
                  </a:schemeClr>
                </a:solidFill>
                <a:latin typeface="+mn-lt"/>
              </a:rPr>
              <a:t> will be statistically analysed.</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a:xfrm>
            <a:off x="654972" y="1464634"/>
            <a:ext cx="8751075" cy="424638"/>
          </a:xfrm>
        </p:spPr>
        <p:txBody>
          <a:bodyPr>
            <a:normAutofit fontScale="77500" lnSpcReduction="20000"/>
          </a:bodyPr>
          <a:lstStyle/>
          <a:p>
            <a:pPr marL="0" indent="0">
              <a:buNone/>
            </a:pPr>
            <a:r>
              <a:rPr lang="en-GB" dirty="0" smtClean="0"/>
              <a:t>Why Experimental Design?</a:t>
            </a:r>
            <a:endParaRPr lang="en-GB" dirty="0"/>
          </a:p>
        </p:txBody>
      </p:sp>
      <p:sp>
        <p:nvSpPr>
          <p:cNvPr id="3" name="2 Marcador de texto"/>
          <p:cNvSpPr>
            <a:spLocks noGrp="1"/>
          </p:cNvSpPr>
          <p:nvPr>
            <p:ph type="body" sz="quarter" idx="12"/>
          </p:nvPr>
        </p:nvSpPr>
        <p:spPr/>
        <p:txBody>
          <a:bodyPr/>
          <a:lstStyle/>
          <a:p>
            <a:pPr marL="266700" indent="-266700" algn="just">
              <a:buFont typeface="Arial" pitchFamily="34" charset="0"/>
              <a:buChar char="•"/>
            </a:pPr>
            <a:r>
              <a:rPr lang="en-GB" dirty="0" smtClean="0"/>
              <a:t>We can design experiments to </a:t>
            </a:r>
            <a:r>
              <a:rPr lang="en-GB" dirty="0" smtClean="0">
                <a:effectLst>
                  <a:outerShdw blurRad="38100" dist="38100" dir="2700000" algn="tl">
                    <a:srgbClr val="000000">
                      <a:alpha val="43137"/>
                    </a:srgbClr>
                  </a:outerShdw>
                </a:effectLst>
              </a:rPr>
              <a:t>minimize any bias</a:t>
            </a:r>
            <a:r>
              <a:rPr lang="en-GB" dirty="0" smtClean="0"/>
              <a:t> in the comparison</a:t>
            </a:r>
          </a:p>
          <a:p>
            <a:pPr marL="266700" indent="-266700" algn="just">
              <a:buFont typeface="Arial" pitchFamily="34" charset="0"/>
              <a:buChar char="•"/>
            </a:pPr>
            <a:r>
              <a:rPr lang="en-GB" dirty="0" smtClean="0">
                <a:solidFill>
                  <a:schemeClr val="bg2">
                    <a:lumMod val="50000"/>
                  </a:schemeClr>
                </a:solidFill>
                <a:latin typeface="+mn-lt"/>
                <a:ea typeface="+mn-ea"/>
                <a:cs typeface="+mn-cs"/>
              </a:rPr>
              <a:t>We can design experiments so that the </a:t>
            </a:r>
            <a:r>
              <a:rPr lang="en-GB" dirty="0" smtClean="0">
                <a:solidFill>
                  <a:schemeClr val="bg2">
                    <a:lumMod val="50000"/>
                  </a:schemeClr>
                </a:solidFill>
                <a:effectLst>
                  <a:outerShdw blurRad="38100" dist="38100" dir="2700000" algn="tl">
                    <a:srgbClr val="000000">
                      <a:alpha val="43137"/>
                    </a:srgbClr>
                  </a:outerShdw>
                </a:effectLst>
                <a:latin typeface="+mn-lt"/>
                <a:ea typeface="+mn-ea"/>
                <a:cs typeface="+mn-cs"/>
              </a:rPr>
              <a:t>error in the comparison is small</a:t>
            </a:r>
          </a:p>
          <a:p>
            <a:pPr marL="266700" lvl="1" indent="-266700" algn="just">
              <a:buFont typeface="Arial" pitchFamily="34" charset="0"/>
              <a:buChar char="•"/>
            </a:pPr>
            <a:r>
              <a:rPr lang="en-GB" sz="2200" b="1" dirty="0" smtClean="0">
                <a:solidFill>
                  <a:schemeClr val="bg2">
                    <a:lumMod val="50000"/>
                  </a:schemeClr>
                </a:solidFill>
                <a:ea typeface="+mn-ea"/>
                <a:cs typeface="+mn-cs"/>
              </a:rPr>
              <a:t>Very Important</a:t>
            </a:r>
            <a:r>
              <a:rPr lang="en-GB" sz="2200" dirty="0" smtClean="0">
                <a:solidFill>
                  <a:schemeClr val="bg2">
                    <a:lumMod val="50000"/>
                  </a:schemeClr>
                </a:solidFill>
                <a:ea typeface="+mn-ea"/>
                <a:cs typeface="+mn-cs"/>
              </a:rPr>
              <a:t>: </a:t>
            </a:r>
            <a:r>
              <a:rPr lang="en-GB" sz="2200" dirty="0" smtClean="0">
                <a:solidFill>
                  <a:schemeClr val="bg2">
                    <a:lumMod val="50000"/>
                  </a:schemeClr>
                </a:solidFill>
                <a:effectLst>
                  <a:outerShdw blurRad="38100" dist="38100" dir="2700000" algn="tl">
                    <a:srgbClr val="000000">
                      <a:alpha val="43137"/>
                    </a:srgbClr>
                  </a:outerShdw>
                </a:effectLst>
                <a:ea typeface="+mn-ea"/>
                <a:cs typeface="+mn-cs"/>
              </a:rPr>
              <a:t>We are in control of experiments</a:t>
            </a:r>
            <a:r>
              <a:rPr lang="en-GB" sz="2200" dirty="0" smtClean="0">
                <a:solidFill>
                  <a:schemeClr val="bg2">
                    <a:lumMod val="50000"/>
                  </a:schemeClr>
                </a:solidFill>
                <a:ea typeface="+mn-ea"/>
                <a:cs typeface="+mn-cs"/>
              </a:rPr>
              <a:t>, and having that control allow us to make stronger inferences about the nature of differences that we see in the experiment. </a:t>
            </a:r>
            <a:endParaRPr lang="en-GB" sz="2200" dirty="0" smtClean="0">
              <a:solidFill>
                <a:schemeClr val="bg2">
                  <a:lumMod val="50000"/>
                </a:schemeClr>
              </a:solidFill>
              <a:ea typeface="+mn-ea"/>
              <a:cs typeface="+mn-cs"/>
            </a:endParaRPr>
          </a:p>
          <a:p>
            <a:pPr marL="266700" lvl="1" indent="-266700" algn="just">
              <a:buFont typeface="Arial" pitchFamily="34" charset="0"/>
              <a:buChar char="•"/>
            </a:pPr>
            <a:r>
              <a:rPr lang="en-GB" sz="2200" b="1" i="1" dirty="0" smtClean="0">
                <a:solidFill>
                  <a:schemeClr val="bg2">
                    <a:lumMod val="50000"/>
                  </a:schemeClr>
                </a:solidFill>
                <a:ea typeface="+mn-ea"/>
                <a:cs typeface="+mn-cs"/>
              </a:rPr>
              <a:t>We </a:t>
            </a:r>
            <a:r>
              <a:rPr lang="en-GB" sz="2200" b="1" i="1" dirty="0" smtClean="0">
                <a:solidFill>
                  <a:schemeClr val="bg2">
                    <a:lumMod val="50000"/>
                  </a:schemeClr>
                </a:solidFill>
                <a:ea typeface="+mn-ea"/>
                <a:cs typeface="+mn-cs"/>
              </a:rPr>
              <a:t>will be able to make inferences about </a:t>
            </a:r>
            <a:r>
              <a:rPr lang="en-GB" sz="2200" b="1" i="1" dirty="0" smtClean="0">
                <a:solidFill>
                  <a:schemeClr val="bg2">
                    <a:lumMod val="50000"/>
                  </a:schemeClr>
                </a:solidFill>
                <a:ea typeface="+mn-ea"/>
                <a:cs typeface="+mn-cs"/>
              </a:rPr>
              <a:t>causation</a:t>
            </a:r>
            <a:endParaRPr lang="en-GB" sz="2200" b="1" i="1" dirty="0">
              <a:solidFill>
                <a:schemeClr val="bg2">
                  <a:lumMod val="50000"/>
                </a:schemeClr>
              </a:solidFill>
              <a:ea typeface="+mn-ea"/>
              <a:cs typeface="+mn-cs"/>
            </a:endParaRPr>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Flecha abajo"/>
          <p:cNvSpPr/>
          <p:nvPr/>
        </p:nvSpPr>
        <p:spPr bwMode="auto">
          <a:xfrm>
            <a:off x="4352925" y="4552950"/>
            <a:ext cx="438150" cy="523875"/>
          </a:xfrm>
          <a:prstGeom prst="downArrow">
            <a:avLst/>
          </a:prstGeom>
          <a:noFill/>
          <a:ln w="9525"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7" name="6 Flecha abajo"/>
          <p:cNvSpPr/>
          <p:nvPr/>
        </p:nvSpPr>
        <p:spPr bwMode="auto">
          <a:xfrm>
            <a:off x="4962525" y="1219200"/>
            <a:ext cx="276225" cy="257175"/>
          </a:xfrm>
          <a:prstGeom prst="downArrow">
            <a:avLst/>
          </a:prstGeom>
          <a:noFill/>
          <a:ln w="9525"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10" name="9 Flecha abajo"/>
          <p:cNvSpPr/>
          <p:nvPr/>
        </p:nvSpPr>
        <p:spPr bwMode="auto">
          <a:xfrm flipH="1">
            <a:off x="3179444" y="4267200"/>
            <a:ext cx="401956" cy="683458"/>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11" name="10 CuadroTexto"/>
          <p:cNvSpPr txBox="1"/>
          <p:nvPr/>
        </p:nvSpPr>
        <p:spPr>
          <a:xfrm>
            <a:off x="1209675" y="4991100"/>
            <a:ext cx="7981950" cy="861774"/>
          </a:xfrm>
          <a:prstGeom prst="rect">
            <a:avLst/>
          </a:prstGeom>
          <a:noFill/>
        </p:spPr>
        <p:txBody>
          <a:bodyPr wrap="square" rtlCol="0">
            <a:spAutoFit/>
          </a:bodyPr>
          <a:lstStyle/>
          <a:p>
            <a:pPr algn="just"/>
            <a:r>
              <a:rPr lang="en-GB" sz="2200" dirty="0" smtClean="0">
                <a:solidFill>
                  <a:schemeClr val="bg2">
                    <a:lumMod val="50000"/>
                  </a:schemeClr>
                </a:solidFill>
                <a:latin typeface="+mn-lt"/>
              </a:rPr>
              <a:t>This point distinguishes an </a:t>
            </a:r>
            <a:r>
              <a:rPr lang="en-GB" sz="2200" i="1" dirty="0" smtClean="0">
                <a:solidFill>
                  <a:schemeClr val="bg2">
                    <a:lumMod val="50000"/>
                  </a:schemeClr>
                </a:solidFill>
                <a:latin typeface="+mn-lt"/>
              </a:rPr>
              <a:t>experiment</a:t>
            </a:r>
            <a:r>
              <a:rPr lang="en-GB" sz="2200" dirty="0" smtClean="0">
                <a:solidFill>
                  <a:schemeClr val="bg2">
                    <a:lumMod val="50000"/>
                  </a:schemeClr>
                </a:solidFill>
                <a:latin typeface="+mn-lt"/>
              </a:rPr>
              <a:t> from an </a:t>
            </a:r>
            <a:r>
              <a:rPr lang="en-GB" sz="2200" i="1" dirty="0" smtClean="0">
                <a:solidFill>
                  <a:schemeClr val="bg2">
                    <a:lumMod val="50000"/>
                  </a:schemeClr>
                </a:solidFill>
                <a:latin typeface="+mn-lt"/>
              </a:rPr>
              <a:t>observational study.</a:t>
            </a:r>
            <a:endParaRPr lang="en-GB" sz="2200" dirty="0" smtClean="0">
              <a:solidFill>
                <a:schemeClr val="bg2">
                  <a:lumMod val="50000"/>
                </a:schemeClr>
              </a:solidFill>
              <a:latin typeface="+mn-lt"/>
            </a:endParaRPr>
          </a:p>
          <a:p>
            <a:pPr algn="just"/>
            <a:r>
              <a:rPr lang="en-GB" sz="1400" dirty="0" smtClean="0">
                <a:solidFill>
                  <a:schemeClr val="bg2">
                    <a:lumMod val="50000"/>
                  </a:schemeClr>
                </a:solidFill>
                <a:latin typeface="+mn-lt"/>
              </a:rPr>
              <a:t>(drawback of observational studies is that the grouping into “treatments” is not under the control of the experimenter and its mechanism is usually unknown)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Marcador de texto"/>
          <p:cNvSpPr>
            <a:spLocks noGrp="1"/>
          </p:cNvSpPr>
          <p:nvPr>
            <p:ph type="body" sz="quarter" idx="11"/>
          </p:nvPr>
        </p:nvSpPr>
        <p:spPr>
          <a:xfrm>
            <a:off x="654972" y="1464634"/>
            <a:ext cx="8751075" cy="424638"/>
          </a:xfrm>
        </p:spPr>
        <p:txBody>
          <a:bodyPr>
            <a:normAutofit fontScale="85000" lnSpcReduction="20000"/>
          </a:bodyPr>
          <a:lstStyle/>
          <a:p>
            <a:r>
              <a:rPr lang="en-GB" dirty="0" smtClean="0"/>
              <a:t>Why Experimental Design?</a:t>
            </a:r>
            <a:endParaRPr lang="en-GB" dirty="0"/>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CuadroTexto"/>
          <p:cNvSpPr txBox="1"/>
          <p:nvPr/>
        </p:nvSpPr>
        <p:spPr>
          <a:xfrm>
            <a:off x="1234911" y="2111604"/>
            <a:ext cx="7937369" cy="3477875"/>
          </a:xfrm>
          <a:prstGeom prst="rect">
            <a:avLst/>
          </a:prstGeom>
          <a:noFill/>
        </p:spPr>
        <p:txBody>
          <a:bodyPr wrap="square" rtlCol="0">
            <a:spAutoFit/>
          </a:bodyPr>
          <a:lstStyle/>
          <a:p>
            <a:pPr algn="just">
              <a:buFont typeface="Arial" pitchFamily="34" charset="0"/>
              <a:buChar char="•"/>
            </a:pPr>
            <a:r>
              <a:rPr lang="en-GB" sz="2200" dirty="0" smtClean="0">
                <a:solidFill>
                  <a:schemeClr val="bg2">
                    <a:lumMod val="50000"/>
                  </a:schemeClr>
                </a:solidFill>
                <a:latin typeface="+mn-lt"/>
              </a:rPr>
              <a:t>To </a:t>
            </a:r>
            <a:r>
              <a:rPr lang="en-GB" sz="2200" b="1" dirty="0" smtClean="0">
                <a:solidFill>
                  <a:schemeClr val="bg2">
                    <a:lumMod val="50000"/>
                  </a:schemeClr>
                </a:solidFill>
                <a:latin typeface="+mn-lt"/>
              </a:rPr>
              <a:t>save</a:t>
            </a:r>
            <a:r>
              <a:rPr lang="en-GB" sz="2200" dirty="0" smtClean="0">
                <a:solidFill>
                  <a:schemeClr val="bg2">
                    <a:lumMod val="50000"/>
                  </a:schemeClr>
                </a:solidFill>
                <a:latin typeface="+mn-lt"/>
              </a:rPr>
              <a:t> money and time</a:t>
            </a:r>
          </a:p>
          <a:p>
            <a:pPr lvl="1" algn="just"/>
            <a:r>
              <a:rPr lang="en-GB" sz="2200" dirty="0" smtClean="0">
                <a:solidFill>
                  <a:schemeClr val="bg2">
                    <a:lumMod val="50000"/>
                  </a:schemeClr>
                </a:solidFill>
                <a:latin typeface="+mn-lt"/>
              </a:rPr>
              <a:t>Less probability of bad results (mistakes,…)</a:t>
            </a:r>
          </a:p>
          <a:p>
            <a:pPr lvl="1" algn="just"/>
            <a:r>
              <a:rPr lang="en-GB" sz="2200" dirty="0" smtClean="0">
                <a:solidFill>
                  <a:schemeClr val="bg2">
                    <a:lumMod val="50000"/>
                  </a:schemeClr>
                </a:solidFill>
                <a:latin typeface="+mn-lt"/>
              </a:rPr>
              <a:t>Only analyze the samples strictly necessary (less reagents, time,…)</a:t>
            </a:r>
          </a:p>
          <a:p>
            <a:pPr lvl="1" algn="just"/>
            <a:r>
              <a:rPr lang="en-GB" sz="2200" dirty="0" smtClean="0">
                <a:solidFill>
                  <a:schemeClr val="bg2">
                    <a:lumMod val="50000"/>
                  </a:schemeClr>
                </a:solidFill>
                <a:latin typeface="+mn-lt"/>
              </a:rPr>
              <a:t>Only collect the data you need to answer the objectives</a:t>
            </a:r>
          </a:p>
          <a:p>
            <a:pPr lvl="1" algn="just"/>
            <a:endParaRPr lang="en-GB" sz="2200" dirty="0" smtClean="0">
              <a:solidFill>
                <a:schemeClr val="bg2">
                  <a:lumMod val="50000"/>
                </a:schemeClr>
              </a:solidFill>
              <a:latin typeface="+mn-lt"/>
            </a:endParaRPr>
          </a:p>
          <a:p>
            <a:pPr algn="just">
              <a:buFont typeface="Arial" pitchFamily="34" charset="0"/>
              <a:buChar char="•"/>
            </a:pPr>
            <a:r>
              <a:rPr lang="en-GB" sz="2200" b="1" dirty="0" smtClean="0">
                <a:solidFill>
                  <a:schemeClr val="bg2">
                    <a:lumMod val="50000"/>
                  </a:schemeClr>
                </a:solidFill>
                <a:latin typeface="+mn-lt"/>
              </a:rPr>
              <a:t>Ethical</a:t>
            </a:r>
            <a:r>
              <a:rPr lang="en-GB" sz="2200" dirty="0" smtClean="0">
                <a:solidFill>
                  <a:schemeClr val="bg2">
                    <a:lumMod val="50000"/>
                  </a:schemeClr>
                </a:solidFill>
                <a:latin typeface="+mn-lt"/>
              </a:rPr>
              <a:t> issues</a:t>
            </a:r>
          </a:p>
          <a:p>
            <a:pPr lvl="1" algn="just"/>
            <a:r>
              <a:rPr lang="en-GB" sz="2200" dirty="0" smtClean="0">
                <a:solidFill>
                  <a:schemeClr val="bg2">
                    <a:lumMod val="50000"/>
                  </a:schemeClr>
                </a:solidFill>
                <a:latin typeface="+mn-lt"/>
              </a:rPr>
              <a:t>Only use the animals needed</a:t>
            </a:r>
          </a:p>
          <a:p>
            <a:pPr lvl="1" algn="just"/>
            <a:r>
              <a:rPr lang="en-GB" sz="2200" dirty="0" smtClean="0">
                <a:solidFill>
                  <a:schemeClr val="bg2">
                    <a:lumMod val="50000"/>
                  </a:schemeClr>
                </a:solidFill>
                <a:latin typeface="+mn-lt"/>
              </a:rPr>
              <a:t>Treatment applied to the necessary animals</a:t>
            </a:r>
          </a:p>
          <a:p>
            <a:pPr lvl="1" algn="just"/>
            <a:r>
              <a:rPr lang="en-GB" sz="2200" dirty="0" smtClean="0">
                <a:solidFill>
                  <a:schemeClr val="bg2">
                    <a:lumMod val="50000"/>
                  </a:schemeClr>
                </a:solidFill>
                <a:latin typeface="+mn-lt"/>
              </a:rPr>
              <a:t>Careful when applying the treatments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766618" y="1369097"/>
            <a:ext cx="7614227" cy="3172595"/>
          </a:xfrm>
          <a:prstGeom prst="rect">
            <a:avLst/>
          </a:prstGeom>
          <a:noFill/>
          <a:ln w="9525">
            <a:noFill/>
            <a:miter lim="800000"/>
            <a:headEnd/>
            <a:tailEnd/>
          </a:ln>
        </p:spPr>
      </p:pic>
      <p:sp>
        <p:nvSpPr>
          <p:cNvPr id="6"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pic>
        <p:nvPicPr>
          <p:cNvPr id="1027" name="Picture 3"/>
          <p:cNvPicPr>
            <a:picLocks noChangeAspect="1" noChangeArrowheads="1"/>
          </p:cNvPicPr>
          <p:nvPr/>
        </p:nvPicPr>
        <p:blipFill>
          <a:blip r:embed="rId3" cstate="print"/>
          <a:srcRect/>
          <a:stretch>
            <a:fillRect/>
          </a:stretch>
        </p:blipFill>
        <p:spPr bwMode="auto">
          <a:xfrm>
            <a:off x="840509" y="4541691"/>
            <a:ext cx="8124825" cy="904875"/>
          </a:xfrm>
          <a:prstGeom prst="rect">
            <a:avLst/>
          </a:prstGeom>
          <a:noFill/>
          <a:ln w="9525">
            <a:noFill/>
            <a:miter lim="800000"/>
            <a:headEnd/>
            <a:tailEnd/>
          </a:ln>
        </p:spPr>
      </p:pic>
      <p:cxnSp>
        <p:nvCxnSpPr>
          <p:cNvPr id="7" name="6 Conector recto"/>
          <p:cNvCxnSpPr/>
          <p:nvPr/>
        </p:nvCxnSpPr>
        <p:spPr bwMode="auto">
          <a:xfrm>
            <a:off x="1250576" y="5177118"/>
            <a:ext cx="4531659" cy="0"/>
          </a:xfrm>
          <a:prstGeom prst="line">
            <a:avLst/>
          </a:prstGeom>
          <a:noFill/>
          <a:ln w="28575" cap="flat" cmpd="sng" algn="ctr">
            <a:solidFill>
              <a:srgbClr val="FF0000"/>
            </a:solidFill>
            <a:prstDash val="solid"/>
            <a:round/>
            <a:headEnd type="none" w="med" len="med"/>
            <a:tailEnd type="none" w="med" len="med"/>
          </a:ln>
          <a:effectLst/>
        </p:spPr>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Marcador de texto"/>
          <p:cNvSpPr>
            <a:spLocks noGrp="1"/>
          </p:cNvSpPr>
          <p:nvPr>
            <p:ph type="body" sz="quarter" idx="11"/>
          </p:nvPr>
        </p:nvSpPr>
        <p:spPr>
          <a:xfrm>
            <a:off x="654972" y="1238390"/>
            <a:ext cx="8751075" cy="424638"/>
          </a:xfrm>
        </p:spPr>
        <p:txBody>
          <a:bodyPr>
            <a:normAutofit fontScale="85000" lnSpcReduction="20000"/>
          </a:bodyPr>
          <a:lstStyle/>
          <a:p>
            <a:r>
              <a:rPr lang="en-GB" dirty="0" smtClean="0"/>
              <a:t>A good experimental design must…</a:t>
            </a:r>
            <a:endParaRPr lang="en-GB" dirty="0"/>
          </a:p>
        </p:txBody>
      </p:sp>
      <p:sp>
        <p:nvSpPr>
          <p:cNvPr id="4" name="3 Título"/>
          <p:cNvSpPr>
            <a:spLocks noGrp="1"/>
          </p:cNvSpPr>
          <p:nvPr>
            <p:ph type="title"/>
          </p:nvPr>
        </p:nvSpPr>
        <p:spPr/>
        <p:txBody>
          <a:bodyPr/>
          <a:lstStyle/>
          <a:p>
            <a:r>
              <a:rPr lang="es-ES" dirty="0" smtClean="0"/>
              <a:t>Basic Ideas of Experimental </a:t>
            </a:r>
            <a:r>
              <a:rPr lang="en-GB" dirty="0" smtClean="0"/>
              <a:t>Design</a:t>
            </a:r>
            <a:endParaRPr lang="en-GB" dirty="0"/>
          </a:p>
        </p:txBody>
      </p:sp>
      <p:sp>
        <p:nvSpPr>
          <p:cNvPr id="6" name="5 CuadroTexto"/>
          <p:cNvSpPr txBox="1"/>
          <p:nvPr/>
        </p:nvSpPr>
        <p:spPr>
          <a:xfrm>
            <a:off x="980388" y="1734532"/>
            <a:ext cx="7984503" cy="3077766"/>
          </a:xfrm>
          <a:prstGeom prst="rect">
            <a:avLst/>
          </a:prstGeom>
          <a:noFill/>
        </p:spPr>
        <p:txBody>
          <a:bodyPr wrap="square" rtlCol="0">
            <a:spAutoFit/>
          </a:bodyPr>
          <a:lstStyle/>
          <a:p>
            <a:pPr marL="179388" indent="-179388" algn="just">
              <a:buFont typeface="Arial" pitchFamily="34" charset="0"/>
              <a:buChar char="•"/>
            </a:pPr>
            <a:r>
              <a:rPr lang="en-GB" sz="2200" dirty="0" smtClean="0">
                <a:solidFill>
                  <a:schemeClr val="bg2">
                    <a:lumMod val="50000"/>
                  </a:schemeClr>
                </a:solidFill>
                <a:latin typeface="+mn-lt"/>
              </a:rPr>
              <a:t>Avoid systematic error: </a:t>
            </a:r>
            <a:r>
              <a:rPr lang="en-GB" dirty="0" smtClean="0">
                <a:solidFill>
                  <a:srgbClr val="0070C0"/>
                </a:solidFill>
                <a:latin typeface="+mn-lt"/>
              </a:rPr>
              <a:t>e.g. samples from one group processed with instrument A and samples from the other group processed with instrument B.</a:t>
            </a:r>
          </a:p>
          <a:p>
            <a:pPr marL="179388" indent="-179388" algn="just">
              <a:buFont typeface="Arial" pitchFamily="34" charset="0"/>
              <a:buChar char="•"/>
            </a:pPr>
            <a:endParaRPr lang="en-GB" sz="2200" dirty="0" smtClean="0">
              <a:solidFill>
                <a:schemeClr val="bg2">
                  <a:lumMod val="50000"/>
                </a:schemeClr>
              </a:solidFill>
              <a:latin typeface="+mn-lt"/>
            </a:endParaRPr>
          </a:p>
          <a:p>
            <a:pPr marL="179388" indent="-179388" algn="just">
              <a:buFont typeface="Arial" pitchFamily="34" charset="0"/>
              <a:buChar char="•"/>
            </a:pPr>
            <a:r>
              <a:rPr lang="en-GB" sz="2200" dirty="0" smtClean="0">
                <a:solidFill>
                  <a:schemeClr val="bg2">
                    <a:lumMod val="50000"/>
                  </a:schemeClr>
                </a:solidFill>
                <a:latin typeface="+mn-lt"/>
              </a:rPr>
              <a:t>Be precise: </a:t>
            </a:r>
            <a:r>
              <a:rPr lang="en-GB" dirty="0" smtClean="0">
                <a:solidFill>
                  <a:schemeClr val="bg2">
                    <a:lumMod val="50000"/>
                  </a:schemeClr>
                </a:solidFill>
                <a:latin typeface="+mn-lt"/>
              </a:rPr>
              <a:t>try to maintain the random error as low as possible</a:t>
            </a:r>
            <a:endParaRPr lang="en-GB" sz="2200" dirty="0" smtClean="0">
              <a:solidFill>
                <a:schemeClr val="bg2">
                  <a:lumMod val="50000"/>
                </a:schemeClr>
              </a:solidFill>
              <a:latin typeface="+mn-lt"/>
            </a:endParaRPr>
          </a:p>
          <a:p>
            <a:pPr marL="179388" indent="-179388" algn="just">
              <a:buFont typeface="Arial" pitchFamily="34" charset="0"/>
              <a:buChar char="•"/>
            </a:pPr>
            <a:endParaRPr lang="en-GB" sz="2200" dirty="0" smtClean="0">
              <a:solidFill>
                <a:schemeClr val="bg2">
                  <a:lumMod val="50000"/>
                </a:schemeClr>
              </a:solidFill>
              <a:latin typeface="+mn-lt"/>
            </a:endParaRPr>
          </a:p>
          <a:p>
            <a:pPr marL="179388" indent="-179388" algn="just">
              <a:buFont typeface="Arial" pitchFamily="34" charset="0"/>
              <a:buChar char="•"/>
            </a:pPr>
            <a:r>
              <a:rPr lang="en-GB" sz="2200" dirty="0" smtClean="0">
                <a:solidFill>
                  <a:schemeClr val="bg2">
                    <a:lumMod val="50000"/>
                  </a:schemeClr>
                </a:solidFill>
                <a:latin typeface="+mn-lt"/>
              </a:rPr>
              <a:t>Allow estimation of error: </a:t>
            </a:r>
            <a:r>
              <a:rPr lang="en-GB" dirty="0" smtClean="0">
                <a:solidFill>
                  <a:schemeClr val="bg2">
                    <a:lumMod val="50000"/>
                  </a:schemeClr>
                </a:solidFill>
                <a:latin typeface="+mn-lt"/>
              </a:rPr>
              <a:t>enough replicates in each treatment</a:t>
            </a:r>
          </a:p>
          <a:p>
            <a:pPr marL="179388" indent="-179388" algn="just">
              <a:buFont typeface="Arial" pitchFamily="34" charset="0"/>
              <a:buChar char="•"/>
            </a:pPr>
            <a:endParaRPr lang="en-GB" sz="2200" dirty="0" smtClean="0">
              <a:solidFill>
                <a:schemeClr val="bg2">
                  <a:lumMod val="50000"/>
                </a:schemeClr>
              </a:solidFill>
              <a:latin typeface="+mn-lt"/>
            </a:endParaRPr>
          </a:p>
          <a:p>
            <a:pPr marL="179388" indent="-179388" algn="just">
              <a:buFont typeface="Arial" pitchFamily="34" charset="0"/>
              <a:buChar char="•"/>
            </a:pPr>
            <a:r>
              <a:rPr lang="en-GB" sz="2200" dirty="0" smtClean="0">
                <a:solidFill>
                  <a:schemeClr val="bg2">
                    <a:lumMod val="50000"/>
                  </a:schemeClr>
                </a:solidFill>
                <a:latin typeface="+mn-lt"/>
              </a:rPr>
              <a:t>Have broad validity: </a:t>
            </a:r>
            <a:r>
              <a:rPr lang="en-GB" dirty="0" smtClean="0">
                <a:solidFill>
                  <a:schemeClr val="bg2">
                    <a:lumMod val="50000"/>
                  </a:schemeClr>
                </a:solidFill>
                <a:latin typeface="+mn-lt"/>
              </a:rPr>
              <a:t>our experimental units should reflect the population about which we wish to draw inference</a:t>
            </a:r>
            <a:endParaRPr lang="en-GB" sz="2200" dirty="0" smtClean="0">
              <a:solidFill>
                <a:schemeClr val="bg2">
                  <a:lumMod val="50000"/>
                </a:schemeClr>
              </a:solidFill>
              <a:latin typeface="+mn-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Marcador de texto"/>
          <p:cNvSpPr>
            <a:spLocks noGrp="1"/>
          </p:cNvSpPr>
          <p:nvPr>
            <p:ph type="body" sz="quarter" idx="10"/>
          </p:nvPr>
        </p:nvSpPr>
        <p:spPr bwMode="auto">
          <a:xfrm>
            <a:off x="3903663" y="579438"/>
            <a:ext cx="6002337" cy="5349875"/>
          </a:xfrm>
          <a:noFill/>
          <a:ln>
            <a:miter lim="800000"/>
            <a:headEnd/>
            <a:tailEnd/>
          </a:ln>
        </p:spPr>
        <p:txBody>
          <a:bodyPr vert="horz" wrap="square" lIns="91440" tIns="45720" rIns="91440" bIns="45720" numCol="1" anchor="t" anchorCtr="0" compatLnSpc="1">
            <a:prstTxWarp prst="textNoShape">
              <a:avLst/>
            </a:prstTxWarp>
          </a:bodyPr>
          <a:lstStyle/>
          <a:p>
            <a:pPr marL="358775" indent="-358775">
              <a:buFont typeface="Calibri" pitchFamily="34" charset="0"/>
              <a:buAutoNum type="arabicPeriod"/>
            </a:pPr>
            <a:r>
              <a:rPr lang="en-GB" dirty="0" smtClean="0">
                <a:solidFill>
                  <a:srgbClr val="FF0000"/>
                </a:solidFill>
                <a:ea typeface="ＭＳ Ｐゴシック" pitchFamily="34" charset="-128"/>
              </a:rPr>
              <a:t>Basic ideas of experimental design</a:t>
            </a:r>
          </a:p>
          <a:p>
            <a:pPr marL="358775" indent="-358775">
              <a:buFont typeface="Calibri" pitchFamily="34" charset="0"/>
              <a:buAutoNum type="arabicPeriod"/>
            </a:pPr>
            <a:r>
              <a:rPr lang="en-GB" dirty="0" smtClean="0">
                <a:solidFill>
                  <a:srgbClr val="FF0000"/>
                </a:solidFill>
                <a:ea typeface="ＭＳ Ｐゴシック" pitchFamily="34" charset="-128"/>
              </a:rPr>
              <a:t>Experimental Design Principles</a:t>
            </a:r>
          </a:p>
          <a:p>
            <a:pPr marL="798875" lvl="1" indent="-358775">
              <a:buFont typeface="Calibri" pitchFamily="34" charset="0"/>
              <a:buAutoNum type="arabicPeriod"/>
            </a:pPr>
            <a:r>
              <a:rPr lang="en-GB" dirty="0" smtClean="0">
                <a:solidFill>
                  <a:srgbClr val="FF0000"/>
                </a:solidFill>
                <a:ea typeface="ＭＳ Ｐゴシック" pitchFamily="34" charset="-128"/>
              </a:rPr>
              <a:t>Randomize</a:t>
            </a:r>
          </a:p>
          <a:p>
            <a:pPr marL="798875" lvl="1" indent="-358775">
              <a:buFont typeface="Calibri" pitchFamily="34" charset="0"/>
              <a:buAutoNum type="arabicPeriod"/>
            </a:pPr>
            <a:r>
              <a:rPr lang="en-GB" dirty="0" smtClean="0">
                <a:solidFill>
                  <a:srgbClr val="FF0000"/>
                </a:solidFill>
                <a:ea typeface="ＭＳ Ｐゴシック" pitchFamily="34" charset="-128"/>
              </a:rPr>
              <a:t>Replicate</a:t>
            </a:r>
          </a:p>
          <a:p>
            <a:pPr marL="798875" lvl="1" indent="-358775">
              <a:buFont typeface="Calibri" pitchFamily="34" charset="0"/>
              <a:buAutoNum type="arabicPeriod"/>
            </a:pPr>
            <a:r>
              <a:rPr lang="en-GB" dirty="0" smtClean="0">
                <a:solidFill>
                  <a:srgbClr val="FF0000"/>
                </a:solidFill>
                <a:ea typeface="ＭＳ Ｐゴシック" pitchFamily="34" charset="-128"/>
              </a:rPr>
              <a:t>Local control</a:t>
            </a:r>
          </a:p>
          <a:p>
            <a:pPr marL="358775" indent="-358775">
              <a:buFont typeface="Calibri" pitchFamily="34" charset="0"/>
              <a:buAutoNum type="arabicPeriod"/>
            </a:pPr>
            <a:r>
              <a:rPr lang="en-GB" dirty="0" smtClean="0">
                <a:ea typeface="ＭＳ Ｐゴシック" pitchFamily="34" charset="-128"/>
              </a:rPr>
              <a:t>Experimental Design types</a:t>
            </a:r>
          </a:p>
          <a:p>
            <a:pPr marL="798875" lvl="1" indent="-358775">
              <a:buFont typeface="Calibri" pitchFamily="34" charset="0"/>
              <a:buAutoNum type="arabicPeriod"/>
            </a:pPr>
            <a:r>
              <a:rPr lang="en-GB" dirty="0" smtClean="0">
                <a:ea typeface="ＭＳ Ｐゴシック" pitchFamily="34" charset="-128"/>
              </a:rPr>
              <a:t>Completely Randomized Design (CRD)</a:t>
            </a:r>
          </a:p>
          <a:p>
            <a:pPr marL="798875" lvl="1" indent="-358775">
              <a:buFont typeface="Calibri" pitchFamily="34" charset="0"/>
              <a:buAutoNum type="arabicPeriod"/>
            </a:pPr>
            <a:r>
              <a:rPr lang="en-GB" dirty="0" smtClean="0">
                <a:ea typeface="ＭＳ Ｐゴシック" pitchFamily="34" charset="-128"/>
              </a:rPr>
              <a:t>Randomized Block Design (RBD)</a:t>
            </a:r>
          </a:p>
          <a:p>
            <a:pPr marL="798875" lvl="1" indent="-358775">
              <a:buFont typeface="Calibri" pitchFamily="34" charset="0"/>
              <a:buAutoNum type="arabicPeriod"/>
            </a:pPr>
            <a:r>
              <a:rPr lang="en-GB" dirty="0" smtClean="0">
                <a:ea typeface="ＭＳ Ｐゴシック" pitchFamily="34" charset="-128"/>
              </a:rPr>
              <a:t>Factorial Experiments</a:t>
            </a:r>
          </a:p>
          <a:p>
            <a:pPr marL="798875" lvl="1" indent="-358775">
              <a:buFont typeface="Calibri" pitchFamily="34" charset="0"/>
              <a:buAutoNum type="arabicPeriod"/>
            </a:pPr>
            <a:r>
              <a:rPr lang="en-GB" dirty="0" smtClean="0">
                <a:ea typeface="ＭＳ Ｐゴシック" pitchFamily="34" charset="-128"/>
              </a:rPr>
              <a:t>Repeated Measures (Within Subjects Designs)</a:t>
            </a:r>
          </a:p>
          <a:p>
            <a:pPr marL="358775" indent="-358775">
              <a:buFont typeface="Calibri" pitchFamily="34" charset="0"/>
              <a:buAutoNum type="arabicPeriod"/>
            </a:pPr>
            <a:r>
              <a:rPr lang="en-GB" dirty="0" smtClean="0">
                <a:ea typeface="ＭＳ Ｐゴシック" pitchFamily="34" charset="-128"/>
              </a:rPr>
              <a:t>Some references</a:t>
            </a:r>
          </a:p>
          <a:p>
            <a:pPr marL="358775" indent="-358775">
              <a:buFont typeface="Calibri" pitchFamily="34" charset="0"/>
              <a:buAutoNum type="arabicPeriod"/>
            </a:pPr>
            <a:r>
              <a:rPr lang="en-GB" dirty="0" smtClean="0">
                <a:ea typeface="ＭＳ Ｐゴシック" pitchFamily="34" charset="-128"/>
              </a:rPr>
              <a:t>Exercises</a:t>
            </a:r>
          </a:p>
          <a:p>
            <a:pPr marL="798875" lvl="1" indent="-358775">
              <a:buFont typeface="Calibri" pitchFamily="34" charset="0"/>
              <a:buAutoNum type="arabicPeriod"/>
            </a:pPr>
            <a:endParaRPr lang="en-GB" dirty="0" smtClean="0">
              <a:ea typeface="ＭＳ Ｐゴシック" pitchFamily="34" charset="-128"/>
            </a:endParaRPr>
          </a:p>
          <a:p>
            <a:pPr marL="358775" indent="-358775">
              <a:buFont typeface="Calibri" pitchFamily="34" charset="0"/>
              <a:buAutoNum type="arabicPeriod"/>
            </a:pPr>
            <a:endParaRPr lang="en-GB" dirty="0" smtClean="0">
              <a:ea typeface="ＭＳ Ｐゴシック" pitchFamily="34" charset="-128"/>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Marcador de texto"/>
          <p:cNvSpPr>
            <a:spLocks noGrp="1"/>
          </p:cNvSpPr>
          <p:nvPr>
            <p:ph type="body" sz="quarter" idx="11"/>
          </p:nvPr>
        </p:nvSpPr>
        <p:spPr>
          <a:xfrm>
            <a:off x="654972" y="1238390"/>
            <a:ext cx="8751075" cy="424638"/>
          </a:xfrm>
        </p:spPr>
        <p:txBody>
          <a:bodyPr>
            <a:normAutofit fontScale="85000" lnSpcReduction="20000"/>
          </a:bodyPr>
          <a:lstStyle/>
          <a:p>
            <a:r>
              <a:rPr lang="en-GB" dirty="0" smtClean="0"/>
              <a:t>A good experimental design must…</a:t>
            </a:r>
            <a:endParaRPr lang="en-GB" dirty="0"/>
          </a:p>
        </p:txBody>
      </p:sp>
      <p:sp>
        <p:nvSpPr>
          <p:cNvPr id="6" name="5 CuadroTexto"/>
          <p:cNvSpPr txBox="1"/>
          <p:nvPr/>
        </p:nvSpPr>
        <p:spPr>
          <a:xfrm>
            <a:off x="980388" y="1734532"/>
            <a:ext cx="7984503" cy="3077766"/>
          </a:xfrm>
          <a:prstGeom prst="rect">
            <a:avLst/>
          </a:prstGeom>
          <a:noFill/>
        </p:spPr>
        <p:txBody>
          <a:bodyPr wrap="square" rtlCol="0">
            <a:spAutoFit/>
          </a:bodyPr>
          <a:lstStyle/>
          <a:p>
            <a:pPr marL="179388" indent="-179388" algn="just">
              <a:buFont typeface="Arial" pitchFamily="34" charset="0"/>
              <a:buChar char="•"/>
            </a:pPr>
            <a:r>
              <a:rPr lang="en-GB" sz="2200" dirty="0" smtClean="0">
                <a:solidFill>
                  <a:schemeClr val="bg2">
                    <a:lumMod val="50000"/>
                  </a:schemeClr>
                </a:solidFill>
                <a:latin typeface="+mn-lt"/>
              </a:rPr>
              <a:t>Avoid systematic error: </a:t>
            </a:r>
            <a:r>
              <a:rPr lang="en-GB" dirty="0" smtClean="0">
                <a:solidFill>
                  <a:srgbClr val="0070C0"/>
                </a:solidFill>
                <a:latin typeface="+mn-lt"/>
              </a:rPr>
              <a:t>e.g. samples from one group processed with instrument A and samples from the other group processed with instrument B.</a:t>
            </a:r>
          </a:p>
          <a:p>
            <a:pPr marL="179388" indent="-179388" algn="just">
              <a:buFont typeface="Arial" pitchFamily="34" charset="0"/>
              <a:buChar char="•"/>
            </a:pPr>
            <a:endParaRPr lang="en-GB" sz="2200" dirty="0" smtClean="0">
              <a:solidFill>
                <a:schemeClr val="bg2">
                  <a:lumMod val="50000"/>
                </a:schemeClr>
              </a:solidFill>
              <a:latin typeface="+mn-lt"/>
            </a:endParaRPr>
          </a:p>
          <a:p>
            <a:pPr marL="179388" indent="-179388" algn="just">
              <a:buFont typeface="Arial" pitchFamily="34" charset="0"/>
              <a:buChar char="•"/>
            </a:pPr>
            <a:r>
              <a:rPr lang="en-GB" sz="2200" dirty="0" smtClean="0">
                <a:solidFill>
                  <a:schemeClr val="bg2">
                    <a:lumMod val="50000"/>
                  </a:schemeClr>
                </a:solidFill>
                <a:latin typeface="+mn-lt"/>
              </a:rPr>
              <a:t>Be precise: </a:t>
            </a:r>
            <a:r>
              <a:rPr lang="en-GB" dirty="0" smtClean="0">
                <a:solidFill>
                  <a:schemeClr val="bg2">
                    <a:lumMod val="50000"/>
                  </a:schemeClr>
                </a:solidFill>
                <a:latin typeface="+mn-lt"/>
              </a:rPr>
              <a:t>try to maintain the random error as low as possible</a:t>
            </a:r>
            <a:endParaRPr lang="en-GB" sz="2200" dirty="0" smtClean="0">
              <a:solidFill>
                <a:schemeClr val="bg2">
                  <a:lumMod val="50000"/>
                </a:schemeClr>
              </a:solidFill>
              <a:latin typeface="+mn-lt"/>
            </a:endParaRPr>
          </a:p>
          <a:p>
            <a:pPr marL="179388" indent="-179388" algn="just">
              <a:buFont typeface="Arial" pitchFamily="34" charset="0"/>
              <a:buChar char="•"/>
            </a:pPr>
            <a:endParaRPr lang="en-GB" sz="2200" dirty="0" smtClean="0">
              <a:solidFill>
                <a:schemeClr val="bg2">
                  <a:lumMod val="50000"/>
                </a:schemeClr>
              </a:solidFill>
              <a:latin typeface="+mn-lt"/>
            </a:endParaRPr>
          </a:p>
          <a:p>
            <a:pPr marL="179388" indent="-179388" algn="just">
              <a:buFont typeface="Arial" pitchFamily="34" charset="0"/>
              <a:buChar char="•"/>
            </a:pPr>
            <a:r>
              <a:rPr lang="en-GB" sz="2200" dirty="0" smtClean="0">
                <a:solidFill>
                  <a:schemeClr val="bg2">
                    <a:lumMod val="50000"/>
                  </a:schemeClr>
                </a:solidFill>
                <a:latin typeface="+mn-lt"/>
              </a:rPr>
              <a:t>Allow estimation of error: </a:t>
            </a:r>
            <a:r>
              <a:rPr lang="en-GB" dirty="0" smtClean="0">
                <a:solidFill>
                  <a:schemeClr val="bg2">
                    <a:lumMod val="50000"/>
                  </a:schemeClr>
                </a:solidFill>
                <a:latin typeface="+mn-lt"/>
              </a:rPr>
              <a:t>enough replicates in each treatment</a:t>
            </a:r>
          </a:p>
          <a:p>
            <a:pPr marL="179388" indent="-179388" algn="just">
              <a:buFont typeface="Arial" pitchFamily="34" charset="0"/>
              <a:buChar char="•"/>
            </a:pPr>
            <a:endParaRPr lang="en-GB" sz="2200" dirty="0" smtClean="0">
              <a:solidFill>
                <a:schemeClr val="bg2">
                  <a:lumMod val="50000"/>
                </a:schemeClr>
              </a:solidFill>
              <a:latin typeface="+mn-lt"/>
            </a:endParaRPr>
          </a:p>
          <a:p>
            <a:pPr marL="179388" indent="-179388" algn="just">
              <a:buFont typeface="Arial" pitchFamily="34" charset="0"/>
              <a:buChar char="•"/>
            </a:pPr>
            <a:r>
              <a:rPr lang="en-GB" sz="2200" dirty="0" smtClean="0">
                <a:solidFill>
                  <a:schemeClr val="bg2">
                    <a:lumMod val="50000"/>
                  </a:schemeClr>
                </a:solidFill>
                <a:latin typeface="+mn-lt"/>
              </a:rPr>
              <a:t>Have broad validity: </a:t>
            </a:r>
            <a:r>
              <a:rPr lang="en-GB" dirty="0" smtClean="0">
                <a:solidFill>
                  <a:schemeClr val="bg2">
                    <a:lumMod val="50000"/>
                  </a:schemeClr>
                </a:solidFill>
                <a:latin typeface="+mn-lt"/>
              </a:rPr>
              <a:t>our experimental units should reflect the population about which we wish to draw inference</a:t>
            </a:r>
            <a:endParaRPr lang="en-GB" sz="2200" dirty="0" smtClean="0">
              <a:solidFill>
                <a:schemeClr val="bg2">
                  <a:lumMod val="50000"/>
                </a:schemeClr>
              </a:solidFill>
              <a:latin typeface="+mn-lt"/>
            </a:endParaRPr>
          </a:p>
        </p:txBody>
      </p:sp>
      <p:sp>
        <p:nvSpPr>
          <p:cNvPr id="7" name="6 Flecha abajo"/>
          <p:cNvSpPr/>
          <p:nvPr/>
        </p:nvSpPr>
        <p:spPr bwMode="auto">
          <a:xfrm>
            <a:off x="4279769" y="4788816"/>
            <a:ext cx="1112363" cy="970961"/>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9" name="8 Rectángulo redondeado"/>
          <p:cNvSpPr/>
          <p:nvPr/>
        </p:nvSpPr>
        <p:spPr bwMode="auto">
          <a:xfrm>
            <a:off x="3536622" y="5874470"/>
            <a:ext cx="2384982" cy="445088"/>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2000" dirty="0" smtClean="0">
                <a:solidFill>
                  <a:schemeClr val="bg1"/>
                </a:solidFill>
                <a:latin typeface="Calibri" pitchFamily="34" charset="0"/>
              </a:rPr>
              <a:t>Local Control</a:t>
            </a:r>
            <a:endParaRPr kumimoji="0" lang="en-GB" sz="2000" b="0" i="0" u="none" strike="noStrike" cap="none" normalizeH="0" baseline="0" dirty="0" smtClean="0">
              <a:ln>
                <a:noFill/>
              </a:ln>
              <a:solidFill>
                <a:schemeClr val="bg1"/>
              </a:solidFill>
              <a:effectLst/>
              <a:latin typeface="Calibri" pitchFamily="34" charset="0"/>
            </a:endParaRPr>
          </a:p>
        </p:txBody>
      </p:sp>
      <p:sp>
        <p:nvSpPr>
          <p:cNvPr id="10" name="9 Rectángulo redondeado"/>
          <p:cNvSpPr/>
          <p:nvPr/>
        </p:nvSpPr>
        <p:spPr bwMode="auto">
          <a:xfrm>
            <a:off x="6172896" y="5876745"/>
            <a:ext cx="2384982" cy="445088"/>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2000" dirty="0" smtClean="0">
                <a:solidFill>
                  <a:schemeClr val="bg1"/>
                </a:solidFill>
                <a:latin typeface="Calibri" pitchFamily="34" charset="0"/>
              </a:rPr>
              <a:t>Replicate</a:t>
            </a:r>
            <a:endParaRPr kumimoji="0" lang="en-GB" sz="2000" b="0" i="0" u="none" strike="noStrike" cap="none" normalizeH="0" baseline="0" dirty="0" smtClean="0">
              <a:ln>
                <a:noFill/>
              </a:ln>
              <a:solidFill>
                <a:schemeClr val="bg1"/>
              </a:solidFill>
              <a:effectLst/>
              <a:latin typeface="Calibri" pitchFamily="34" charset="0"/>
            </a:endParaRPr>
          </a:p>
        </p:txBody>
      </p:sp>
      <p:sp>
        <p:nvSpPr>
          <p:cNvPr id="11" name="10 Rectángulo redondeado"/>
          <p:cNvSpPr/>
          <p:nvPr/>
        </p:nvSpPr>
        <p:spPr bwMode="auto">
          <a:xfrm>
            <a:off x="914400" y="5872898"/>
            <a:ext cx="2384982" cy="445088"/>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2000" dirty="0" smtClean="0">
                <a:solidFill>
                  <a:schemeClr val="bg1"/>
                </a:solidFill>
                <a:latin typeface="Calibri" pitchFamily="34" charset="0"/>
              </a:rPr>
              <a:t>Randomize</a:t>
            </a:r>
            <a:endParaRPr kumimoji="0" lang="en-GB" sz="2000" b="0" i="0" u="none" strike="noStrike" cap="none" normalizeH="0" baseline="0" dirty="0" smtClean="0">
              <a:ln>
                <a:noFill/>
              </a:ln>
              <a:solidFill>
                <a:schemeClr val="bg1"/>
              </a:solidFill>
              <a:effectLst/>
              <a:latin typeface="Calibri" pitchFamily="34" charset="0"/>
            </a:endParaRPr>
          </a:p>
        </p:txBody>
      </p:sp>
      <p:sp>
        <p:nvSpPr>
          <p:cNvPr id="12" name="5 Título"/>
          <p:cNvSpPr txBox="1">
            <a:spLocks/>
          </p:cNvSpPr>
          <p:nvPr/>
        </p:nvSpPr>
        <p:spPr>
          <a:xfrm>
            <a:off x="481853" y="9236"/>
            <a:ext cx="8915400" cy="1145309"/>
          </a:xfrm>
          <a:prstGeom prst="rect">
            <a:avLst/>
          </a:prstGeom>
        </p:spPr>
        <p:txBody>
          <a:bodyPr vert="horz" lIns="91440" tIns="45720" rIns="91440" bIns="45720" rtlCol="0" anchor="ctr">
            <a:normAutofit/>
          </a:bodyPr>
          <a:lstStyle>
            <a:lvl1pPr marL="457200" indent="-457200" algn="l" defTabSz="914400" rtl="0" eaLnBrk="1" latinLnBrk="0" hangingPunct="1">
              <a:spcBef>
                <a:spcPct val="0"/>
              </a:spcBef>
              <a:buFont typeface="+mj-lt"/>
              <a:buAutoNum type="arabicPeriod"/>
              <a:defRPr sz="3200" kern="1200" baseline="0">
                <a:solidFill>
                  <a:schemeClr val="tx1"/>
                </a:solidFill>
                <a:latin typeface="+mj-lt"/>
                <a:ea typeface="+mj-ea"/>
                <a:cs typeface="+mj-cs"/>
              </a:defRPr>
            </a:lvl1pPr>
          </a:lstStyle>
          <a:p>
            <a:pPr fontAlgn="auto">
              <a:spcAft>
                <a:spcPts val="0"/>
              </a:spcAft>
              <a:buFont typeface="+mj-lt"/>
              <a:buAutoNum type="arabicPeriod" startAt="2"/>
            </a:pPr>
            <a:r>
              <a:rPr lang="en-GB" dirty="0" smtClean="0">
                <a:ea typeface="ＭＳ Ｐゴシック" pitchFamily="34" charset="-128"/>
              </a:rPr>
              <a:t>Experimental Design Principles</a:t>
            </a:r>
            <a:br>
              <a:rPr lang="en-GB" dirty="0" smtClean="0">
                <a:ea typeface="ＭＳ Ｐゴシック" pitchFamily="34" charset="-128"/>
              </a:rPr>
            </a:br>
            <a:r>
              <a:rPr lang="en-GB" dirty="0" smtClean="0">
                <a:ea typeface="ＭＳ Ｐゴシック" pitchFamily="34" charset="-128"/>
              </a:rPr>
              <a:t>1. Randomize</a:t>
            </a:r>
            <a:endParaRPr lang="es-E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4294967295"/>
          </p:nvPr>
        </p:nvSpPr>
        <p:spPr>
          <a:xfrm>
            <a:off x="474586" y="1153255"/>
            <a:ext cx="8751075" cy="424638"/>
          </a:xfrm>
        </p:spPr>
        <p:txBody>
          <a:bodyPr>
            <a:normAutofit fontScale="92500" lnSpcReduction="20000"/>
          </a:bodyPr>
          <a:lstStyle/>
          <a:p>
            <a:r>
              <a:rPr lang="en-US" sz="2800" dirty="0" smtClean="0"/>
              <a:t>Randomize</a:t>
            </a:r>
            <a:endParaRPr lang="en-US" sz="2800" dirty="0"/>
          </a:p>
        </p:txBody>
      </p:sp>
      <p:sp>
        <p:nvSpPr>
          <p:cNvPr id="3" name="2 Marcador de texto"/>
          <p:cNvSpPr>
            <a:spLocks noGrp="1"/>
          </p:cNvSpPr>
          <p:nvPr>
            <p:ph type="body" sz="quarter" idx="12"/>
          </p:nvPr>
        </p:nvSpPr>
        <p:spPr>
          <a:xfrm>
            <a:off x="561778" y="1679837"/>
            <a:ext cx="8940441" cy="1817946"/>
          </a:xfrm>
        </p:spPr>
        <p:txBody>
          <a:bodyPr/>
          <a:lstStyle/>
          <a:p>
            <a:pPr marL="263525" indent="-179388" algn="just">
              <a:buFont typeface="Arial" pitchFamily="34" charset="0"/>
              <a:buChar char="•"/>
            </a:pPr>
            <a:r>
              <a:rPr lang="en-US" sz="2000" dirty="0" smtClean="0"/>
              <a:t>The method for assigning treatments to units involves </a:t>
            </a:r>
            <a:r>
              <a:rPr lang="en-US" sz="2000" i="1" dirty="0" smtClean="0"/>
              <a:t>randomization (“any individual experimental subject has the same chance as any other individual of finding itself in each experimental group”)</a:t>
            </a:r>
          </a:p>
          <a:p>
            <a:pPr marL="263525" indent="-179388" algn="just">
              <a:buFont typeface="Arial" pitchFamily="34" charset="0"/>
              <a:buChar char="•"/>
            </a:pPr>
            <a:r>
              <a:rPr lang="en-US" sz="2000" dirty="0" smtClean="0"/>
              <a:t>It is one of the most important elements of a well-designed experiment</a:t>
            </a:r>
          </a:p>
          <a:p>
            <a:pPr marL="263525" indent="-179388" algn="just">
              <a:buFont typeface="Arial" pitchFamily="34" charset="0"/>
              <a:buChar char="•"/>
            </a:pPr>
            <a:r>
              <a:rPr lang="en-US" sz="2000" dirty="0" smtClean="0"/>
              <a:t>Made valid most of the statistical analysis usually performed</a:t>
            </a:r>
            <a:endParaRPr lang="en-US" sz="2000" dirty="0"/>
          </a:p>
        </p:txBody>
      </p:sp>
      <p:sp>
        <p:nvSpPr>
          <p:cNvPr id="6" name="5 Título"/>
          <p:cNvSpPr>
            <a:spLocks noGrp="1"/>
          </p:cNvSpPr>
          <p:nvPr>
            <p:ph type="title"/>
          </p:nvPr>
        </p:nvSpPr>
        <p:spPr>
          <a:xfrm>
            <a:off x="481853" y="0"/>
            <a:ext cx="8915400" cy="1143000"/>
          </a:xfrm>
        </p:spPr>
        <p:txBody>
          <a:bodyPr>
            <a:normAutofit fontScale="90000"/>
          </a:bodyPr>
          <a:lstStyle/>
          <a:p>
            <a:pPr>
              <a:buFont typeface="+mj-lt"/>
              <a:buAutoNum type="arabicPeriod" startAt="2"/>
            </a:pPr>
            <a:r>
              <a:rPr lang="en-GB" dirty="0" smtClean="0">
                <a:ea typeface="ＭＳ Ｐゴシック" pitchFamily="34" charset="-128"/>
              </a:rPr>
              <a:t>Experimental Design Principles</a:t>
            </a:r>
            <a:br>
              <a:rPr lang="en-GB" dirty="0" smtClean="0">
                <a:ea typeface="ＭＳ Ｐゴシック" pitchFamily="34" charset="-128"/>
              </a:rPr>
            </a:br>
            <a:r>
              <a:rPr lang="en-GB" dirty="0" smtClean="0">
                <a:ea typeface="ＭＳ Ｐゴシック" pitchFamily="34" charset="-128"/>
              </a:rPr>
              <a:t>1. Randomize</a:t>
            </a:r>
            <a:endParaRPr lang="es-ES" dirty="0"/>
          </a:p>
        </p:txBody>
      </p:sp>
      <p:sp>
        <p:nvSpPr>
          <p:cNvPr id="8" name="7 Rectángulo redondeado"/>
          <p:cNvSpPr/>
          <p:nvPr/>
        </p:nvSpPr>
        <p:spPr bwMode="auto">
          <a:xfrm>
            <a:off x="1508288" y="3667027"/>
            <a:ext cx="6711885" cy="649399"/>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dirty="0" smtClean="0">
                <a:ln>
                  <a:noFill/>
                </a:ln>
                <a:solidFill>
                  <a:schemeClr val="bg1"/>
                </a:solidFill>
                <a:effectLst/>
                <a:latin typeface="Calibri" pitchFamily="34" charset="0"/>
              </a:rPr>
              <a:t>Haphazard is not randomized</a:t>
            </a:r>
          </a:p>
        </p:txBody>
      </p:sp>
      <p:sp>
        <p:nvSpPr>
          <p:cNvPr id="9" name="8 CuadroTexto"/>
          <p:cNvSpPr txBox="1"/>
          <p:nvPr/>
        </p:nvSpPr>
        <p:spPr>
          <a:xfrm>
            <a:off x="820132" y="4722829"/>
            <a:ext cx="8380429" cy="1631216"/>
          </a:xfrm>
          <a:prstGeom prst="rect">
            <a:avLst/>
          </a:prstGeom>
          <a:noFill/>
        </p:spPr>
        <p:txBody>
          <a:bodyPr wrap="square" rtlCol="0">
            <a:spAutoFit/>
          </a:bodyPr>
          <a:lstStyle/>
          <a:p>
            <a:pPr algn="just"/>
            <a:r>
              <a:rPr lang="en-GB" sz="1600" dirty="0" smtClean="0">
                <a:solidFill>
                  <a:srgbClr val="0070C0"/>
                </a:solidFill>
                <a:latin typeface="+mn-lt"/>
              </a:rPr>
              <a:t>e.g. 4 treatments to be assigned to  16 units</a:t>
            </a:r>
          </a:p>
          <a:p>
            <a:pPr marL="914400" lvl="1" indent="-457200" algn="just">
              <a:buFont typeface="+mj-lt"/>
              <a:buAutoNum type="arabicPeriod"/>
            </a:pPr>
            <a:r>
              <a:rPr lang="en-GB" sz="1600" dirty="0" smtClean="0">
                <a:solidFill>
                  <a:srgbClr val="0070C0"/>
                </a:solidFill>
                <a:latin typeface="+mn-lt"/>
              </a:rPr>
              <a:t>Use sixteen identical slips of paper, 4 marked with A, 4 with B, and so on to D. Put the slips of paper into a basket and mix them thoroughly. For each unit, we draw a slip of paper from the basket and use the treatment marked on the slip</a:t>
            </a:r>
          </a:p>
          <a:p>
            <a:pPr marL="914400" lvl="1" indent="-457200" algn="just">
              <a:buFont typeface="+mj-lt"/>
              <a:buAutoNum type="arabicPeriod"/>
            </a:pPr>
            <a:r>
              <a:rPr lang="en-GB" sz="1600" dirty="0" smtClean="0">
                <a:solidFill>
                  <a:srgbClr val="0070C0"/>
                </a:solidFill>
                <a:latin typeface="+mn-lt"/>
              </a:rPr>
              <a:t>Treatment A is assigned to the first four units we have encounter, treatment B to next four units, and so 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4294967295"/>
          </p:nvPr>
        </p:nvSpPr>
        <p:spPr>
          <a:xfrm>
            <a:off x="474586" y="1153255"/>
            <a:ext cx="8751075" cy="424638"/>
          </a:xfrm>
        </p:spPr>
        <p:txBody>
          <a:bodyPr>
            <a:normAutofit fontScale="92500" lnSpcReduction="20000"/>
          </a:bodyPr>
          <a:lstStyle/>
          <a:p>
            <a:r>
              <a:rPr lang="en-US" sz="2800" dirty="0" smtClean="0"/>
              <a:t>Randomize</a:t>
            </a:r>
            <a:endParaRPr lang="en-US" sz="2800" dirty="0"/>
          </a:p>
        </p:txBody>
      </p:sp>
      <p:sp>
        <p:nvSpPr>
          <p:cNvPr id="3" name="2 Marcador de texto"/>
          <p:cNvSpPr>
            <a:spLocks noGrp="1"/>
          </p:cNvSpPr>
          <p:nvPr>
            <p:ph type="body" sz="quarter" idx="12"/>
          </p:nvPr>
        </p:nvSpPr>
        <p:spPr>
          <a:xfrm>
            <a:off x="561778" y="1679837"/>
            <a:ext cx="8940441" cy="1817946"/>
          </a:xfrm>
        </p:spPr>
        <p:txBody>
          <a:bodyPr/>
          <a:lstStyle/>
          <a:p>
            <a:pPr marL="263525" indent="-179388" algn="just">
              <a:buFont typeface="Arial" pitchFamily="34" charset="0"/>
              <a:buChar char="•"/>
            </a:pPr>
            <a:r>
              <a:rPr lang="en-US" sz="2000" dirty="0" smtClean="0"/>
              <a:t>The method for assigning treatments to units involves </a:t>
            </a:r>
            <a:r>
              <a:rPr lang="en-US" sz="2000" i="1" dirty="0" smtClean="0"/>
              <a:t>randomization (“any individual experimental subject has the same chance as any other individual of finding itself in each experimental group”)</a:t>
            </a:r>
          </a:p>
          <a:p>
            <a:pPr marL="263525" indent="-179388" algn="just">
              <a:buFont typeface="Arial" pitchFamily="34" charset="0"/>
              <a:buChar char="•"/>
            </a:pPr>
            <a:r>
              <a:rPr lang="en-US" sz="2000" dirty="0" smtClean="0"/>
              <a:t>It is one of the most important elements of a well-designed experiment</a:t>
            </a:r>
          </a:p>
          <a:p>
            <a:pPr marL="263525" indent="-179388" algn="just">
              <a:buFont typeface="Arial" pitchFamily="34" charset="0"/>
              <a:buChar char="•"/>
            </a:pPr>
            <a:r>
              <a:rPr lang="en-US" sz="2000" dirty="0" smtClean="0"/>
              <a:t>Made valid most of the statistical analysis usually performed</a:t>
            </a:r>
            <a:endParaRPr lang="en-US" sz="2000" dirty="0"/>
          </a:p>
        </p:txBody>
      </p:sp>
      <p:sp>
        <p:nvSpPr>
          <p:cNvPr id="6" name="5 Título"/>
          <p:cNvSpPr>
            <a:spLocks noGrp="1"/>
          </p:cNvSpPr>
          <p:nvPr>
            <p:ph type="title"/>
          </p:nvPr>
        </p:nvSpPr>
        <p:spPr>
          <a:xfrm>
            <a:off x="481853" y="0"/>
            <a:ext cx="8915400" cy="1143000"/>
          </a:xfrm>
        </p:spPr>
        <p:txBody>
          <a:bodyPr>
            <a:normAutofit fontScale="90000"/>
          </a:bodyPr>
          <a:lstStyle/>
          <a:p>
            <a:pPr>
              <a:buFont typeface="+mj-lt"/>
              <a:buAutoNum type="arabicPeriod" startAt="2"/>
            </a:pPr>
            <a:r>
              <a:rPr lang="en-GB" dirty="0" smtClean="0">
                <a:ea typeface="ＭＳ Ｐゴシック" pitchFamily="34" charset="-128"/>
              </a:rPr>
              <a:t>Experimental Design </a:t>
            </a:r>
            <a:r>
              <a:rPr lang="en-GB" dirty="0">
                <a:ea typeface="ＭＳ Ｐゴシック" pitchFamily="34" charset="-128"/>
              </a:rPr>
              <a:t>Principles</a:t>
            </a:r>
            <a:r>
              <a:rPr lang="en-GB" dirty="0" smtClean="0">
                <a:ea typeface="ＭＳ Ｐゴシック" pitchFamily="34" charset="-128"/>
              </a:rPr>
              <a:t/>
            </a:r>
            <a:br>
              <a:rPr lang="en-GB" dirty="0" smtClean="0">
                <a:ea typeface="ＭＳ Ｐゴシック" pitchFamily="34" charset="-128"/>
              </a:rPr>
            </a:br>
            <a:r>
              <a:rPr lang="en-GB" dirty="0" smtClean="0">
                <a:ea typeface="ＭＳ Ｐゴシック" pitchFamily="34" charset="-128"/>
              </a:rPr>
              <a:t>1. Randomize</a:t>
            </a:r>
            <a:endParaRPr lang="es-ES" dirty="0"/>
          </a:p>
        </p:txBody>
      </p:sp>
      <p:sp>
        <p:nvSpPr>
          <p:cNvPr id="8" name="7 Rectángulo redondeado"/>
          <p:cNvSpPr/>
          <p:nvPr/>
        </p:nvSpPr>
        <p:spPr bwMode="auto">
          <a:xfrm>
            <a:off x="1508288" y="3667027"/>
            <a:ext cx="6711885" cy="649399"/>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dirty="0" smtClean="0">
                <a:ln>
                  <a:noFill/>
                </a:ln>
                <a:solidFill>
                  <a:schemeClr val="bg1"/>
                </a:solidFill>
                <a:effectLst/>
                <a:latin typeface="Calibri" pitchFamily="34" charset="0"/>
              </a:rPr>
              <a:t>Haphazard is not randomized</a:t>
            </a:r>
          </a:p>
        </p:txBody>
      </p:sp>
      <p:sp>
        <p:nvSpPr>
          <p:cNvPr id="9" name="8 CuadroTexto"/>
          <p:cNvSpPr txBox="1"/>
          <p:nvPr/>
        </p:nvSpPr>
        <p:spPr>
          <a:xfrm>
            <a:off x="820132" y="4722829"/>
            <a:ext cx="8380429" cy="1631216"/>
          </a:xfrm>
          <a:prstGeom prst="rect">
            <a:avLst/>
          </a:prstGeom>
          <a:noFill/>
        </p:spPr>
        <p:txBody>
          <a:bodyPr wrap="square" rtlCol="0">
            <a:spAutoFit/>
          </a:bodyPr>
          <a:lstStyle/>
          <a:p>
            <a:pPr algn="just"/>
            <a:r>
              <a:rPr lang="en-GB" sz="1600" dirty="0" smtClean="0">
                <a:solidFill>
                  <a:srgbClr val="0070C0"/>
                </a:solidFill>
                <a:latin typeface="+mn-lt"/>
              </a:rPr>
              <a:t>e.g. 4 treatments to be assigned to  16 units</a:t>
            </a:r>
          </a:p>
          <a:p>
            <a:pPr marL="914400" lvl="1" indent="-457200" algn="just">
              <a:buFont typeface="+mj-lt"/>
              <a:buAutoNum type="arabicPeriod"/>
            </a:pPr>
            <a:r>
              <a:rPr lang="en-GB" sz="1600" dirty="0" smtClean="0">
                <a:solidFill>
                  <a:srgbClr val="0070C0"/>
                </a:solidFill>
                <a:latin typeface="+mn-lt"/>
              </a:rPr>
              <a:t>Use sixteen identical slips of paper, 4 marked with A, 4 with B, and so on to D. Put the slips of paper into a basket and mix them thoroughly. For each unit, we draw a slip of paper from the basket and use the treatment marked on the slip</a:t>
            </a:r>
          </a:p>
          <a:p>
            <a:pPr marL="914400" lvl="1" indent="-457200" algn="just">
              <a:buFont typeface="+mj-lt"/>
              <a:buAutoNum type="arabicPeriod"/>
            </a:pPr>
            <a:r>
              <a:rPr lang="en-GB" sz="1600" dirty="0" smtClean="0">
                <a:solidFill>
                  <a:srgbClr val="0070C0"/>
                </a:solidFill>
                <a:latin typeface="+mn-lt"/>
              </a:rPr>
              <a:t>Treatment A is assigned to the first four units we have encounter, treatment B to next four units, and so on.</a:t>
            </a:r>
          </a:p>
        </p:txBody>
      </p:sp>
      <p:pic>
        <p:nvPicPr>
          <p:cNvPr id="7" name="Picture 4" descr="signo aceptar Tick"/>
          <p:cNvPicPr>
            <a:picLocks noChangeAspect="1" noChangeArrowheads="1"/>
          </p:cNvPicPr>
          <p:nvPr/>
        </p:nvPicPr>
        <p:blipFill>
          <a:blip r:embed="rId2" cstate="print"/>
          <a:srcRect/>
          <a:stretch>
            <a:fillRect/>
          </a:stretch>
        </p:blipFill>
        <p:spPr bwMode="auto">
          <a:xfrm>
            <a:off x="1206631" y="5042291"/>
            <a:ext cx="369248" cy="369248"/>
          </a:xfrm>
          <a:prstGeom prst="rect">
            <a:avLst/>
          </a:prstGeom>
          <a:noFill/>
        </p:spPr>
      </p:pic>
      <p:pic>
        <p:nvPicPr>
          <p:cNvPr id="10" name="Picture 6" descr="http://pixabay.com/static/uploads/photo/2011/08/14/17/47/of-way-eighth-shield-8602_640.png"/>
          <p:cNvPicPr>
            <a:picLocks noChangeAspect="1" noChangeArrowheads="1"/>
          </p:cNvPicPr>
          <p:nvPr/>
        </p:nvPicPr>
        <p:blipFill>
          <a:blip r:embed="rId3" cstate="print"/>
          <a:srcRect/>
          <a:stretch>
            <a:fillRect/>
          </a:stretch>
        </p:blipFill>
        <p:spPr bwMode="auto">
          <a:xfrm>
            <a:off x="1164947" y="5769204"/>
            <a:ext cx="495774" cy="412112"/>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a:xfrm>
            <a:off x="522194" y="0"/>
            <a:ext cx="8915400" cy="1143000"/>
          </a:xfrm>
        </p:spPr>
        <p:txBody>
          <a:bodyPr/>
          <a:lstStyle/>
          <a:p>
            <a:pPr>
              <a:buFont typeface="+mj-lt"/>
              <a:buAutoNum type="arabicPeriod" startAt="2"/>
            </a:pPr>
            <a:r>
              <a:rPr lang="en-GB" dirty="0" smtClean="0">
                <a:ea typeface="ＭＳ Ｐゴシック" pitchFamily="34" charset="-128"/>
              </a:rPr>
              <a:t>Experimental Design Principles </a:t>
            </a:r>
            <a:br>
              <a:rPr lang="en-GB" dirty="0" smtClean="0">
                <a:ea typeface="ＭＳ Ｐゴシック" pitchFamily="34" charset="-128"/>
              </a:rPr>
            </a:br>
            <a:r>
              <a:rPr lang="en-GB" dirty="0" smtClean="0">
                <a:ea typeface="ＭＳ Ｐゴシック" pitchFamily="34" charset="-128"/>
              </a:rPr>
              <a:t>1. Randomize</a:t>
            </a:r>
            <a:endParaRPr lang="es-ES" dirty="0"/>
          </a:p>
        </p:txBody>
      </p:sp>
      <p:sp>
        <p:nvSpPr>
          <p:cNvPr id="7" name="6 CuadroTexto"/>
          <p:cNvSpPr txBox="1"/>
          <p:nvPr/>
        </p:nvSpPr>
        <p:spPr>
          <a:xfrm>
            <a:off x="292232" y="1197204"/>
            <a:ext cx="8446416" cy="523220"/>
          </a:xfrm>
          <a:prstGeom prst="rect">
            <a:avLst/>
          </a:prstGeom>
          <a:noFill/>
        </p:spPr>
        <p:txBody>
          <a:bodyPr wrap="square" rtlCol="0">
            <a:spAutoFit/>
          </a:bodyPr>
          <a:lstStyle/>
          <a:p>
            <a:pPr marL="609600" indent="-609600" eaLnBrk="0" hangingPunct="0">
              <a:spcBef>
                <a:spcPct val="20000"/>
              </a:spcBef>
            </a:pPr>
            <a:r>
              <a:rPr lang="en-GB" sz="2800" b="1" dirty="0" smtClean="0">
                <a:solidFill>
                  <a:srgbClr val="7D468C"/>
                </a:solidFill>
                <a:latin typeface="+mn-lt"/>
                <a:ea typeface="+mn-ea"/>
                <a:cs typeface="+mn-cs"/>
              </a:rPr>
              <a:t>Randomization against confounding</a:t>
            </a:r>
          </a:p>
        </p:txBody>
      </p:sp>
      <p:sp>
        <p:nvSpPr>
          <p:cNvPr id="4" name="3 Flecha abajo"/>
          <p:cNvSpPr/>
          <p:nvPr/>
        </p:nvSpPr>
        <p:spPr bwMode="auto">
          <a:xfrm>
            <a:off x="4430598" y="1725105"/>
            <a:ext cx="235670" cy="518474"/>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5" name="4 CuadroTexto"/>
          <p:cNvSpPr txBox="1"/>
          <p:nvPr/>
        </p:nvSpPr>
        <p:spPr>
          <a:xfrm>
            <a:off x="1696825" y="2281287"/>
            <a:ext cx="7447175" cy="400110"/>
          </a:xfrm>
          <a:prstGeom prst="rect">
            <a:avLst/>
          </a:prstGeom>
          <a:noFill/>
        </p:spPr>
        <p:txBody>
          <a:bodyPr wrap="square" rtlCol="0">
            <a:spAutoFit/>
          </a:bodyPr>
          <a:lstStyle/>
          <a:p>
            <a:pPr algn="just"/>
            <a:r>
              <a:rPr lang="en-GB" sz="2000" dirty="0" smtClean="0">
                <a:solidFill>
                  <a:schemeClr val="bg2">
                    <a:lumMod val="50000"/>
                  </a:schemeClr>
                </a:solidFill>
                <a:latin typeface="+mn-lt"/>
              </a:rPr>
              <a:t>The effect of the treatment cannot be distinguished from another</a:t>
            </a:r>
          </a:p>
        </p:txBody>
      </p:sp>
      <p:sp>
        <p:nvSpPr>
          <p:cNvPr id="8" name="7 CuadroTexto"/>
          <p:cNvSpPr txBox="1"/>
          <p:nvPr/>
        </p:nvSpPr>
        <p:spPr>
          <a:xfrm>
            <a:off x="377072" y="2941164"/>
            <a:ext cx="8380429" cy="2800767"/>
          </a:xfrm>
          <a:prstGeom prst="rect">
            <a:avLst/>
          </a:prstGeom>
          <a:noFill/>
        </p:spPr>
        <p:txBody>
          <a:bodyPr wrap="square" rtlCol="0">
            <a:spAutoFit/>
          </a:bodyPr>
          <a:lstStyle/>
          <a:p>
            <a:pPr algn="just"/>
            <a:r>
              <a:rPr lang="en-GB" sz="1600" dirty="0" smtClean="0">
                <a:solidFill>
                  <a:srgbClr val="0070C0"/>
                </a:solidFill>
                <a:latin typeface="+mn-lt"/>
              </a:rPr>
              <a:t>e.g. Consider a new drug treatment for coronary artery disease. 2 treatments to compare: this drug treatment with bypass surgery. We have 100 patients in our pool of volunteers; they need to be assigned to the two treatments. We then measure five-year survival as a response.</a:t>
            </a:r>
          </a:p>
          <a:p>
            <a:pPr algn="just"/>
            <a:endParaRPr lang="en-GB" sz="1600" u="sng" dirty="0" smtClean="0">
              <a:solidFill>
                <a:srgbClr val="0070C0"/>
              </a:solidFill>
              <a:latin typeface="+mn-lt"/>
            </a:endParaRPr>
          </a:p>
          <a:p>
            <a:pPr algn="just"/>
            <a:r>
              <a:rPr lang="en-GB" sz="1600" u="sng" dirty="0" smtClean="0">
                <a:solidFill>
                  <a:srgbClr val="0070C0"/>
                </a:solidFill>
                <a:latin typeface="+mn-lt"/>
              </a:rPr>
              <a:t>What sort of trouble can happen if we fail to randomize</a:t>
            </a:r>
            <a:r>
              <a:rPr lang="en-GB" sz="1600" dirty="0" smtClean="0">
                <a:solidFill>
                  <a:srgbClr val="0070C0"/>
                </a:solidFill>
                <a:latin typeface="+mn-lt"/>
              </a:rPr>
              <a:t>? Bypass surgery is a major operation, and patients with severe disease may not be strong enough to survive the operation:</a:t>
            </a:r>
          </a:p>
          <a:p>
            <a:pPr algn="just"/>
            <a:r>
              <a:rPr lang="en-GB" sz="1600" dirty="0" smtClean="0">
                <a:solidFill>
                  <a:srgbClr val="0070C0"/>
                </a:solidFill>
                <a:latin typeface="+mn-lt"/>
              </a:rPr>
              <a:t>	- stronger patients to surgery and the weaker patients to the drug therapy. </a:t>
            </a:r>
          </a:p>
          <a:p>
            <a:pPr algn="just"/>
            <a:endParaRPr lang="en-GB" sz="1600" dirty="0" smtClean="0">
              <a:solidFill>
                <a:srgbClr val="0070C0"/>
              </a:solidFill>
              <a:latin typeface="+mn-lt"/>
            </a:endParaRPr>
          </a:p>
          <a:p>
            <a:pPr algn="just"/>
            <a:r>
              <a:rPr lang="en-GB" sz="1600" dirty="0" smtClean="0">
                <a:solidFill>
                  <a:srgbClr val="0070C0"/>
                </a:solidFill>
                <a:latin typeface="+mn-lt"/>
              </a:rPr>
              <a:t>This confounds strength of the patient with treatment differences. The drug therapy would likely have a lower survival rate because it is getting the weakest patients, even if the drug therapy is every bit as good as the surgery.</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a:xfrm>
            <a:off x="522194" y="0"/>
            <a:ext cx="8915400" cy="1143000"/>
          </a:xfrm>
        </p:spPr>
        <p:txBody>
          <a:bodyPr/>
          <a:lstStyle/>
          <a:p>
            <a:pPr>
              <a:buFont typeface="+mj-lt"/>
              <a:buAutoNum type="arabicPeriod" startAt="2"/>
            </a:pPr>
            <a:r>
              <a:rPr lang="en-GB" dirty="0" smtClean="0">
                <a:ea typeface="ＭＳ Ｐゴシック" pitchFamily="34" charset="-128"/>
              </a:rPr>
              <a:t>Experimental Design Principles </a:t>
            </a:r>
            <a:br>
              <a:rPr lang="en-GB" dirty="0" smtClean="0">
                <a:ea typeface="ＭＳ Ｐゴシック" pitchFamily="34" charset="-128"/>
              </a:rPr>
            </a:br>
            <a:r>
              <a:rPr lang="en-GB" dirty="0" smtClean="0">
                <a:ea typeface="ＭＳ Ｐゴシック" pitchFamily="34" charset="-128"/>
              </a:rPr>
              <a:t>1. Randomize</a:t>
            </a:r>
            <a:endParaRPr lang="es-ES" dirty="0"/>
          </a:p>
        </p:txBody>
      </p:sp>
      <p:sp>
        <p:nvSpPr>
          <p:cNvPr id="7" name="6 CuadroTexto"/>
          <p:cNvSpPr txBox="1"/>
          <p:nvPr/>
        </p:nvSpPr>
        <p:spPr>
          <a:xfrm>
            <a:off x="292232" y="1197204"/>
            <a:ext cx="8446416" cy="523220"/>
          </a:xfrm>
          <a:prstGeom prst="rect">
            <a:avLst/>
          </a:prstGeom>
          <a:noFill/>
        </p:spPr>
        <p:txBody>
          <a:bodyPr wrap="square" rtlCol="0">
            <a:spAutoFit/>
          </a:bodyPr>
          <a:lstStyle/>
          <a:p>
            <a:pPr marL="609600" indent="-609600" eaLnBrk="0" hangingPunct="0">
              <a:spcBef>
                <a:spcPct val="20000"/>
              </a:spcBef>
            </a:pPr>
            <a:r>
              <a:rPr lang="en-GB" sz="2800" b="1" dirty="0" smtClean="0">
                <a:solidFill>
                  <a:srgbClr val="7D468C"/>
                </a:solidFill>
                <a:latin typeface="+mn-lt"/>
                <a:ea typeface="+mn-ea"/>
                <a:cs typeface="+mn-cs"/>
              </a:rPr>
              <a:t>Randomization against confounding</a:t>
            </a:r>
          </a:p>
        </p:txBody>
      </p:sp>
      <p:sp>
        <p:nvSpPr>
          <p:cNvPr id="8" name="7 CuadroTexto"/>
          <p:cNvSpPr txBox="1"/>
          <p:nvPr/>
        </p:nvSpPr>
        <p:spPr>
          <a:xfrm>
            <a:off x="480767" y="1706252"/>
            <a:ext cx="8380429" cy="338554"/>
          </a:xfrm>
          <a:prstGeom prst="rect">
            <a:avLst/>
          </a:prstGeom>
          <a:noFill/>
        </p:spPr>
        <p:txBody>
          <a:bodyPr wrap="square" rtlCol="0">
            <a:spAutoFit/>
          </a:bodyPr>
          <a:lstStyle/>
          <a:p>
            <a:pPr algn="just"/>
            <a:r>
              <a:rPr lang="en-GB" sz="1600" dirty="0" smtClean="0">
                <a:solidFill>
                  <a:srgbClr val="0070C0"/>
                </a:solidFill>
                <a:latin typeface="+mn-lt"/>
              </a:rPr>
              <a:t>e.g.  Cont.</a:t>
            </a:r>
          </a:p>
        </p:txBody>
      </p:sp>
      <p:pic>
        <p:nvPicPr>
          <p:cNvPr id="1026" name="Picture 2" descr="EUR One Euro €1 Coin Head"/>
          <p:cNvPicPr>
            <a:picLocks noChangeAspect="1" noChangeArrowheads="1"/>
          </p:cNvPicPr>
          <p:nvPr/>
        </p:nvPicPr>
        <p:blipFill>
          <a:blip r:embed="rId2" cstate="print"/>
          <a:srcRect/>
          <a:stretch>
            <a:fillRect/>
          </a:stretch>
        </p:blipFill>
        <p:spPr bwMode="auto">
          <a:xfrm>
            <a:off x="3365400" y="1951349"/>
            <a:ext cx="1461122" cy="1461122"/>
          </a:xfrm>
          <a:prstGeom prst="rect">
            <a:avLst/>
          </a:prstGeom>
          <a:noFill/>
        </p:spPr>
      </p:pic>
      <p:pic>
        <p:nvPicPr>
          <p:cNvPr id="1028" name="Picture 4" descr="EUR One Euro €1 Coin Tail"/>
          <p:cNvPicPr>
            <a:picLocks noChangeAspect="1" noChangeArrowheads="1"/>
          </p:cNvPicPr>
          <p:nvPr/>
        </p:nvPicPr>
        <p:blipFill>
          <a:blip r:embed="rId3" cstate="print"/>
          <a:srcRect/>
          <a:stretch>
            <a:fillRect/>
          </a:stretch>
        </p:blipFill>
        <p:spPr bwMode="auto">
          <a:xfrm>
            <a:off x="3343084" y="3724835"/>
            <a:ext cx="1436306" cy="1436307"/>
          </a:xfrm>
          <a:prstGeom prst="rect">
            <a:avLst/>
          </a:prstGeom>
          <a:noFill/>
        </p:spPr>
      </p:pic>
      <p:sp>
        <p:nvSpPr>
          <p:cNvPr id="9" name="8 CuadroTexto"/>
          <p:cNvSpPr txBox="1"/>
          <p:nvPr/>
        </p:nvSpPr>
        <p:spPr>
          <a:xfrm>
            <a:off x="1046375" y="2337847"/>
            <a:ext cx="1923068" cy="369332"/>
          </a:xfrm>
          <a:prstGeom prst="rect">
            <a:avLst/>
          </a:prstGeom>
          <a:noFill/>
        </p:spPr>
        <p:txBody>
          <a:bodyPr wrap="square" rtlCol="0">
            <a:spAutoFit/>
          </a:bodyPr>
          <a:lstStyle/>
          <a:p>
            <a:pPr algn="just"/>
            <a:r>
              <a:rPr lang="en-GB" dirty="0" smtClean="0">
                <a:solidFill>
                  <a:srgbClr val="0070C0"/>
                </a:solidFill>
                <a:latin typeface="+mn-lt"/>
              </a:rPr>
              <a:t>Patient 1 to 100</a:t>
            </a:r>
          </a:p>
        </p:txBody>
      </p:sp>
      <p:sp>
        <p:nvSpPr>
          <p:cNvPr id="10" name="9 CuadroTexto"/>
          <p:cNvSpPr txBox="1"/>
          <p:nvPr/>
        </p:nvSpPr>
        <p:spPr>
          <a:xfrm>
            <a:off x="4915739" y="2399559"/>
            <a:ext cx="1923068" cy="369332"/>
          </a:xfrm>
          <a:prstGeom prst="rect">
            <a:avLst/>
          </a:prstGeom>
          <a:noFill/>
        </p:spPr>
        <p:txBody>
          <a:bodyPr wrap="square" rtlCol="0">
            <a:spAutoFit/>
          </a:bodyPr>
          <a:lstStyle/>
          <a:p>
            <a:pPr algn="just"/>
            <a:r>
              <a:rPr lang="en-GB" dirty="0" smtClean="0">
                <a:solidFill>
                  <a:srgbClr val="0070C0"/>
                </a:solidFill>
                <a:latin typeface="+mn-lt"/>
              </a:rPr>
              <a:t>Surgery</a:t>
            </a:r>
          </a:p>
        </p:txBody>
      </p:sp>
      <p:sp>
        <p:nvSpPr>
          <p:cNvPr id="11" name="10 CuadroTexto"/>
          <p:cNvSpPr txBox="1"/>
          <p:nvPr/>
        </p:nvSpPr>
        <p:spPr>
          <a:xfrm>
            <a:off x="4942788" y="4282911"/>
            <a:ext cx="1923068" cy="369332"/>
          </a:xfrm>
          <a:prstGeom prst="rect">
            <a:avLst/>
          </a:prstGeom>
          <a:noFill/>
        </p:spPr>
        <p:txBody>
          <a:bodyPr wrap="square" rtlCol="0">
            <a:spAutoFit/>
          </a:bodyPr>
          <a:lstStyle/>
          <a:p>
            <a:pPr algn="just"/>
            <a:r>
              <a:rPr lang="en-GB" dirty="0" smtClean="0">
                <a:solidFill>
                  <a:srgbClr val="0070C0"/>
                </a:solidFill>
                <a:latin typeface="+mn-lt"/>
              </a:rPr>
              <a:t>Drug therapy</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a:xfrm>
            <a:off x="522194" y="0"/>
            <a:ext cx="8915400" cy="1143000"/>
          </a:xfrm>
        </p:spPr>
        <p:txBody>
          <a:bodyPr/>
          <a:lstStyle/>
          <a:p>
            <a:pPr>
              <a:buFont typeface="+mj-lt"/>
              <a:buAutoNum type="arabicPeriod" startAt="2"/>
            </a:pPr>
            <a:r>
              <a:rPr lang="en-GB" dirty="0" smtClean="0">
                <a:ea typeface="ＭＳ Ｐゴシック" pitchFamily="34" charset="-128"/>
              </a:rPr>
              <a:t>Experimental Design Principles </a:t>
            </a:r>
            <a:br>
              <a:rPr lang="en-GB" dirty="0" smtClean="0">
                <a:ea typeface="ＭＳ Ｐゴシック" pitchFamily="34" charset="-128"/>
              </a:rPr>
            </a:br>
            <a:r>
              <a:rPr lang="en-GB" dirty="0" smtClean="0">
                <a:ea typeface="ＭＳ Ｐゴシック" pitchFamily="34" charset="-128"/>
              </a:rPr>
              <a:t>1. Randomize</a:t>
            </a:r>
            <a:endParaRPr lang="es-ES" dirty="0"/>
          </a:p>
        </p:txBody>
      </p:sp>
      <p:sp>
        <p:nvSpPr>
          <p:cNvPr id="13" name="12 CuadroTexto"/>
          <p:cNvSpPr txBox="1"/>
          <p:nvPr/>
        </p:nvSpPr>
        <p:spPr>
          <a:xfrm>
            <a:off x="605117" y="1438835"/>
            <a:ext cx="8525436" cy="1169551"/>
          </a:xfrm>
          <a:prstGeom prst="rect">
            <a:avLst/>
          </a:prstGeom>
          <a:noFill/>
        </p:spPr>
        <p:txBody>
          <a:bodyPr wrap="square" rtlCol="0">
            <a:spAutoFit/>
          </a:bodyPr>
          <a:lstStyle/>
          <a:p>
            <a:pPr algn="just"/>
            <a:r>
              <a:rPr lang="en-US" sz="2400" dirty="0" smtClean="0">
                <a:solidFill>
                  <a:srgbClr val="000000"/>
                </a:solidFill>
                <a:latin typeface="+mn-lt"/>
              </a:rPr>
              <a:t>Saying “randomly assign…” is sometimes easier to say than to do, especially in complex designs.</a:t>
            </a:r>
          </a:p>
          <a:p>
            <a:pPr algn="just"/>
            <a:endParaRPr lang="en-US" sz="2200" dirty="0" smtClean="0">
              <a:solidFill>
                <a:schemeClr val="bg2">
                  <a:lumMod val="50000"/>
                </a:schemeClr>
              </a:solidFill>
              <a:latin typeface="+mn-lt"/>
            </a:endParaRPr>
          </a:p>
        </p:txBody>
      </p:sp>
      <p:sp>
        <p:nvSpPr>
          <p:cNvPr id="14" name="13 Rectángulo"/>
          <p:cNvSpPr/>
          <p:nvPr/>
        </p:nvSpPr>
        <p:spPr>
          <a:xfrm>
            <a:off x="647698" y="2435554"/>
            <a:ext cx="5793441" cy="2482731"/>
          </a:xfrm>
          <a:prstGeom prst="rect">
            <a:avLst/>
          </a:prstGeom>
        </p:spPr>
        <p:txBody>
          <a:bodyPr wrap="square">
            <a:spAutoFit/>
          </a:bodyPr>
          <a:lstStyle/>
          <a:p>
            <a:pPr marL="365125" indent="-365125">
              <a:spcBef>
                <a:spcPts val="775"/>
              </a:spcBef>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s-ES" sz="2200" dirty="0" err="1" smtClean="0">
                <a:solidFill>
                  <a:srgbClr val="000000"/>
                </a:solidFill>
                <a:latin typeface="+mn-lt"/>
              </a:rPr>
              <a:t>Some</a:t>
            </a:r>
            <a:r>
              <a:rPr lang="es-ES" sz="2200" dirty="0" smtClean="0">
                <a:solidFill>
                  <a:srgbClr val="000000"/>
                </a:solidFill>
                <a:latin typeface="+mn-lt"/>
              </a:rPr>
              <a:t> </a:t>
            </a:r>
            <a:r>
              <a:rPr lang="es-ES" sz="2200" dirty="0" err="1" smtClean="0">
                <a:solidFill>
                  <a:srgbClr val="000000"/>
                </a:solidFill>
                <a:latin typeface="+mn-lt"/>
              </a:rPr>
              <a:t>tools</a:t>
            </a:r>
            <a:r>
              <a:rPr lang="es-ES" sz="2200" dirty="0" smtClean="0">
                <a:solidFill>
                  <a:srgbClr val="000000"/>
                </a:solidFill>
                <a:latin typeface="+mn-lt"/>
              </a:rPr>
              <a:t> </a:t>
            </a:r>
            <a:r>
              <a:rPr lang="es-ES" sz="2200" dirty="0" err="1" smtClean="0">
                <a:solidFill>
                  <a:srgbClr val="000000"/>
                </a:solidFill>
                <a:latin typeface="+mn-lt"/>
              </a:rPr>
              <a:t>may</a:t>
            </a:r>
            <a:r>
              <a:rPr lang="es-ES" sz="2200" dirty="0" smtClean="0">
                <a:solidFill>
                  <a:srgbClr val="000000"/>
                </a:solidFill>
                <a:latin typeface="+mn-lt"/>
              </a:rPr>
              <a:t> </a:t>
            </a:r>
            <a:r>
              <a:rPr lang="es-ES" sz="2200" dirty="0" err="1" smtClean="0">
                <a:solidFill>
                  <a:srgbClr val="000000"/>
                </a:solidFill>
                <a:latin typeface="+mn-lt"/>
              </a:rPr>
              <a:t>help</a:t>
            </a:r>
            <a:endParaRPr lang="es-ES" sz="2200" dirty="0" smtClean="0">
              <a:solidFill>
                <a:srgbClr val="000000"/>
              </a:solidFill>
              <a:latin typeface="+mn-lt"/>
            </a:endParaRPr>
          </a:p>
          <a:p>
            <a:pPr marL="806450" lvl="1" indent="-306388">
              <a:spcBef>
                <a:spcPts val="650"/>
              </a:spcBef>
              <a:buFont typeface="Arial" charset="0"/>
              <a:buChar char="–"/>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s-ES" sz="2200" dirty="0" err="1" smtClean="0">
                <a:solidFill>
                  <a:srgbClr val="000000"/>
                </a:solidFill>
                <a:latin typeface="+mn-lt"/>
              </a:rPr>
              <a:t>Research</a:t>
            </a:r>
            <a:r>
              <a:rPr lang="es-ES" sz="2200" dirty="0" smtClean="0">
                <a:solidFill>
                  <a:srgbClr val="000000"/>
                </a:solidFill>
                <a:latin typeface="+mn-lt"/>
              </a:rPr>
              <a:t> </a:t>
            </a:r>
            <a:r>
              <a:rPr lang="es-ES" sz="2200" dirty="0" err="1" smtClean="0">
                <a:solidFill>
                  <a:srgbClr val="000000"/>
                </a:solidFill>
                <a:latin typeface="+mn-lt"/>
              </a:rPr>
              <a:t>Randomizer</a:t>
            </a:r>
            <a:r>
              <a:rPr lang="es-ES" sz="2200" dirty="0" smtClean="0">
                <a:solidFill>
                  <a:srgbClr val="000000"/>
                </a:solidFill>
                <a:latin typeface="+mn-lt"/>
              </a:rPr>
              <a:t/>
            </a:r>
            <a:br>
              <a:rPr lang="es-ES" sz="2200" dirty="0" smtClean="0">
                <a:solidFill>
                  <a:srgbClr val="000000"/>
                </a:solidFill>
                <a:latin typeface="+mn-lt"/>
              </a:rPr>
            </a:br>
            <a:r>
              <a:rPr lang="es-ES" sz="2200" dirty="0" smtClean="0">
                <a:solidFill>
                  <a:srgbClr val="CCCCFF"/>
                </a:solidFill>
                <a:latin typeface="+mn-lt"/>
                <a:hlinkClick r:id="rId2"/>
              </a:rPr>
              <a:t>http://www.randomizer.org/</a:t>
            </a:r>
          </a:p>
          <a:p>
            <a:pPr marL="806450" lvl="1" indent="-306388">
              <a:spcBef>
                <a:spcPts val="650"/>
              </a:spcBef>
              <a:buFont typeface="Arial" charset="0"/>
              <a:buChar char="–"/>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s-ES" sz="2200" dirty="0" err="1" smtClean="0">
                <a:solidFill>
                  <a:srgbClr val="000000"/>
                </a:solidFill>
                <a:latin typeface="+mn-lt"/>
              </a:rPr>
              <a:t>Interactive</a:t>
            </a:r>
            <a:r>
              <a:rPr lang="es-ES" sz="2200" dirty="0" smtClean="0">
                <a:solidFill>
                  <a:srgbClr val="000000"/>
                </a:solidFill>
                <a:latin typeface="+mn-lt"/>
              </a:rPr>
              <a:t> </a:t>
            </a:r>
            <a:r>
              <a:rPr lang="es-ES" sz="2200" dirty="0" err="1" smtClean="0">
                <a:solidFill>
                  <a:srgbClr val="000000"/>
                </a:solidFill>
                <a:latin typeface="+mn-lt"/>
              </a:rPr>
              <a:t>Statistical</a:t>
            </a:r>
            <a:r>
              <a:rPr lang="es-ES" sz="2200" dirty="0" smtClean="0">
                <a:solidFill>
                  <a:srgbClr val="000000"/>
                </a:solidFill>
                <a:latin typeface="+mn-lt"/>
              </a:rPr>
              <a:t> </a:t>
            </a:r>
            <a:r>
              <a:rPr lang="es-ES" sz="2200" dirty="0" err="1" smtClean="0">
                <a:solidFill>
                  <a:srgbClr val="000000"/>
                </a:solidFill>
                <a:latin typeface="+mn-lt"/>
              </a:rPr>
              <a:t>Calculation</a:t>
            </a:r>
            <a:r>
              <a:rPr lang="es-ES" sz="2200" dirty="0" smtClean="0">
                <a:solidFill>
                  <a:srgbClr val="000000"/>
                </a:solidFill>
                <a:latin typeface="+mn-lt"/>
              </a:rPr>
              <a:t> </a:t>
            </a:r>
            <a:r>
              <a:rPr lang="es-ES" sz="2200" dirty="0" err="1" smtClean="0">
                <a:solidFill>
                  <a:srgbClr val="000000"/>
                </a:solidFill>
                <a:latin typeface="+mn-lt"/>
              </a:rPr>
              <a:t>pages</a:t>
            </a:r>
            <a:r>
              <a:rPr lang="es-ES" sz="2200" dirty="0" smtClean="0">
                <a:solidFill>
                  <a:srgbClr val="000000"/>
                </a:solidFill>
                <a:latin typeface="+mn-lt"/>
              </a:rPr>
              <a:t> </a:t>
            </a:r>
          </a:p>
          <a:p>
            <a:pPr marL="806450" lvl="1" indent="-306388">
              <a:spcBef>
                <a:spcPts val="650"/>
              </a:spcBef>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s-ES" sz="2200" dirty="0" smtClean="0">
                <a:solidFill>
                  <a:srgbClr val="000000"/>
                </a:solidFill>
                <a:latin typeface="+mn-lt"/>
              </a:rPr>
              <a:t>	</a:t>
            </a:r>
            <a:r>
              <a:rPr lang="es-ES" sz="2200" dirty="0" smtClean="0">
                <a:solidFill>
                  <a:srgbClr val="CCCCFF"/>
                </a:solidFill>
                <a:latin typeface="+mn-lt"/>
                <a:hlinkClick r:id="rId3"/>
              </a:rPr>
              <a:t>http://statpages.org/</a:t>
            </a:r>
            <a:r>
              <a:rPr lang="es-ES" sz="2200" dirty="0" smtClean="0">
                <a:solidFill>
                  <a:srgbClr val="000000"/>
                </a:solidFill>
                <a:latin typeface="+mn-lt"/>
              </a:rPr>
              <a:t> </a:t>
            </a:r>
          </a:p>
          <a:p>
            <a:pPr marL="806450" lvl="1" indent="-306388">
              <a:spcBef>
                <a:spcPts val="650"/>
              </a:spcBef>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s-ES" sz="2200" dirty="0" smtClean="0">
                <a:solidFill>
                  <a:srgbClr val="000000"/>
                </a:solidFill>
                <a:latin typeface="+mn-lt"/>
              </a:rPr>
              <a:t>	(look por “Experimental </a:t>
            </a:r>
            <a:r>
              <a:rPr lang="es-ES" sz="2200" dirty="0" err="1" smtClean="0">
                <a:solidFill>
                  <a:srgbClr val="000000"/>
                </a:solidFill>
                <a:latin typeface="+mn-lt"/>
              </a:rPr>
              <a:t>design</a:t>
            </a:r>
            <a:r>
              <a:rPr lang="es-ES" sz="2200" dirty="0" smtClean="0">
                <a:solidFill>
                  <a:srgbClr val="000000"/>
                </a:solidFill>
                <a:latin typeface="+mn-lt"/>
              </a:rPr>
              <a:t>”)</a:t>
            </a:r>
            <a:endParaRPr lang="es-ES" sz="2200" dirty="0">
              <a:solidFill>
                <a:srgbClr val="000000"/>
              </a:solidFill>
              <a:latin typeface="+mn-lt"/>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texto"/>
          <p:cNvSpPr>
            <a:spLocks noGrp="1"/>
          </p:cNvSpPr>
          <p:nvPr>
            <p:ph type="body" sz="quarter" idx="12"/>
          </p:nvPr>
        </p:nvSpPr>
        <p:spPr>
          <a:xfrm>
            <a:off x="561778" y="1400433"/>
            <a:ext cx="8940441" cy="5207758"/>
          </a:xfrm>
        </p:spPr>
        <p:txBody>
          <a:bodyPr/>
          <a:lstStyle/>
          <a:p>
            <a:pPr marL="263525" indent="-179388" algn="just">
              <a:buFont typeface="Arial" pitchFamily="34" charset="0"/>
              <a:buChar char="•"/>
            </a:pPr>
            <a:r>
              <a:rPr lang="en-US" sz="2000" dirty="0" smtClean="0"/>
              <a:t>Replication is </a:t>
            </a:r>
            <a:r>
              <a:rPr lang="en-US" sz="2000" dirty="0" smtClean="0"/>
              <a:t>the basis of all experimental design</a:t>
            </a:r>
          </a:p>
          <a:p>
            <a:pPr marL="263525" indent="-179388" algn="just">
              <a:buFont typeface="Arial" pitchFamily="34" charset="0"/>
              <a:buChar char="•"/>
            </a:pPr>
            <a:r>
              <a:rPr lang="en-US" sz="2000" dirty="0" smtClean="0"/>
              <a:t>It is the repetition of the basic experiment with another experimental units</a:t>
            </a:r>
          </a:p>
          <a:p>
            <a:pPr marL="263525" indent="-179388" algn="just">
              <a:buFont typeface="Arial" pitchFamily="34" charset="0"/>
              <a:buChar char="•"/>
            </a:pPr>
            <a:endParaRPr lang="en-US" sz="2000" dirty="0" smtClean="0"/>
          </a:p>
          <a:p>
            <a:pPr marL="263525" indent="-179388" algn="just">
              <a:buFont typeface="Arial" pitchFamily="34" charset="0"/>
              <a:buChar char="•"/>
            </a:pPr>
            <a:endParaRPr lang="en-US" sz="2000" dirty="0" smtClean="0"/>
          </a:p>
          <a:p>
            <a:pPr marL="263525" indent="-179388" algn="just">
              <a:buFont typeface="Arial" pitchFamily="34" charset="0"/>
              <a:buChar char="•"/>
            </a:pPr>
            <a:endParaRPr lang="en-US" sz="2000" dirty="0" smtClean="0"/>
          </a:p>
          <a:p>
            <a:pPr marL="263525" indent="-179388" algn="just">
              <a:buFont typeface="Arial" pitchFamily="34" charset="0"/>
              <a:buChar char="•"/>
            </a:pPr>
            <a:endParaRPr lang="en-US" sz="2000" dirty="0" smtClean="0"/>
          </a:p>
          <a:p>
            <a:pPr marL="263525" indent="-179388" algn="just">
              <a:buFont typeface="Arial" pitchFamily="34" charset="0"/>
              <a:buChar char="•"/>
            </a:pPr>
            <a:endParaRPr lang="en-US" sz="2000" dirty="0" smtClean="0"/>
          </a:p>
          <a:p>
            <a:pPr marL="263525" indent="-179388" algn="just">
              <a:buFont typeface="Arial" pitchFamily="34" charset="0"/>
              <a:buChar char="•"/>
            </a:pPr>
            <a:endParaRPr lang="en-US" sz="2000" dirty="0" smtClean="0"/>
          </a:p>
          <a:p>
            <a:pPr marL="263525" indent="-179388" algn="just">
              <a:buFont typeface="Arial" pitchFamily="34" charset="0"/>
              <a:buChar char="•"/>
            </a:pPr>
            <a:endParaRPr lang="en-US" sz="2000" dirty="0" smtClean="0"/>
          </a:p>
          <a:p>
            <a:pPr marL="263525" indent="-179388" algn="just">
              <a:buFont typeface="Arial" pitchFamily="34" charset="0"/>
              <a:buChar char="•"/>
            </a:pPr>
            <a:r>
              <a:rPr lang="en-US" sz="2000" dirty="0" smtClean="0"/>
              <a:t>To </a:t>
            </a:r>
            <a:r>
              <a:rPr lang="en-US" sz="2000" dirty="0" smtClean="0"/>
              <a:t>keep in </a:t>
            </a:r>
            <a:r>
              <a:rPr lang="en-US" sz="2000" dirty="0" smtClean="0"/>
              <a:t>mind:</a:t>
            </a:r>
            <a:endParaRPr lang="en-US" sz="1800" dirty="0"/>
          </a:p>
          <a:p>
            <a:pPr marL="1074738" lvl="2" indent="-230188" algn="just">
              <a:buFont typeface="+mj-lt"/>
              <a:buAutoNum type="arabicPeriod"/>
            </a:pPr>
            <a:r>
              <a:rPr lang="en-US" sz="1800" dirty="0" smtClean="0">
                <a:solidFill>
                  <a:schemeClr val="bg2">
                    <a:lumMod val="50000"/>
                  </a:schemeClr>
                </a:solidFill>
                <a:latin typeface="+mn-lt"/>
              </a:rPr>
              <a:t>It is important to be aware of </a:t>
            </a:r>
            <a:r>
              <a:rPr lang="en-US" sz="1800" dirty="0" smtClean="0">
                <a:solidFill>
                  <a:schemeClr val="bg2">
                    <a:lumMod val="50000"/>
                  </a:schemeClr>
                </a:solidFill>
                <a:latin typeface="+mn-lt"/>
              </a:rPr>
              <a:t>the variability of the technology used</a:t>
            </a:r>
          </a:p>
          <a:p>
            <a:pPr marL="1074738" lvl="2" indent="-230188" algn="just">
              <a:buFont typeface="+mj-lt"/>
              <a:buAutoNum type="arabicPeriod"/>
            </a:pPr>
            <a:r>
              <a:rPr lang="en-US" sz="1800" dirty="0" smtClean="0">
                <a:solidFill>
                  <a:schemeClr val="bg2">
                    <a:lumMod val="50000"/>
                  </a:schemeClr>
                </a:solidFill>
                <a:latin typeface="+mn-lt"/>
              </a:rPr>
              <a:t>Previous works with similar technology</a:t>
            </a:r>
          </a:p>
          <a:p>
            <a:pPr marL="1074738" lvl="2" indent="-230188" algn="just">
              <a:buFont typeface="+mj-lt"/>
              <a:buAutoNum type="arabicPeriod"/>
            </a:pPr>
            <a:r>
              <a:rPr lang="en-US" sz="1800" dirty="0" smtClean="0">
                <a:solidFill>
                  <a:schemeClr val="bg2">
                    <a:lumMod val="50000"/>
                  </a:schemeClr>
                </a:solidFill>
                <a:latin typeface="+mn-lt"/>
              </a:rPr>
              <a:t>Directly correlated with the precision of the experiment</a:t>
            </a:r>
          </a:p>
        </p:txBody>
      </p:sp>
      <p:sp>
        <p:nvSpPr>
          <p:cNvPr id="6" name="5 Título"/>
          <p:cNvSpPr>
            <a:spLocks noGrp="1"/>
          </p:cNvSpPr>
          <p:nvPr>
            <p:ph type="title"/>
          </p:nvPr>
        </p:nvSpPr>
        <p:spPr>
          <a:xfrm>
            <a:off x="589429" y="0"/>
            <a:ext cx="8915400" cy="1143000"/>
          </a:xfrm>
        </p:spPr>
        <p:txBody>
          <a:bodyPr>
            <a:normAutofit fontScale="90000"/>
          </a:bodyPr>
          <a:lstStyle/>
          <a:p>
            <a:pPr>
              <a:buFont typeface="+mj-lt"/>
              <a:buAutoNum type="arabicPeriod" startAt="2"/>
            </a:pPr>
            <a:r>
              <a:rPr lang="en-GB" dirty="0" smtClean="0">
                <a:ea typeface="ＭＳ Ｐゴシック" pitchFamily="34" charset="-128"/>
              </a:rPr>
              <a:t>Experimental Design Principles </a:t>
            </a:r>
            <a:br>
              <a:rPr lang="en-GB" dirty="0" smtClean="0">
                <a:ea typeface="ＭＳ Ｐゴシック" pitchFamily="34" charset="-128"/>
              </a:rPr>
            </a:br>
            <a:r>
              <a:rPr lang="en-GB" dirty="0" smtClean="0">
                <a:ea typeface="ＭＳ Ｐゴシック" pitchFamily="34" charset="-128"/>
              </a:rPr>
              <a:t>2.Replicate</a:t>
            </a:r>
            <a:endParaRPr lang="es-ES" dirty="0"/>
          </a:p>
        </p:txBody>
      </p:sp>
      <p:sp>
        <p:nvSpPr>
          <p:cNvPr id="10" name="9 Rectángulo redondeado"/>
          <p:cNvSpPr/>
          <p:nvPr/>
        </p:nvSpPr>
        <p:spPr bwMode="auto">
          <a:xfrm>
            <a:off x="961534" y="3139126"/>
            <a:ext cx="1838227" cy="1126125"/>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smtClean="0">
                <a:ln>
                  <a:noFill/>
                </a:ln>
                <a:solidFill>
                  <a:schemeClr val="bg1"/>
                </a:solidFill>
                <a:effectLst/>
                <a:latin typeface="Calibri" pitchFamily="34" charset="0"/>
              </a:rPr>
              <a:t>How many</a:t>
            </a:r>
            <a:r>
              <a:rPr kumimoji="0" lang="en-GB" sz="2000" b="0" i="0" u="none" strike="noStrike" cap="none" normalizeH="0" dirty="0" smtClean="0">
                <a:ln>
                  <a:noFill/>
                </a:ln>
                <a:solidFill>
                  <a:schemeClr val="bg1"/>
                </a:solidFill>
                <a:effectLst/>
                <a:latin typeface="Calibri" pitchFamily="34" charset="0"/>
              </a:rPr>
              <a:t> replicates I need?</a:t>
            </a:r>
            <a:endParaRPr kumimoji="0" lang="en-GB" sz="2000" b="0" i="0" u="none" strike="noStrike" cap="none" normalizeH="0" baseline="0" dirty="0" smtClean="0">
              <a:ln>
                <a:noFill/>
              </a:ln>
              <a:solidFill>
                <a:schemeClr val="bg1"/>
              </a:solidFill>
              <a:effectLst/>
              <a:latin typeface="Calibri" pitchFamily="34" charset="0"/>
            </a:endParaRPr>
          </a:p>
        </p:txBody>
      </p:sp>
      <p:sp>
        <p:nvSpPr>
          <p:cNvPr id="11" name="10 Rectángulo"/>
          <p:cNvSpPr/>
          <p:nvPr/>
        </p:nvSpPr>
        <p:spPr>
          <a:xfrm>
            <a:off x="4192177" y="2680909"/>
            <a:ext cx="5149785" cy="923330"/>
          </a:xfrm>
          <a:prstGeom prst="rect">
            <a:avLst/>
          </a:prstGeom>
        </p:spPr>
        <p:txBody>
          <a:bodyPr wrap="square">
            <a:spAutoFit/>
          </a:bodyPr>
          <a:lstStyle/>
          <a:p>
            <a:r>
              <a:rPr lang="en-GB" dirty="0" smtClean="0">
                <a:solidFill>
                  <a:schemeClr val="bg2">
                    <a:lumMod val="50000"/>
                  </a:schemeClr>
                </a:solidFill>
                <a:latin typeface="+mn-lt"/>
              </a:rPr>
              <a:t>the  more  replicates we have, the more confident we can be that differences between groups are real and not simply due to chance effects</a:t>
            </a:r>
            <a:endParaRPr lang="en-GB" dirty="0">
              <a:solidFill>
                <a:schemeClr val="bg2">
                  <a:lumMod val="50000"/>
                </a:schemeClr>
              </a:solidFill>
              <a:latin typeface="+mn-lt"/>
            </a:endParaRPr>
          </a:p>
        </p:txBody>
      </p:sp>
      <p:sp>
        <p:nvSpPr>
          <p:cNvPr id="18" name="17 Flecha derecha"/>
          <p:cNvSpPr/>
          <p:nvPr/>
        </p:nvSpPr>
        <p:spPr bwMode="auto">
          <a:xfrm rot="20612617">
            <a:off x="3063713" y="3308809"/>
            <a:ext cx="1008668" cy="311084"/>
          </a:xfrm>
          <a:prstGeom prst="right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19" name="18 Flecha derecha"/>
          <p:cNvSpPr/>
          <p:nvPr/>
        </p:nvSpPr>
        <p:spPr bwMode="auto">
          <a:xfrm rot="866489">
            <a:off x="3035431" y="3761294"/>
            <a:ext cx="970960" cy="311085"/>
          </a:xfrm>
          <a:prstGeom prst="right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20" name="19 Rectángulo"/>
          <p:cNvSpPr/>
          <p:nvPr/>
        </p:nvSpPr>
        <p:spPr>
          <a:xfrm>
            <a:off x="4173325" y="3954247"/>
            <a:ext cx="4953000" cy="369332"/>
          </a:xfrm>
          <a:prstGeom prst="rect">
            <a:avLst/>
          </a:prstGeom>
        </p:spPr>
        <p:txBody>
          <a:bodyPr>
            <a:spAutoFit/>
          </a:bodyPr>
          <a:lstStyle/>
          <a:p>
            <a:pPr marL="263525" indent="-179388" algn="just"/>
            <a:r>
              <a:rPr lang="en-US" dirty="0" smtClean="0">
                <a:solidFill>
                  <a:schemeClr val="bg2">
                    <a:lumMod val="50000"/>
                  </a:schemeClr>
                </a:solidFill>
                <a:latin typeface="+mn-lt"/>
              </a:rPr>
              <a:t>More replicates increase in time/money cost</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a:xfrm>
            <a:off x="522194" y="0"/>
            <a:ext cx="8915400" cy="1143000"/>
          </a:xfrm>
        </p:spPr>
        <p:txBody>
          <a:bodyPr>
            <a:normAutofit fontScale="90000"/>
          </a:bodyPr>
          <a:lstStyle/>
          <a:p>
            <a:pPr>
              <a:buFont typeface="+mj-lt"/>
              <a:buAutoNum type="arabicPeriod" startAt="2"/>
            </a:pPr>
            <a:r>
              <a:rPr lang="en-GB" dirty="0" smtClean="0">
                <a:ea typeface="ＭＳ Ｐゴシック" pitchFamily="34" charset="-128"/>
              </a:rPr>
              <a:t>Experimental Design </a:t>
            </a:r>
            <a:r>
              <a:rPr lang="en-GB" dirty="0">
                <a:ea typeface="ＭＳ Ｐゴシック" pitchFamily="34" charset="-128"/>
              </a:rPr>
              <a:t>Principles</a:t>
            </a:r>
            <a:r>
              <a:rPr lang="en-GB" dirty="0" smtClean="0">
                <a:ea typeface="ＭＳ Ｐゴシック" pitchFamily="34" charset="-128"/>
              </a:rPr>
              <a:t/>
            </a:r>
            <a:br>
              <a:rPr lang="en-GB" dirty="0" smtClean="0">
                <a:ea typeface="ＭＳ Ｐゴシック" pitchFamily="34" charset="-128"/>
              </a:rPr>
            </a:br>
            <a:r>
              <a:rPr lang="en-GB" dirty="0" smtClean="0">
                <a:ea typeface="ＭＳ Ｐゴシック" pitchFamily="34" charset="-128"/>
              </a:rPr>
              <a:t>2. Replicate</a:t>
            </a:r>
            <a:endParaRPr lang="es-ES" dirty="0"/>
          </a:p>
        </p:txBody>
      </p:sp>
      <p:sp>
        <p:nvSpPr>
          <p:cNvPr id="17" name="16 CuadroTexto"/>
          <p:cNvSpPr txBox="1"/>
          <p:nvPr/>
        </p:nvSpPr>
        <p:spPr>
          <a:xfrm>
            <a:off x="631595" y="1762811"/>
            <a:ext cx="8691514" cy="3908762"/>
          </a:xfrm>
          <a:prstGeom prst="rect">
            <a:avLst/>
          </a:prstGeom>
          <a:noFill/>
        </p:spPr>
        <p:txBody>
          <a:bodyPr wrap="square" rtlCol="0">
            <a:spAutoFit/>
          </a:bodyPr>
          <a:lstStyle/>
          <a:p>
            <a:pPr algn="just">
              <a:buFont typeface="Arial" pitchFamily="34" charset="0"/>
              <a:buChar char="•"/>
            </a:pPr>
            <a:r>
              <a:rPr lang="en-GB" sz="2200" dirty="0" smtClean="0">
                <a:solidFill>
                  <a:schemeClr val="bg2">
                    <a:lumMod val="50000"/>
                  </a:schemeClr>
                </a:solidFill>
                <a:latin typeface="+mn-lt"/>
              </a:rPr>
              <a:t> </a:t>
            </a:r>
            <a:r>
              <a:rPr lang="en-GB" sz="2000" dirty="0" smtClean="0">
                <a:solidFill>
                  <a:schemeClr val="bg2">
                    <a:lumMod val="50000"/>
                  </a:schemeClr>
                </a:solidFill>
                <a:latin typeface="+mn-lt"/>
              </a:rPr>
              <a:t>Which </a:t>
            </a:r>
            <a:r>
              <a:rPr lang="en-GB" sz="2000" dirty="0" smtClean="0">
                <a:solidFill>
                  <a:schemeClr val="bg2">
                    <a:lumMod val="50000"/>
                  </a:schemeClr>
                </a:solidFill>
                <a:effectLst>
                  <a:outerShdw blurRad="38100" dist="38100" dir="2700000" algn="tl">
                    <a:srgbClr val="000000">
                      <a:alpha val="43137"/>
                    </a:srgbClr>
                  </a:outerShdw>
                </a:effectLst>
                <a:latin typeface="+mn-lt"/>
              </a:rPr>
              <a:t>type</a:t>
            </a:r>
            <a:r>
              <a:rPr lang="en-GB" sz="2000" dirty="0" smtClean="0">
                <a:solidFill>
                  <a:schemeClr val="bg2">
                    <a:lumMod val="50000"/>
                  </a:schemeClr>
                </a:solidFill>
                <a:latin typeface="+mn-lt"/>
              </a:rPr>
              <a:t> of replicates?</a:t>
            </a:r>
          </a:p>
          <a:p>
            <a:pPr algn="just"/>
            <a:endParaRPr lang="en-GB" sz="2000" dirty="0" smtClean="0">
              <a:solidFill>
                <a:schemeClr val="bg2">
                  <a:lumMod val="50000"/>
                </a:schemeClr>
              </a:solidFill>
              <a:latin typeface="+mn-lt"/>
            </a:endParaRPr>
          </a:p>
          <a:p>
            <a:pPr algn="just"/>
            <a:endParaRPr lang="en-GB" sz="2000" dirty="0" smtClean="0">
              <a:solidFill>
                <a:schemeClr val="bg2">
                  <a:lumMod val="50000"/>
                </a:schemeClr>
              </a:solidFill>
              <a:latin typeface="+mn-lt"/>
            </a:endParaRPr>
          </a:p>
          <a:p>
            <a:pPr marL="84138" indent="-84138" algn="just">
              <a:buFont typeface="Arial" pitchFamily="34" charset="0"/>
              <a:buChar char="•"/>
            </a:pPr>
            <a:r>
              <a:rPr lang="en-GB" sz="2000" dirty="0" smtClean="0">
                <a:solidFill>
                  <a:schemeClr val="bg2">
                    <a:lumMod val="50000"/>
                  </a:schemeClr>
                </a:solidFill>
                <a:latin typeface="+mn-lt"/>
              </a:rPr>
              <a:t> </a:t>
            </a:r>
            <a:r>
              <a:rPr lang="en-GB" sz="2000" dirty="0" smtClean="0">
                <a:solidFill>
                  <a:schemeClr val="bg2">
                    <a:lumMod val="50000"/>
                  </a:schemeClr>
                </a:solidFill>
                <a:effectLst>
                  <a:outerShdw blurRad="38100" dist="38100" dir="2700000" algn="tl">
                    <a:srgbClr val="000000">
                      <a:alpha val="43137"/>
                    </a:srgbClr>
                  </a:outerShdw>
                </a:effectLst>
                <a:latin typeface="+mn-lt"/>
              </a:rPr>
              <a:t>Statistical power</a:t>
            </a:r>
            <a:r>
              <a:rPr lang="en-GB" sz="2000" dirty="0" smtClean="0">
                <a:solidFill>
                  <a:schemeClr val="bg2">
                    <a:lumMod val="50000"/>
                  </a:schemeClr>
                </a:solidFill>
                <a:latin typeface="+mn-lt"/>
              </a:rPr>
              <a:t>: is the probability that a particular experiment will detect a difference, assuming that there really is a difference to be detected.</a:t>
            </a:r>
          </a:p>
          <a:p>
            <a:pPr marL="1089025" lvl="2" indent="-174625" algn="just">
              <a:buFont typeface="+mj-lt"/>
              <a:buAutoNum type="arabicPeriod"/>
            </a:pPr>
            <a:r>
              <a:rPr lang="en-GB" dirty="0" smtClean="0">
                <a:solidFill>
                  <a:schemeClr val="bg2">
                    <a:lumMod val="50000"/>
                  </a:schemeClr>
                </a:solidFill>
                <a:latin typeface="+mn-lt"/>
              </a:rPr>
              <a:t> Effect size</a:t>
            </a:r>
          </a:p>
          <a:p>
            <a:pPr marL="1089025" lvl="2" indent="-174625" algn="just">
              <a:buFont typeface="+mj-lt"/>
              <a:buAutoNum type="arabicPeriod"/>
            </a:pPr>
            <a:r>
              <a:rPr lang="en-GB" dirty="0" smtClean="0">
                <a:solidFill>
                  <a:schemeClr val="bg2">
                    <a:lumMod val="50000"/>
                  </a:schemeClr>
                </a:solidFill>
                <a:latin typeface="+mn-lt"/>
              </a:rPr>
              <a:t> amount of random variation</a:t>
            </a:r>
          </a:p>
          <a:p>
            <a:pPr marL="1089025" lvl="2" indent="-174625" algn="just">
              <a:buFont typeface="+mj-lt"/>
              <a:buAutoNum type="arabicPeriod"/>
            </a:pPr>
            <a:r>
              <a:rPr lang="en-GB" dirty="0" smtClean="0">
                <a:solidFill>
                  <a:schemeClr val="bg2">
                    <a:lumMod val="50000"/>
                  </a:schemeClr>
                </a:solidFill>
                <a:latin typeface="+mn-lt"/>
              </a:rPr>
              <a:t> number of replicates</a:t>
            </a:r>
          </a:p>
          <a:p>
            <a:pPr marL="1089025" lvl="2" indent="-174625" algn="just">
              <a:buFont typeface="+mj-lt"/>
              <a:buAutoNum type="arabicPeriod"/>
            </a:pPr>
            <a:endParaRPr lang="en-GB" dirty="0" smtClean="0">
              <a:solidFill>
                <a:schemeClr val="bg2">
                  <a:lumMod val="50000"/>
                </a:schemeClr>
              </a:solidFill>
              <a:latin typeface="+mn-lt"/>
            </a:endParaRPr>
          </a:p>
          <a:p>
            <a:pPr marL="1168400" lvl="3" algn="just"/>
            <a:r>
              <a:rPr lang="en-GB" dirty="0" smtClean="0">
                <a:solidFill>
                  <a:schemeClr val="bg2">
                    <a:lumMod val="50000"/>
                  </a:schemeClr>
                </a:solidFill>
                <a:latin typeface="+mn-lt"/>
              </a:rPr>
              <a:t>There are computer programs to calculate it (you must provide effect sizes and estimates of variation)</a:t>
            </a:r>
            <a:r>
              <a:rPr lang="en-GB" sz="1200" dirty="0" smtClean="0">
                <a:solidFill>
                  <a:schemeClr val="bg2">
                    <a:lumMod val="50000"/>
                  </a:schemeClr>
                </a:solidFill>
                <a:latin typeface="+mn-lt"/>
              </a:rPr>
              <a:t> (</a:t>
            </a:r>
            <a:r>
              <a:rPr lang="en-GB" sz="1600" dirty="0" smtClean="0">
                <a:solidFill>
                  <a:schemeClr val="bg2">
                    <a:lumMod val="50000"/>
                  </a:schemeClr>
                </a:solidFill>
                <a:hlinkClick r:id="rId2"/>
              </a:rPr>
              <a:t>http://homepage.stat.uiowa.edu/~</a:t>
            </a:r>
            <a:r>
              <a:rPr lang="en-GB" sz="1600" dirty="0" smtClean="0">
                <a:solidFill>
                  <a:schemeClr val="bg2">
                    <a:lumMod val="50000"/>
                  </a:schemeClr>
                </a:solidFill>
                <a:hlinkClick r:id="rId2"/>
              </a:rPr>
              <a:t>rlenth/Power</a:t>
            </a:r>
            <a:r>
              <a:rPr lang="en-GB" sz="1600" dirty="0" smtClean="0">
                <a:solidFill>
                  <a:schemeClr val="bg2">
                    <a:lumMod val="50000"/>
                  </a:schemeClr>
                </a:solidFill>
              </a:rPr>
              <a:t>)</a:t>
            </a:r>
            <a:endParaRPr lang="en-GB" dirty="0" smtClean="0">
              <a:solidFill>
                <a:schemeClr val="bg2">
                  <a:lumMod val="50000"/>
                </a:schemeClr>
              </a:solidFill>
              <a:latin typeface="+mn-lt"/>
            </a:endParaRPr>
          </a:p>
          <a:p>
            <a:pPr marL="1089025" lvl="2" indent="-174625" algn="just"/>
            <a:endParaRPr lang="en-GB" dirty="0" smtClean="0">
              <a:solidFill>
                <a:schemeClr val="bg2">
                  <a:lumMod val="50000"/>
                </a:schemeClr>
              </a:solidFill>
              <a:latin typeface="+mn-lt"/>
            </a:endParaRPr>
          </a:p>
          <a:p>
            <a:pPr algn="just">
              <a:buFont typeface="Arial" pitchFamily="34" charset="0"/>
              <a:buChar char="•"/>
            </a:pPr>
            <a:r>
              <a:rPr lang="en-GB" sz="2000" dirty="0" smtClean="0">
                <a:solidFill>
                  <a:schemeClr val="bg2">
                    <a:lumMod val="50000"/>
                  </a:schemeClr>
                </a:solidFill>
                <a:latin typeface="+mn-lt"/>
              </a:rPr>
              <a:t> </a:t>
            </a:r>
            <a:r>
              <a:rPr lang="en-GB" sz="2000" dirty="0" smtClean="0">
                <a:solidFill>
                  <a:schemeClr val="bg2">
                    <a:lumMod val="50000"/>
                  </a:schemeClr>
                </a:solidFill>
                <a:effectLst>
                  <a:outerShdw blurRad="38100" dist="38100" dir="2700000" algn="tl">
                    <a:srgbClr val="000000">
                      <a:alpha val="43137"/>
                    </a:srgbClr>
                  </a:outerShdw>
                </a:effectLst>
                <a:latin typeface="+mn-lt"/>
              </a:rPr>
              <a:t>Pooling</a:t>
            </a:r>
            <a:r>
              <a:rPr lang="en-GB" sz="2000" dirty="0" smtClean="0">
                <a:solidFill>
                  <a:schemeClr val="bg2">
                    <a:lumMod val="50000"/>
                  </a:schemeClr>
                </a:solidFill>
                <a:latin typeface="+mn-lt"/>
              </a:rPr>
              <a:t> samples: To pool or not to pool?</a:t>
            </a:r>
          </a:p>
        </p:txBody>
      </p:sp>
      <p:grpSp>
        <p:nvGrpSpPr>
          <p:cNvPr id="18" name="17 Grupo"/>
          <p:cNvGrpSpPr/>
          <p:nvPr/>
        </p:nvGrpSpPr>
        <p:grpSpPr>
          <a:xfrm>
            <a:off x="3591614" y="1691815"/>
            <a:ext cx="2158737" cy="646331"/>
            <a:chOff x="3478492" y="4661258"/>
            <a:chExt cx="2158737" cy="646331"/>
          </a:xfrm>
        </p:grpSpPr>
        <p:sp>
          <p:nvSpPr>
            <p:cNvPr id="19" name="18 Rectángulo"/>
            <p:cNvSpPr/>
            <p:nvPr/>
          </p:nvSpPr>
          <p:spPr>
            <a:xfrm>
              <a:off x="3570009" y="4661258"/>
              <a:ext cx="2067220" cy="646331"/>
            </a:xfrm>
            <a:prstGeom prst="rect">
              <a:avLst/>
            </a:prstGeom>
          </p:spPr>
          <p:txBody>
            <a:bodyPr wrap="square">
              <a:spAutoFit/>
            </a:bodyPr>
            <a:lstStyle/>
            <a:p>
              <a:pPr marL="0" lvl="2" algn="just"/>
              <a:r>
                <a:rPr lang="en-GB" dirty="0" smtClean="0">
                  <a:solidFill>
                    <a:schemeClr val="bg2">
                      <a:lumMod val="50000"/>
                    </a:schemeClr>
                  </a:solidFill>
                  <a:latin typeface="+mn-lt"/>
                </a:rPr>
                <a:t>Technical</a:t>
              </a:r>
            </a:p>
            <a:p>
              <a:pPr marL="0" lvl="2" algn="just"/>
              <a:r>
                <a:rPr lang="en-GB" dirty="0" smtClean="0">
                  <a:solidFill>
                    <a:schemeClr val="bg2">
                      <a:lumMod val="50000"/>
                    </a:schemeClr>
                  </a:solidFill>
                  <a:latin typeface="+mn-lt"/>
                </a:rPr>
                <a:t>Biological</a:t>
              </a:r>
            </a:p>
          </p:txBody>
        </p:sp>
        <p:sp>
          <p:nvSpPr>
            <p:cNvPr id="20" name="19 Abrir llave"/>
            <p:cNvSpPr/>
            <p:nvPr/>
          </p:nvSpPr>
          <p:spPr bwMode="auto">
            <a:xfrm>
              <a:off x="3478492" y="4666268"/>
              <a:ext cx="197962" cy="598310"/>
            </a:xfrm>
            <a:prstGeom prst="leftBrace">
              <a:avLst/>
            </a:prstGeom>
            <a:noFill/>
            <a:ln w="9525" cap="flat" cmpd="sng" algn="ctr">
              <a:solidFill>
                <a:srgbClr val="993489"/>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grpSp>
      <p:sp>
        <p:nvSpPr>
          <p:cNvPr id="21" name="20 Flecha doblada hacia arriba"/>
          <p:cNvSpPr/>
          <p:nvPr/>
        </p:nvSpPr>
        <p:spPr bwMode="auto">
          <a:xfrm rot="5400000">
            <a:off x="756500" y="3787218"/>
            <a:ext cx="1465867" cy="801279"/>
          </a:xfrm>
          <a:prstGeom prst="bentUp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4294967295"/>
          </p:nvPr>
        </p:nvSpPr>
        <p:spPr>
          <a:xfrm>
            <a:off x="474586" y="1153255"/>
            <a:ext cx="8751075" cy="424638"/>
          </a:xfrm>
        </p:spPr>
        <p:txBody>
          <a:bodyPr>
            <a:normAutofit fontScale="92500" lnSpcReduction="20000"/>
          </a:bodyPr>
          <a:lstStyle/>
          <a:p>
            <a:r>
              <a:rPr lang="en-US" sz="2800" dirty="0" smtClean="0"/>
              <a:t>Pooling samples: To pool or not to pool?</a:t>
            </a:r>
            <a:endParaRPr lang="en-US" sz="2800" dirty="0"/>
          </a:p>
        </p:txBody>
      </p:sp>
      <p:sp>
        <p:nvSpPr>
          <p:cNvPr id="6" name="5 Título"/>
          <p:cNvSpPr>
            <a:spLocks noGrp="1"/>
          </p:cNvSpPr>
          <p:nvPr>
            <p:ph type="title"/>
          </p:nvPr>
        </p:nvSpPr>
        <p:spPr>
          <a:xfrm>
            <a:off x="522194" y="0"/>
            <a:ext cx="8915400" cy="1143000"/>
          </a:xfrm>
        </p:spPr>
        <p:txBody>
          <a:bodyPr>
            <a:normAutofit fontScale="90000"/>
          </a:bodyPr>
          <a:lstStyle/>
          <a:p>
            <a:pPr>
              <a:buFont typeface="+mj-lt"/>
              <a:buAutoNum type="arabicPeriod" startAt="2"/>
            </a:pPr>
            <a:r>
              <a:rPr lang="en-GB" dirty="0" smtClean="0">
                <a:ea typeface="ＭＳ Ｐゴシック" pitchFamily="34" charset="-128"/>
              </a:rPr>
              <a:t>Experimental Design </a:t>
            </a:r>
            <a:r>
              <a:rPr lang="en-GB" dirty="0">
                <a:ea typeface="ＭＳ Ｐゴシック" pitchFamily="34" charset="-128"/>
              </a:rPr>
              <a:t>Principles</a:t>
            </a:r>
            <a:r>
              <a:rPr lang="en-GB" dirty="0" smtClean="0">
                <a:ea typeface="ＭＳ Ｐゴシック" pitchFamily="34" charset="-128"/>
              </a:rPr>
              <a:t/>
            </a:r>
            <a:br>
              <a:rPr lang="en-GB" dirty="0" smtClean="0">
                <a:ea typeface="ＭＳ Ｐゴシック" pitchFamily="34" charset="-128"/>
              </a:rPr>
            </a:br>
            <a:r>
              <a:rPr lang="en-GB" dirty="0" smtClean="0">
                <a:ea typeface="ＭＳ Ｐゴシック" pitchFamily="34" charset="-128"/>
              </a:rPr>
              <a:t>2. Replicate</a:t>
            </a:r>
            <a:endParaRPr lang="es-ES" dirty="0"/>
          </a:p>
        </p:txBody>
      </p:sp>
      <p:sp>
        <p:nvSpPr>
          <p:cNvPr id="9" name="Text Box 2"/>
          <p:cNvSpPr txBox="1">
            <a:spLocks noChangeArrowheads="1"/>
          </p:cNvSpPr>
          <p:nvPr/>
        </p:nvSpPr>
        <p:spPr bwMode="auto">
          <a:xfrm>
            <a:off x="271850" y="1927654"/>
            <a:ext cx="5255740" cy="1804087"/>
          </a:xfrm>
          <a:prstGeom prst="rect">
            <a:avLst/>
          </a:prstGeom>
          <a:noFill/>
          <a:ln w="9525">
            <a:noFill/>
            <a:round/>
            <a:headEnd/>
            <a:tailEnd/>
          </a:ln>
        </p:spPr>
        <p:txBody>
          <a:bodyPr lIns="100800" tIns="50400" rIns="100800" bIns="50400"/>
          <a:lstStyle/>
          <a:p>
            <a:pPr marL="365125" indent="-365125" algn="just">
              <a:lnSpc>
                <a:spcPct val="90000"/>
              </a:lnSpc>
              <a:spcBef>
                <a:spcPts val="700"/>
              </a:spcBef>
              <a:buFont typeface="Arial" charset="0"/>
              <a:buChar char="•"/>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n-US" dirty="0">
                <a:solidFill>
                  <a:schemeClr val="bg2">
                    <a:lumMod val="50000"/>
                  </a:schemeClr>
                </a:solidFill>
                <a:latin typeface="+mn-lt"/>
              </a:rPr>
              <a:t>mRNA from different samples are often combined to form a ``pooled-sample’’ or pool. Why?</a:t>
            </a:r>
          </a:p>
          <a:p>
            <a:pPr marL="806450" lvl="1" indent="-306388" algn="just">
              <a:lnSpc>
                <a:spcPct val="90000"/>
              </a:lnSpc>
              <a:spcBef>
                <a:spcPts val="650"/>
              </a:spcBef>
              <a:buFont typeface="Wingdings" pitchFamily="2" charset="2"/>
              <a:buChar char="Ø"/>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n-US" dirty="0">
                <a:solidFill>
                  <a:schemeClr val="bg2">
                    <a:lumMod val="50000"/>
                  </a:schemeClr>
                </a:solidFill>
                <a:latin typeface="+mn-lt"/>
              </a:rPr>
              <a:t>If each sample doesn’t yield enough mRNA</a:t>
            </a:r>
          </a:p>
          <a:p>
            <a:pPr marL="806450" lvl="1" indent="-306388" algn="just">
              <a:lnSpc>
                <a:spcPct val="90000"/>
              </a:lnSpc>
              <a:spcBef>
                <a:spcPts val="650"/>
              </a:spcBef>
              <a:buFont typeface="Wingdings" pitchFamily="2" charset="2"/>
              <a:buChar char="Ø"/>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n-US" dirty="0">
                <a:solidFill>
                  <a:schemeClr val="bg2">
                    <a:lumMod val="50000"/>
                  </a:schemeClr>
                </a:solidFill>
                <a:latin typeface="+mn-lt"/>
              </a:rPr>
              <a:t>To compensate an excess of </a:t>
            </a:r>
            <a:r>
              <a:rPr lang="en-US" dirty="0" smtClean="0">
                <a:solidFill>
                  <a:schemeClr val="bg2">
                    <a:lumMod val="50000"/>
                  </a:schemeClr>
                </a:solidFill>
                <a:latin typeface="+mn-lt"/>
              </a:rPr>
              <a:t>variability</a:t>
            </a:r>
            <a:r>
              <a:rPr lang="en-US" dirty="0" smtClean="0">
                <a:solidFill>
                  <a:schemeClr val="bg2">
                    <a:lumMod val="50000"/>
                  </a:schemeClr>
                </a:solidFill>
                <a:latin typeface="+mn-lt"/>
              </a:rPr>
              <a:t>?</a:t>
            </a:r>
            <a:endParaRPr lang="en-US" dirty="0" smtClean="0">
              <a:solidFill>
                <a:schemeClr val="bg2">
                  <a:lumMod val="50000"/>
                </a:schemeClr>
              </a:solidFill>
              <a:latin typeface="+mn-lt"/>
            </a:endParaRPr>
          </a:p>
        </p:txBody>
      </p:sp>
      <p:pic>
        <p:nvPicPr>
          <p:cNvPr id="1026" name="Picture 2" descr="Pool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0584" y="1927654"/>
            <a:ext cx="4205416" cy="1895658"/>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2"/>
          <p:cNvSpPr txBox="1">
            <a:spLocks noChangeArrowheads="1"/>
          </p:cNvSpPr>
          <p:nvPr/>
        </p:nvSpPr>
        <p:spPr bwMode="auto">
          <a:xfrm>
            <a:off x="370702" y="3896498"/>
            <a:ext cx="9152239" cy="2193082"/>
          </a:xfrm>
          <a:prstGeom prst="rect">
            <a:avLst/>
          </a:prstGeom>
          <a:noFill/>
          <a:ln w="9525">
            <a:noFill/>
            <a:round/>
            <a:headEnd/>
            <a:tailEnd/>
          </a:ln>
        </p:spPr>
        <p:txBody>
          <a:bodyPr lIns="100800" tIns="50400" rIns="100800" bIns="50400"/>
          <a:lstStyle/>
          <a:p>
            <a:pPr marL="500062" lvl="1" algn="just">
              <a:lnSpc>
                <a:spcPct val="90000"/>
              </a:lnSpc>
              <a:spcBef>
                <a:spcPts val="650"/>
              </a:spcBef>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endParaRPr lang="en-US" dirty="0">
              <a:solidFill>
                <a:schemeClr val="bg2">
                  <a:lumMod val="50000"/>
                </a:schemeClr>
              </a:solidFill>
              <a:latin typeface="+mn-lt"/>
            </a:endParaRPr>
          </a:p>
          <a:p>
            <a:pPr marL="365125" indent="-365125" algn="just">
              <a:lnSpc>
                <a:spcPct val="90000"/>
              </a:lnSpc>
              <a:spcBef>
                <a:spcPts val="700"/>
              </a:spcBef>
              <a:buFont typeface="Arial" charset="0"/>
              <a:buChar char="•"/>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n-US" dirty="0">
                <a:solidFill>
                  <a:schemeClr val="bg2">
                    <a:lumMod val="50000"/>
                  </a:schemeClr>
                </a:solidFill>
                <a:latin typeface="+mn-lt"/>
              </a:rPr>
              <a:t>Pooling may be misleading but is OK if properly done</a:t>
            </a:r>
          </a:p>
          <a:p>
            <a:pPr marL="957262" lvl="1" indent="-457200" algn="just">
              <a:lnSpc>
                <a:spcPct val="90000"/>
              </a:lnSpc>
              <a:spcBef>
                <a:spcPts val="650"/>
              </a:spcBef>
              <a:buFont typeface="Wingdings" pitchFamily="2" charset="2"/>
              <a:buChar char="ü"/>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n-US" dirty="0">
                <a:solidFill>
                  <a:schemeClr val="bg2">
                    <a:lumMod val="50000"/>
                  </a:schemeClr>
                </a:solidFill>
                <a:latin typeface="+mn-lt"/>
              </a:rPr>
              <a:t>Combine several samples in each pool</a:t>
            </a:r>
          </a:p>
          <a:p>
            <a:pPr marL="957262" lvl="1" indent="-457200" algn="just">
              <a:lnSpc>
                <a:spcPct val="90000"/>
              </a:lnSpc>
              <a:spcBef>
                <a:spcPts val="650"/>
              </a:spcBef>
              <a:buFont typeface="Wingdings" pitchFamily="2" charset="2"/>
              <a:buChar char="ü"/>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n-US" dirty="0">
                <a:solidFill>
                  <a:schemeClr val="bg2">
                    <a:lumMod val="50000"/>
                  </a:schemeClr>
                </a:solidFill>
                <a:latin typeface="+mn-lt"/>
              </a:rPr>
              <a:t>Use several pools from different samples</a:t>
            </a:r>
          </a:p>
          <a:p>
            <a:pPr marL="957262" lvl="1" indent="-457200" algn="just">
              <a:lnSpc>
                <a:spcPct val="90000"/>
              </a:lnSpc>
              <a:spcBef>
                <a:spcPts val="650"/>
              </a:spcBef>
              <a:buFont typeface="Wingdings" pitchFamily="2" charset="2"/>
              <a:buChar char="ü"/>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n-US" dirty="0">
                <a:solidFill>
                  <a:schemeClr val="bg2">
                    <a:lumMod val="50000"/>
                  </a:schemeClr>
                </a:solidFill>
                <a:latin typeface="+mn-lt"/>
              </a:rPr>
              <a:t>Do not use pools when individual information is important (e.g</a:t>
            </a:r>
            <a:r>
              <a:rPr lang="en-US" dirty="0" smtClean="0">
                <a:solidFill>
                  <a:schemeClr val="bg2">
                    <a:lumMod val="50000"/>
                  </a:schemeClr>
                </a:solidFill>
                <a:latin typeface="+mn-lt"/>
              </a:rPr>
              <a:t>. paired </a:t>
            </a:r>
            <a:r>
              <a:rPr lang="en-US" dirty="0">
                <a:solidFill>
                  <a:schemeClr val="bg2">
                    <a:lumMod val="50000"/>
                  </a:schemeClr>
                </a:solidFill>
                <a:latin typeface="+mn-lt"/>
              </a:rPr>
              <a:t>designs)</a:t>
            </a:r>
          </a:p>
          <a:p>
            <a:pPr marL="957262" lvl="1" indent="-457200" algn="just">
              <a:lnSpc>
                <a:spcPct val="90000"/>
              </a:lnSpc>
              <a:spcBef>
                <a:spcPts val="650"/>
              </a:spcBef>
              <a:buFont typeface="Wingdings" pitchFamily="2" charset="2"/>
              <a:buChar char="ü"/>
              <a:tabLst>
                <a:tab pos="365125" algn="l"/>
                <a:tab pos="812800" algn="l"/>
                <a:tab pos="1262063" algn="l"/>
                <a:tab pos="1711325" algn="l"/>
                <a:tab pos="2160588" algn="l"/>
                <a:tab pos="2609850" algn="l"/>
                <a:tab pos="3059113" algn="l"/>
                <a:tab pos="3508375" algn="l"/>
                <a:tab pos="3957638" algn="l"/>
                <a:tab pos="4406900" algn="l"/>
                <a:tab pos="4856163" algn="l"/>
                <a:tab pos="5305425" algn="l"/>
                <a:tab pos="5754688" algn="l"/>
                <a:tab pos="6203950" algn="l"/>
                <a:tab pos="6653213" algn="l"/>
                <a:tab pos="7102475" algn="l"/>
                <a:tab pos="7551738" algn="l"/>
                <a:tab pos="8001000" algn="l"/>
                <a:tab pos="8450263" algn="l"/>
                <a:tab pos="8899525" algn="l"/>
                <a:tab pos="9348788" algn="l"/>
              </a:tabLst>
            </a:pPr>
            <a:r>
              <a:rPr lang="en-US" dirty="0">
                <a:solidFill>
                  <a:schemeClr val="bg2">
                    <a:lumMod val="50000"/>
                  </a:schemeClr>
                </a:solidFill>
                <a:latin typeface="+mn-lt"/>
              </a:rPr>
              <a:t>Never substitute sampling by </a:t>
            </a:r>
            <a:r>
              <a:rPr lang="en-US" dirty="0" smtClean="0">
                <a:solidFill>
                  <a:schemeClr val="bg2">
                    <a:lumMod val="50000"/>
                  </a:schemeClr>
                </a:solidFill>
                <a:latin typeface="+mn-lt"/>
              </a:rPr>
              <a:t>pooling (one </a:t>
            </a:r>
            <a:r>
              <a:rPr lang="en-US" dirty="0">
                <a:solidFill>
                  <a:schemeClr val="bg2">
                    <a:lumMod val="50000"/>
                  </a:schemeClr>
                </a:solidFill>
                <a:latin typeface="+mn-lt"/>
              </a:rPr>
              <a:t>sample with 3 individuals pooled != 3 individual samples </a:t>
            </a:r>
            <a:r>
              <a:rPr lang="en-US" dirty="0" smtClean="0">
                <a:solidFill>
                  <a:schemeClr val="bg2">
                    <a:lumMod val="50000"/>
                  </a:schemeClr>
                </a:solidFill>
                <a:latin typeface="+mn-lt"/>
              </a:rPr>
              <a:t>!!!)</a:t>
            </a:r>
            <a:endParaRPr lang="en-US" dirty="0">
              <a:solidFill>
                <a:schemeClr val="bg2">
                  <a:lumMod val="50000"/>
                </a:schemeClr>
              </a:solidFill>
              <a:latin typeface="+mn-lt"/>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a:xfrm>
            <a:off x="441511" y="0"/>
            <a:ext cx="8915400" cy="1143000"/>
          </a:xfrm>
        </p:spPr>
        <p:txBody>
          <a:bodyPr/>
          <a:lstStyle/>
          <a:p>
            <a:pPr>
              <a:buFont typeface="+mj-lt"/>
              <a:buAutoNum type="arabicPeriod" startAt="2"/>
            </a:pPr>
            <a:r>
              <a:rPr lang="en-GB" dirty="0" smtClean="0">
                <a:ea typeface="ＭＳ Ｐゴシック" pitchFamily="34" charset="-128"/>
              </a:rPr>
              <a:t>Experimental Design </a:t>
            </a:r>
            <a:r>
              <a:rPr lang="en-GB" dirty="0">
                <a:ea typeface="ＭＳ Ｐゴシック" pitchFamily="34" charset="-128"/>
              </a:rPr>
              <a:t>Principles</a:t>
            </a:r>
            <a:r>
              <a:rPr lang="en-GB" dirty="0" smtClean="0">
                <a:ea typeface="ＭＳ Ｐゴシック" pitchFamily="34" charset="-128"/>
              </a:rPr>
              <a:t/>
            </a:r>
            <a:br>
              <a:rPr lang="en-GB" dirty="0" smtClean="0">
                <a:ea typeface="ＭＳ Ｐゴシック" pitchFamily="34" charset="-128"/>
              </a:rPr>
            </a:br>
            <a:r>
              <a:rPr lang="en-GB" dirty="0" smtClean="0">
                <a:ea typeface="ＭＳ Ｐゴシック" pitchFamily="34" charset="-128"/>
              </a:rPr>
              <a:t>3. Local control</a:t>
            </a:r>
            <a:endParaRPr lang="es-ES" dirty="0"/>
          </a:p>
        </p:txBody>
      </p:sp>
      <p:sp>
        <p:nvSpPr>
          <p:cNvPr id="7" name="6 CuadroTexto"/>
          <p:cNvSpPr txBox="1"/>
          <p:nvPr/>
        </p:nvSpPr>
        <p:spPr>
          <a:xfrm>
            <a:off x="292232" y="1197204"/>
            <a:ext cx="8446416" cy="523220"/>
          </a:xfrm>
          <a:prstGeom prst="rect">
            <a:avLst/>
          </a:prstGeom>
          <a:noFill/>
        </p:spPr>
        <p:txBody>
          <a:bodyPr wrap="square" rtlCol="0">
            <a:spAutoFit/>
          </a:bodyPr>
          <a:lstStyle/>
          <a:p>
            <a:pPr marL="609600" indent="-609600" eaLnBrk="0" hangingPunct="0">
              <a:spcBef>
                <a:spcPct val="20000"/>
              </a:spcBef>
            </a:pPr>
            <a:r>
              <a:rPr lang="en-GB" sz="2800" b="1" dirty="0" smtClean="0">
                <a:solidFill>
                  <a:srgbClr val="7D468C"/>
                </a:solidFill>
                <a:latin typeface="+mn-lt"/>
                <a:ea typeface="+mn-ea"/>
                <a:cs typeface="+mn-cs"/>
              </a:rPr>
              <a:t>Local control</a:t>
            </a:r>
          </a:p>
        </p:txBody>
      </p:sp>
      <p:sp>
        <p:nvSpPr>
          <p:cNvPr id="13" name="12 CuadroTexto"/>
          <p:cNvSpPr txBox="1"/>
          <p:nvPr/>
        </p:nvSpPr>
        <p:spPr>
          <a:xfrm>
            <a:off x="584462" y="1847654"/>
            <a:ext cx="8955464" cy="3816429"/>
          </a:xfrm>
          <a:prstGeom prst="rect">
            <a:avLst/>
          </a:prstGeom>
          <a:noFill/>
        </p:spPr>
        <p:txBody>
          <a:bodyPr wrap="square" rtlCol="0">
            <a:spAutoFit/>
          </a:bodyPr>
          <a:lstStyle/>
          <a:p>
            <a:pPr marL="84138" indent="-84138" algn="just">
              <a:buFont typeface="Arial" pitchFamily="34" charset="0"/>
              <a:buChar char="•"/>
            </a:pPr>
            <a:r>
              <a:rPr lang="en-GB" sz="2200" dirty="0" smtClean="0">
                <a:solidFill>
                  <a:schemeClr val="bg2">
                    <a:lumMod val="50000"/>
                  </a:schemeClr>
                </a:solidFill>
                <a:latin typeface="+mn-lt"/>
              </a:rPr>
              <a:t>When the experimental units are not homogeneous (sex, smokers,…) or the process to analyze them neither are (Kits lot numbers, batch,…)</a:t>
            </a:r>
          </a:p>
          <a:p>
            <a:pPr algn="just">
              <a:buFont typeface="Arial" pitchFamily="34" charset="0"/>
              <a:buChar char="•"/>
            </a:pPr>
            <a:endParaRPr lang="en-GB" sz="2200" dirty="0" smtClean="0">
              <a:solidFill>
                <a:schemeClr val="bg2">
                  <a:lumMod val="50000"/>
                </a:schemeClr>
              </a:solidFill>
              <a:latin typeface="+mn-lt"/>
            </a:endParaRPr>
          </a:p>
          <a:p>
            <a:pPr algn="just">
              <a:buFont typeface="Arial" pitchFamily="34" charset="0"/>
              <a:buChar char="•"/>
            </a:pPr>
            <a:endParaRPr lang="en-GB" sz="2200" dirty="0" smtClean="0">
              <a:solidFill>
                <a:schemeClr val="bg2">
                  <a:lumMod val="50000"/>
                </a:schemeClr>
              </a:solidFill>
              <a:latin typeface="+mn-lt"/>
            </a:endParaRPr>
          </a:p>
          <a:p>
            <a:pPr algn="just">
              <a:buFont typeface="Arial" pitchFamily="34" charset="0"/>
              <a:buChar char="•"/>
            </a:pPr>
            <a:endParaRPr lang="en-GB" sz="2200" dirty="0" smtClean="0">
              <a:solidFill>
                <a:schemeClr val="bg2">
                  <a:lumMod val="50000"/>
                </a:schemeClr>
              </a:solidFill>
              <a:latin typeface="+mn-lt"/>
            </a:endParaRPr>
          </a:p>
          <a:p>
            <a:pPr algn="just">
              <a:buFont typeface="Arial" pitchFamily="34" charset="0"/>
              <a:buChar char="•"/>
            </a:pPr>
            <a:endParaRPr lang="en-GB" sz="2200" dirty="0" smtClean="0">
              <a:solidFill>
                <a:schemeClr val="bg2">
                  <a:lumMod val="50000"/>
                </a:schemeClr>
              </a:solidFill>
              <a:latin typeface="+mn-lt"/>
            </a:endParaRPr>
          </a:p>
          <a:p>
            <a:pPr algn="just">
              <a:buFont typeface="Arial" pitchFamily="34" charset="0"/>
              <a:buChar char="•"/>
            </a:pPr>
            <a:endParaRPr lang="en-GB" sz="2200" dirty="0" smtClean="0">
              <a:solidFill>
                <a:schemeClr val="bg2">
                  <a:lumMod val="50000"/>
                </a:schemeClr>
              </a:solidFill>
              <a:latin typeface="+mn-lt"/>
            </a:endParaRPr>
          </a:p>
          <a:p>
            <a:pPr marL="84138" indent="-84138" algn="just">
              <a:buFont typeface="Arial" pitchFamily="34" charset="0"/>
              <a:buChar char="•"/>
            </a:pPr>
            <a:r>
              <a:rPr lang="en-GB" sz="2200" dirty="0" smtClean="0">
                <a:solidFill>
                  <a:schemeClr val="bg2">
                    <a:lumMod val="50000"/>
                  </a:schemeClr>
                </a:solidFill>
                <a:latin typeface="+mn-lt"/>
              </a:rPr>
              <a:t>It transforms </a:t>
            </a:r>
            <a:r>
              <a:rPr lang="en-GB" sz="2200" i="1" dirty="0" smtClean="0">
                <a:solidFill>
                  <a:schemeClr val="bg2">
                    <a:lumMod val="50000"/>
                  </a:schemeClr>
                </a:solidFill>
                <a:latin typeface="+mn-lt"/>
              </a:rPr>
              <a:t>systematic variability not planned</a:t>
            </a:r>
            <a:r>
              <a:rPr lang="en-GB" sz="2200" dirty="0" smtClean="0">
                <a:solidFill>
                  <a:schemeClr val="bg2">
                    <a:lumMod val="50000"/>
                  </a:schemeClr>
                </a:solidFill>
                <a:latin typeface="+mn-lt"/>
              </a:rPr>
              <a:t> in </a:t>
            </a:r>
            <a:r>
              <a:rPr lang="en-GB" sz="2200" i="1" dirty="0" smtClean="0">
                <a:solidFill>
                  <a:schemeClr val="bg2">
                    <a:lumMod val="50000"/>
                  </a:schemeClr>
                </a:solidFill>
                <a:latin typeface="+mn-lt"/>
              </a:rPr>
              <a:t>planned systematic variability</a:t>
            </a:r>
            <a:r>
              <a:rPr lang="en-GB" sz="2200" dirty="0" smtClean="0">
                <a:solidFill>
                  <a:schemeClr val="bg2">
                    <a:lumMod val="50000"/>
                  </a:schemeClr>
                </a:solidFill>
                <a:latin typeface="+mn-lt"/>
              </a:rPr>
              <a:t>.</a:t>
            </a:r>
          </a:p>
          <a:p>
            <a:pPr marL="84138" indent="-84138" algn="just">
              <a:buFont typeface="Arial" pitchFamily="34" charset="0"/>
              <a:buChar char="•"/>
            </a:pPr>
            <a:endParaRPr lang="en-GB" sz="2200" dirty="0" smtClean="0">
              <a:solidFill>
                <a:schemeClr val="bg2">
                  <a:lumMod val="50000"/>
                </a:schemeClr>
              </a:solidFill>
              <a:latin typeface="+mn-lt"/>
            </a:endParaRPr>
          </a:p>
          <a:p>
            <a:pPr marL="84138" indent="-84138" algn="just">
              <a:buFont typeface="Arial" pitchFamily="34" charset="0"/>
              <a:buChar char="•"/>
            </a:pPr>
            <a:r>
              <a:rPr lang="en-GB" sz="2200" dirty="0" smtClean="0">
                <a:solidFill>
                  <a:schemeClr val="bg2">
                    <a:lumMod val="50000"/>
                  </a:schemeClr>
                </a:solidFill>
                <a:latin typeface="+mn-lt"/>
              </a:rPr>
              <a:t>Differences among blocks could hide differences among treatments.</a:t>
            </a:r>
          </a:p>
        </p:txBody>
      </p:sp>
      <p:sp>
        <p:nvSpPr>
          <p:cNvPr id="14" name="13 Flecha abajo"/>
          <p:cNvSpPr/>
          <p:nvPr/>
        </p:nvSpPr>
        <p:spPr bwMode="auto">
          <a:xfrm>
            <a:off x="2488676" y="2677212"/>
            <a:ext cx="245097" cy="443060"/>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15" name="14 CuadroTexto"/>
          <p:cNvSpPr txBox="1"/>
          <p:nvPr/>
        </p:nvSpPr>
        <p:spPr>
          <a:xfrm>
            <a:off x="1244338" y="3242820"/>
            <a:ext cx="5222449" cy="769441"/>
          </a:xfrm>
          <a:prstGeom prst="rect">
            <a:avLst/>
          </a:prstGeom>
          <a:noFill/>
        </p:spPr>
        <p:txBody>
          <a:bodyPr wrap="square" rtlCol="0">
            <a:spAutoFit/>
          </a:bodyPr>
          <a:lstStyle/>
          <a:p>
            <a:pPr algn="just"/>
            <a:r>
              <a:rPr lang="en-GB" sz="2200" dirty="0" smtClean="0">
                <a:solidFill>
                  <a:schemeClr val="bg2">
                    <a:lumMod val="50000"/>
                  </a:schemeClr>
                </a:solidFill>
                <a:latin typeface="+mn-lt"/>
              </a:rPr>
              <a:t>We are not interested in to find out the differences between the levels of the blocks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a:xfrm>
            <a:off x="468406" y="0"/>
            <a:ext cx="8915400" cy="1143000"/>
          </a:xfrm>
        </p:spPr>
        <p:txBody>
          <a:bodyPr/>
          <a:lstStyle/>
          <a:p>
            <a:pPr>
              <a:buFont typeface="+mj-lt"/>
              <a:buAutoNum type="arabicPeriod" startAt="2"/>
            </a:pPr>
            <a:r>
              <a:rPr lang="en-GB" dirty="0" smtClean="0">
                <a:ea typeface="ＭＳ Ｐゴシック" pitchFamily="34" charset="-128"/>
              </a:rPr>
              <a:t>Experimental Design Principles </a:t>
            </a:r>
            <a:br>
              <a:rPr lang="en-GB" dirty="0" smtClean="0">
                <a:ea typeface="ＭＳ Ｐゴシック" pitchFamily="34" charset="-128"/>
              </a:rPr>
            </a:br>
            <a:r>
              <a:rPr lang="en-GB" dirty="0" smtClean="0">
                <a:ea typeface="ＭＳ Ｐゴシック" pitchFamily="34" charset="-128"/>
              </a:rPr>
              <a:t>3. Local control</a:t>
            </a:r>
            <a:endParaRPr lang="es-ES" dirty="0"/>
          </a:p>
        </p:txBody>
      </p:sp>
      <p:sp>
        <p:nvSpPr>
          <p:cNvPr id="7" name="6 CuadroTexto"/>
          <p:cNvSpPr txBox="1"/>
          <p:nvPr/>
        </p:nvSpPr>
        <p:spPr>
          <a:xfrm>
            <a:off x="292232" y="1197204"/>
            <a:ext cx="8446416" cy="523220"/>
          </a:xfrm>
          <a:prstGeom prst="rect">
            <a:avLst/>
          </a:prstGeom>
          <a:noFill/>
        </p:spPr>
        <p:txBody>
          <a:bodyPr wrap="square" rtlCol="0">
            <a:spAutoFit/>
          </a:bodyPr>
          <a:lstStyle/>
          <a:p>
            <a:pPr marL="609600" indent="-609600" eaLnBrk="0" hangingPunct="0">
              <a:spcBef>
                <a:spcPct val="20000"/>
              </a:spcBef>
            </a:pPr>
            <a:r>
              <a:rPr lang="en-GB" sz="2800" b="1" dirty="0" smtClean="0">
                <a:solidFill>
                  <a:srgbClr val="7D468C"/>
                </a:solidFill>
                <a:latin typeface="+mn-lt"/>
                <a:ea typeface="+mn-ea"/>
                <a:cs typeface="+mn-cs"/>
              </a:rPr>
              <a:t>Local control</a:t>
            </a:r>
          </a:p>
        </p:txBody>
      </p:sp>
      <p:graphicFrame>
        <p:nvGraphicFramePr>
          <p:cNvPr id="8" name="7 Tabla"/>
          <p:cNvGraphicFramePr>
            <a:graphicFrameLocks noGrp="1"/>
          </p:cNvGraphicFramePr>
          <p:nvPr/>
        </p:nvGraphicFramePr>
        <p:xfrm>
          <a:off x="1027521" y="1986759"/>
          <a:ext cx="7635713" cy="2632374"/>
        </p:xfrm>
        <a:graphic>
          <a:graphicData uri="http://schemas.openxmlformats.org/drawingml/2006/table">
            <a:tbl>
              <a:tblPr/>
              <a:tblGrid>
                <a:gridCol w="729600"/>
                <a:gridCol w="1007543"/>
                <a:gridCol w="926477"/>
                <a:gridCol w="926477"/>
                <a:gridCol w="339708"/>
                <a:gridCol w="926477"/>
                <a:gridCol w="926477"/>
                <a:gridCol w="926477"/>
                <a:gridCol w="926477"/>
              </a:tblGrid>
              <a:tr h="292486">
                <a:tc>
                  <a:txBody>
                    <a:bodyPr/>
                    <a:lstStyle/>
                    <a:p>
                      <a:pPr algn="ctr" fontAlgn="b"/>
                      <a:r>
                        <a:rPr lang="en-GB" sz="1600" b="1" i="0" u="none" strike="noStrike" dirty="0">
                          <a:solidFill>
                            <a:srgbClr val="FFFFFF"/>
                          </a:solidFill>
                          <a:latin typeface="Calibri"/>
                        </a:rPr>
                        <a:t>Sample</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Treatment</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Sex</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Batch</a:t>
                      </a:r>
                    </a:p>
                  </a:txBody>
                  <a:tcPr marL="9525" marR="9525" marT="9525" marB="0" anchor="b">
                    <a:lnL>
                      <a:noFill/>
                    </a:lnL>
                    <a:lnR>
                      <a:noFill/>
                    </a:lnR>
                    <a:lnT>
                      <a:noFill/>
                    </a:lnT>
                    <a:lnB>
                      <a:noFill/>
                    </a:lnB>
                    <a:solidFill>
                      <a:srgbClr val="C0504D"/>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1" i="0" u="none" strike="noStrike">
                          <a:solidFill>
                            <a:srgbClr val="FFFFFF"/>
                          </a:solidFill>
                          <a:latin typeface="Calibri"/>
                        </a:rPr>
                        <a:t>Sample</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Treatment</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Sex</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Batch</a:t>
                      </a:r>
                    </a:p>
                  </a:txBody>
                  <a:tcPr marL="9525" marR="9525" marT="9525" marB="0" anchor="b">
                    <a:lnL>
                      <a:noFill/>
                    </a:lnL>
                    <a:lnR>
                      <a:noFill/>
                    </a:lnR>
                    <a:lnT>
                      <a:noFill/>
                    </a:lnT>
                    <a:lnB>
                      <a:noFill/>
                    </a:lnB>
                    <a:solidFill>
                      <a:srgbClr val="C0504D"/>
                    </a:solidFill>
                  </a:tcPr>
                </a:tc>
              </a:tr>
              <a:tr h="292486">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dirty="0">
                          <a:solidFill>
                            <a:srgbClr val="000000"/>
                          </a:solidFill>
                          <a:latin typeface="Calibri"/>
                        </a:rPr>
                        <a:t>1</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r>
              <a:tr h="292486">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DBE5F1"/>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r>
              <a:tr h="292486">
                <a:tc>
                  <a:txBody>
                    <a:bodyPr/>
                    <a:lstStyle/>
                    <a:p>
                      <a:pPr algn="ctr" fontAlgn="b"/>
                      <a:r>
                        <a:rPr lang="en-GB" sz="1600" b="0" i="0" u="none" strike="noStrike">
                          <a:solidFill>
                            <a:srgbClr val="000000"/>
                          </a:solidFill>
                          <a:latin typeface="Calibri"/>
                        </a:rPr>
                        <a:t>3</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3</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B8CCE4"/>
                    </a:solidFill>
                  </a:tcPr>
                </a:tc>
              </a:tr>
              <a:tr h="292486">
                <a:tc>
                  <a:txBody>
                    <a:bodyPr/>
                    <a:lstStyle/>
                    <a:p>
                      <a:pPr algn="ctr" fontAlgn="b"/>
                      <a:r>
                        <a:rPr lang="en-GB" sz="1600" b="0" i="0" u="none" strike="noStrike" dirty="0">
                          <a:solidFill>
                            <a:srgbClr val="000000"/>
                          </a:solidFill>
                          <a:latin typeface="Calibri"/>
                        </a:rPr>
                        <a:t>4</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DBE5F1"/>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4</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DBE5F1"/>
                    </a:solidFill>
                  </a:tcPr>
                </a:tc>
              </a:tr>
              <a:tr h="292486">
                <a:tc>
                  <a:txBody>
                    <a:bodyPr/>
                    <a:lstStyle/>
                    <a:p>
                      <a:pPr algn="ctr" fontAlgn="b"/>
                      <a:r>
                        <a:rPr lang="en-GB" sz="1600" b="0" i="0" u="none" strike="noStrike">
                          <a:solidFill>
                            <a:srgbClr val="000000"/>
                          </a:solidFill>
                          <a:latin typeface="Calibri"/>
                        </a:rPr>
                        <a:t>5</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B8CCE4"/>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5</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r>
              <a:tr h="292486">
                <a:tc>
                  <a:txBody>
                    <a:bodyPr/>
                    <a:lstStyle/>
                    <a:p>
                      <a:pPr algn="ctr" fontAlgn="b"/>
                      <a:r>
                        <a:rPr lang="en-GB" sz="1600" b="0" i="0" u="none" strike="noStrike">
                          <a:solidFill>
                            <a:srgbClr val="000000"/>
                          </a:solidFill>
                          <a:latin typeface="Calibri"/>
                        </a:rPr>
                        <a:t>6</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6</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r>
              <a:tr h="292486">
                <a:tc>
                  <a:txBody>
                    <a:bodyPr/>
                    <a:lstStyle/>
                    <a:p>
                      <a:pPr algn="ctr" fontAlgn="b"/>
                      <a:r>
                        <a:rPr lang="en-GB" sz="1600" b="0" i="0" u="none" strike="noStrike">
                          <a:solidFill>
                            <a:srgbClr val="000000"/>
                          </a:solidFill>
                          <a:latin typeface="Calibri"/>
                        </a:rPr>
                        <a:t>7</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B8CCE4"/>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7</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B8CCE4"/>
                    </a:solidFill>
                  </a:tcPr>
                </a:tc>
              </a:tr>
              <a:tr h="292486">
                <a:tc>
                  <a:txBody>
                    <a:bodyPr/>
                    <a:lstStyle/>
                    <a:p>
                      <a:pPr algn="ctr" fontAlgn="b"/>
                      <a:r>
                        <a:rPr lang="en-GB" sz="1600" b="0" i="0" u="none" strike="noStrike">
                          <a:solidFill>
                            <a:srgbClr val="000000"/>
                          </a:solidFill>
                          <a:latin typeface="Calibri"/>
                        </a:rPr>
                        <a:t>8</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dirty="0">
                          <a:solidFill>
                            <a:srgbClr val="000000"/>
                          </a:solidFill>
                          <a:latin typeface="Calibri"/>
                        </a:rPr>
                        <a:t>8</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dirty="0">
                          <a:solidFill>
                            <a:srgbClr val="000000"/>
                          </a:solidFill>
                          <a:latin typeface="Calibri"/>
                        </a:rPr>
                        <a:t>1</a:t>
                      </a:r>
                    </a:p>
                  </a:txBody>
                  <a:tcPr marL="9525" marR="9525" marT="9525" marB="0" anchor="b">
                    <a:lnL>
                      <a:noFill/>
                    </a:lnL>
                    <a:lnR>
                      <a:noFill/>
                    </a:lnR>
                    <a:lnT>
                      <a:noFill/>
                    </a:lnT>
                    <a:lnB>
                      <a:noFill/>
                    </a:lnB>
                    <a:solidFill>
                      <a:srgbClr val="DBE5F1"/>
                    </a:solidFill>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292232" y="1197204"/>
            <a:ext cx="8446416" cy="523220"/>
          </a:xfrm>
          <a:prstGeom prst="rect">
            <a:avLst/>
          </a:prstGeom>
          <a:noFill/>
        </p:spPr>
        <p:txBody>
          <a:bodyPr wrap="square" rtlCol="0">
            <a:spAutoFit/>
          </a:bodyPr>
          <a:lstStyle/>
          <a:p>
            <a:pPr marL="609600" indent="-609600" eaLnBrk="0" hangingPunct="0">
              <a:spcBef>
                <a:spcPct val="20000"/>
              </a:spcBef>
            </a:pPr>
            <a:r>
              <a:rPr lang="en-GB" sz="2800" b="1" dirty="0" smtClean="0">
                <a:solidFill>
                  <a:srgbClr val="7D468C"/>
                </a:solidFill>
                <a:latin typeface="+mn-lt"/>
                <a:ea typeface="+mn-ea"/>
                <a:cs typeface="+mn-cs"/>
              </a:rPr>
              <a:t>Local control</a:t>
            </a:r>
          </a:p>
        </p:txBody>
      </p:sp>
      <p:sp>
        <p:nvSpPr>
          <p:cNvPr id="9" name="8 Flecha abajo"/>
          <p:cNvSpPr/>
          <p:nvPr/>
        </p:nvSpPr>
        <p:spPr bwMode="auto">
          <a:xfrm>
            <a:off x="2607065" y="4814046"/>
            <a:ext cx="471340" cy="641023"/>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10" name="9 Flecha abajo"/>
          <p:cNvSpPr/>
          <p:nvPr/>
        </p:nvSpPr>
        <p:spPr bwMode="auto">
          <a:xfrm>
            <a:off x="6232689" y="4842512"/>
            <a:ext cx="471340" cy="641023"/>
          </a:xfrm>
          <a:prstGeom prst="downArrow">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3200" b="0" i="0" u="none" strike="noStrike" cap="none" normalizeH="0" baseline="0" smtClean="0">
              <a:ln>
                <a:noFill/>
              </a:ln>
              <a:solidFill>
                <a:schemeClr val="tx1"/>
              </a:solidFill>
              <a:effectLst/>
              <a:latin typeface="Calibri" pitchFamily="34" charset="0"/>
            </a:endParaRPr>
          </a:p>
        </p:txBody>
      </p:sp>
      <p:sp>
        <p:nvSpPr>
          <p:cNvPr id="11" name="10 CuadroTexto"/>
          <p:cNvSpPr txBox="1"/>
          <p:nvPr/>
        </p:nvSpPr>
        <p:spPr>
          <a:xfrm>
            <a:off x="1322388" y="5496797"/>
            <a:ext cx="3054283" cy="707886"/>
          </a:xfrm>
          <a:prstGeom prst="rect">
            <a:avLst/>
          </a:prstGeom>
          <a:noFill/>
        </p:spPr>
        <p:txBody>
          <a:bodyPr wrap="square" rtlCol="0">
            <a:spAutoFit/>
          </a:bodyPr>
          <a:lstStyle/>
          <a:p>
            <a:pPr algn="just"/>
            <a:r>
              <a:rPr lang="en-GB" sz="2000" dirty="0" smtClean="0">
                <a:solidFill>
                  <a:schemeClr val="bg2">
                    <a:lumMod val="50000"/>
                  </a:schemeClr>
                </a:solidFill>
                <a:latin typeface="+mn-lt"/>
              </a:rPr>
              <a:t>Treatment are confounded between sex and batch</a:t>
            </a:r>
          </a:p>
        </p:txBody>
      </p:sp>
      <p:sp>
        <p:nvSpPr>
          <p:cNvPr id="12" name="11 CuadroTexto"/>
          <p:cNvSpPr txBox="1"/>
          <p:nvPr/>
        </p:nvSpPr>
        <p:spPr>
          <a:xfrm>
            <a:off x="5073192" y="5646286"/>
            <a:ext cx="3054283" cy="400110"/>
          </a:xfrm>
          <a:prstGeom prst="rect">
            <a:avLst/>
          </a:prstGeom>
          <a:noFill/>
        </p:spPr>
        <p:txBody>
          <a:bodyPr wrap="square" rtlCol="0">
            <a:spAutoFit/>
          </a:bodyPr>
          <a:lstStyle/>
          <a:p>
            <a:pPr algn="just"/>
            <a:r>
              <a:rPr lang="en-GB" sz="2000" dirty="0" smtClean="0">
                <a:solidFill>
                  <a:schemeClr val="bg2">
                    <a:lumMod val="50000"/>
                  </a:schemeClr>
                </a:solidFill>
                <a:latin typeface="+mn-lt"/>
              </a:rPr>
              <a:t>Treatment is well balanced</a:t>
            </a:r>
          </a:p>
        </p:txBody>
      </p:sp>
      <p:graphicFrame>
        <p:nvGraphicFramePr>
          <p:cNvPr id="13" name="12 Tabla"/>
          <p:cNvGraphicFramePr>
            <a:graphicFrameLocks noGrp="1"/>
          </p:cNvGraphicFramePr>
          <p:nvPr/>
        </p:nvGraphicFramePr>
        <p:xfrm>
          <a:off x="1027521" y="1986759"/>
          <a:ext cx="7635713" cy="2632374"/>
        </p:xfrm>
        <a:graphic>
          <a:graphicData uri="http://schemas.openxmlformats.org/drawingml/2006/table">
            <a:tbl>
              <a:tblPr/>
              <a:tblGrid>
                <a:gridCol w="729600"/>
                <a:gridCol w="1007543"/>
                <a:gridCol w="926477"/>
                <a:gridCol w="926477"/>
                <a:gridCol w="339708"/>
                <a:gridCol w="926477"/>
                <a:gridCol w="926477"/>
                <a:gridCol w="926477"/>
                <a:gridCol w="926477"/>
              </a:tblGrid>
              <a:tr h="292486">
                <a:tc>
                  <a:txBody>
                    <a:bodyPr/>
                    <a:lstStyle/>
                    <a:p>
                      <a:pPr algn="ctr" fontAlgn="b"/>
                      <a:r>
                        <a:rPr lang="en-GB" sz="1600" b="1" i="0" u="none" strike="noStrike" dirty="0">
                          <a:solidFill>
                            <a:srgbClr val="FFFFFF"/>
                          </a:solidFill>
                          <a:latin typeface="Calibri"/>
                        </a:rPr>
                        <a:t>Sample</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Treatment</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Sex</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Batch</a:t>
                      </a:r>
                    </a:p>
                  </a:txBody>
                  <a:tcPr marL="9525" marR="9525" marT="9525" marB="0" anchor="b">
                    <a:lnL>
                      <a:noFill/>
                    </a:lnL>
                    <a:lnR>
                      <a:noFill/>
                    </a:lnR>
                    <a:lnT>
                      <a:noFill/>
                    </a:lnT>
                    <a:lnB>
                      <a:noFill/>
                    </a:lnB>
                    <a:solidFill>
                      <a:srgbClr val="C0504D"/>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1" i="0" u="none" strike="noStrike">
                          <a:solidFill>
                            <a:srgbClr val="FFFFFF"/>
                          </a:solidFill>
                          <a:latin typeface="Calibri"/>
                        </a:rPr>
                        <a:t>Sample</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Treatment</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Sex</a:t>
                      </a:r>
                    </a:p>
                  </a:txBody>
                  <a:tcPr marL="9525" marR="9525" marT="9525" marB="0" anchor="b">
                    <a:lnL>
                      <a:noFill/>
                    </a:lnL>
                    <a:lnR>
                      <a:noFill/>
                    </a:lnR>
                    <a:lnT>
                      <a:noFill/>
                    </a:lnT>
                    <a:lnB>
                      <a:noFill/>
                    </a:lnB>
                    <a:solidFill>
                      <a:srgbClr val="C0504D"/>
                    </a:solidFill>
                  </a:tcPr>
                </a:tc>
                <a:tc>
                  <a:txBody>
                    <a:bodyPr/>
                    <a:lstStyle/>
                    <a:p>
                      <a:pPr algn="ctr" fontAlgn="b"/>
                      <a:r>
                        <a:rPr lang="en-GB" sz="1600" b="1" i="0" u="none" strike="noStrike">
                          <a:solidFill>
                            <a:srgbClr val="FFFFFF"/>
                          </a:solidFill>
                          <a:latin typeface="Calibri"/>
                        </a:rPr>
                        <a:t>Batch</a:t>
                      </a:r>
                    </a:p>
                  </a:txBody>
                  <a:tcPr marL="9525" marR="9525" marT="9525" marB="0" anchor="b">
                    <a:lnL>
                      <a:noFill/>
                    </a:lnL>
                    <a:lnR>
                      <a:noFill/>
                    </a:lnR>
                    <a:lnT>
                      <a:noFill/>
                    </a:lnT>
                    <a:lnB>
                      <a:noFill/>
                    </a:lnB>
                    <a:solidFill>
                      <a:srgbClr val="C0504D"/>
                    </a:solidFill>
                  </a:tcPr>
                </a:tc>
              </a:tr>
              <a:tr h="292486">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dirty="0">
                          <a:solidFill>
                            <a:srgbClr val="000000"/>
                          </a:solidFill>
                          <a:latin typeface="Calibri"/>
                        </a:rPr>
                        <a:t>1</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r>
              <a:tr h="292486">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DBE5F1"/>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r>
              <a:tr h="292486">
                <a:tc>
                  <a:txBody>
                    <a:bodyPr/>
                    <a:lstStyle/>
                    <a:p>
                      <a:pPr algn="ctr" fontAlgn="b"/>
                      <a:r>
                        <a:rPr lang="en-GB" sz="1600" b="0" i="0" u="none" strike="noStrike">
                          <a:solidFill>
                            <a:srgbClr val="000000"/>
                          </a:solidFill>
                          <a:latin typeface="Calibri"/>
                        </a:rPr>
                        <a:t>3</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3</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B8CCE4"/>
                    </a:solidFill>
                  </a:tcPr>
                </a:tc>
              </a:tr>
              <a:tr h="292486">
                <a:tc>
                  <a:txBody>
                    <a:bodyPr/>
                    <a:lstStyle/>
                    <a:p>
                      <a:pPr algn="ctr" fontAlgn="b"/>
                      <a:r>
                        <a:rPr lang="en-GB" sz="1600" b="0" i="0" u="none" strike="noStrike" dirty="0">
                          <a:solidFill>
                            <a:srgbClr val="000000"/>
                          </a:solidFill>
                          <a:latin typeface="Calibri"/>
                        </a:rPr>
                        <a:t>4</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DBE5F1"/>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4</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A</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DBE5F1"/>
                    </a:solidFill>
                  </a:tcPr>
                </a:tc>
              </a:tr>
              <a:tr h="292486">
                <a:tc>
                  <a:txBody>
                    <a:bodyPr/>
                    <a:lstStyle/>
                    <a:p>
                      <a:pPr algn="ctr" fontAlgn="b"/>
                      <a:r>
                        <a:rPr lang="en-GB" sz="1600" b="0" i="0" u="none" strike="noStrike">
                          <a:solidFill>
                            <a:srgbClr val="000000"/>
                          </a:solidFill>
                          <a:latin typeface="Calibri"/>
                        </a:rPr>
                        <a:t>5</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B8CCE4"/>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5</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1</a:t>
                      </a:r>
                    </a:p>
                  </a:txBody>
                  <a:tcPr marL="9525" marR="9525" marT="9525" marB="0" anchor="b">
                    <a:lnL>
                      <a:noFill/>
                    </a:lnL>
                    <a:lnR>
                      <a:noFill/>
                    </a:lnR>
                    <a:lnT>
                      <a:noFill/>
                    </a:lnT>
                    <a:lnB>
                      <a:noFill/>
                    </a:lnB>
                    <a:solidFill>
                      <a:srgbClr val="B8CCE4"/>
                    </a:solidFill>
                  </a:tcPr>
                </a:tc>
              </a:tr>
              <a:tr h="292486">
                <a:tc>
                  <a:txBody>
                    <a:bodyPr/>
                    <a:lstStyle/>
                    <a:p>
                      <a:pPr algn="ctr" fontAlgn="b"/>
                      <a:r>
                        <a:rPr lang="en-GB" sz="1600" b="0" i="0" u="none" strike="noStrike">
                          <a:solidFill>
                            <a:srgbClr val="000000"/>
                          </a:solidFill>
                          <a:latin typeface="Calibri"/>
                        </a:rPr>
                        <a:t>6</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6</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r>
              <a:tr h="292486">
                <a:tc>
                  <a:txBody>
                    <a:bodyPr/>
                    <a:lstStyle/>
                    <a:p>
                      <a:pPr algn="ctr" fontAlgn="b"/>
                      <a:r>
                        <a:rPr lang="en-GB" sz="1600" b="0" i="0" u="none" strike="noStrike">
                          <a:solidFill>
                            <a:srgbClr val="000000"/>
                          </a:solidFill>
                          <a:latin typeface="Calibri"/>
                        </a:rPr>
                        <a:t>7</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B8CCE4"/>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a:solidFill>
                            <a:srgbClr val="000000"/>
                          </a:solidFill>
                          <a:latin typeface="Calibri"/>
                        </a:rPr>
                        <a:t>7</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Male</a:t>
                      </a:r>
                    </a:p>
                  </a:txBody>
                  <a:tcPr marL="9525" marR="9525" marT="9525" marB="0" anchor="b">
                    <a:lnL>
                      <a:noFill/>
                    </a:lnL>
                    <a:lnR>
                      <a:noFill/>
                    </a:lnR>
                    <a:lnT>
                      <a:noFill/>
                    </a:lnT>
                    <a:lnB>
                      <a:noFill/>
                    </a:lnB>
                    <a:solidFill>
                      <a:srgbClr val="B8CCE4"/>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B8CCE4"/>
                    </a:solidFill>
                  </a:tcPr>
                </a:tc>
              </a:tr>
              <a:tr h="292486">
                <a:tc>
                  <a:txBody>
                    <a:bodyPr/>
                    <a:lstStyle/>
                    <a:p>
                      <a:pPr algn="ctr" fontAlgn="b"/>
                      <a:r>
                        <a:rPr lang="en-GB" sz="1600" b="0" i="0" u="none" strike="noStrike">
                          <a:solidFill>
                            <a:srgbClr val="000000"/>
                          </a:solidFill>
                          <a:latin typeface="Calibri"/>
                        </a:rPr>
                        <a:t>8</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2</a:t>
                      </a:r>
                    </a:p>
                  </a:txBody>
                  <a:tcPr marL="9525" marR="9525" marT="9525" marB="0" anchor="b">
                    <a:lnL>
                      <a:noFill/>
                    </a:lnL>
                    <a:lnR>
                      <a:noFill/>
                    </a:lnR>
                    <a:lnT>
                      <a:noFill/>
                    </a:lnT>
                    <a:lnB>
                      <a:noFill/>
                    </a:lnB>
                    <a:solidFill>
                      <a:srgbClr val="DBE5F1"/>
                    </a:solidFill>
                  </a:tcPr>
                </a:tc>
                <a:tc>
                  <a:txBody>
                    <a:bodyPr/>
                    <a:lstStyle/>
                    <a:p>
                      <a:pPr algn="l" fontAlgn="b"/>
                      <a:endParaRPr lang="en-GB" sz="1600" b="0" i="0" u="none" strike="noStrike">
                        <a:solidFill>
                          <a:srgbClr val="000000"/>
                        </a:solidFill>
                        <a:latin typeface="Calibri"/>
                      </a:endParaRPr>
                    </a:p>
                  </a:txBody>
                  <a:tcPr marL="9525" marR="9525" marT="9525" marB="0" anchor="b">
                    <a:lnL>
                      <a:noFill/>
                    </a:lnL>
                    <a:lnR>
                      <a:noFill/>
                    </a:lnR>
                    <a:lnT>
                      <a:noFill/>
                    </a:lnT>
                    <a:lnB>
                      <a:noFill/>
                    </a:lnB>
                  </a:tcPr>
                </a:tc>
                <a:tc>
                  <a:txBody>
                    <a:bodyPr/>
                    <a:lstStyle/>
                    <a:p>
                      <a:pPr algn="ctr" fontAlgn="b"/>
                      <a:r>
                        <a:rPr lang="en-GB" sz="1600" b="0" i="0" u="none" strike="noStrike" dirty="0">
                          <a:solidFill>
                            <a:srgbClr val="000000"/>
                          </a:solidFill>
                          <a:latin typeface="Calibri"/>
                        </a:rPr>
                        <a:t>8</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B</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a:solidFill>
                            <a:srgbClr val="000000"/>
                          </a:solidFill>
                          <a:latin typeface="Calibri"/>
                        </a:rPr>
                        <a:t>Female</a:t>
                      </a:r>
                    </a:p>
                  </a:txBody>
                  <a:tcPr marL="9525" marR="9525" marT="9525" marB="0" anchor="b">
                    <a:lnL>
                      <a:noFill/>
                    </a:lnL>
                    <a:lnR>
                      <a:noFill/>
                    </a:lnR>
                    <a:lnT>
                      <a:noFill/>
                    </a:lnT>
                    <a:lnB>
                      <a:noFill/>
                    </a:lnB>
                    <a:solidFill>
                      <a:srgbClr val="DBE5F1"/>
                    </a:solidFill>
                  </a:tcPr>
                </a:tc>
                <a:tc>
                  <a:txBody>
                    <a:bodyPr/>
                    <a:lstStyle/>
                    <a:p>
                      <a:pPr algn="ctr" fontAlgn="b"/>
                      <a:r>
                        <a:rPr lang="en-GB" sz="1600" b="0" i="0" u="none" strike="noStrike" dirty="0">
                          <a:solidFill>
                            <a:srgbClr val="000000"/>
                          </a:solidFill>
                          <a:latin typeface="Calibri"/>
                        </a:rPr>
                        <a:t>1</a:t>
                      </a:r>
                    </a:p>
                  </a:txBody>
                  <a:tcPr marL="9525" marR="9525" marT="9525" marB="0" anchor="b">
                    <a:lnL>
                      <a:noFill/>
                    </a:lnL>
                    <a:lnR>
                      <a:noFill/>
                    </a:lnR>
                    <a:lnT>
                      <a:noFill/>
                    </a:lnT>
                    <a:lnB>
                      <a:noFill/>
                    </a:lnB>
                    <a:solidFill>
                      <a:srgbClr val="DBE5F1"/>
                    </a:solidFill>
                  </a:tcPr>
                </a:tc>
              </a:tr>
            </a:tbl>
          </a:graphicData>
        </a:graphic>
      </p:graphicFrame>
      <p:sp>
        <p:nvSpPr>
          <p:cNvPr id="15" name="5 Título"/>
          <p:cNvSpPr>
            <a:spLocks noGrp="1"/>
          </p:cNvSpPr>
          <p:nvPr>
            <p:ph type="title"/>
          </p:nvPr>
        </p:nvSpPr>
        <p:spPr>
          <a:xfrm>
            <a:off x="468406" y="0"/>
            <a:ext cx="8915400" cy="1143000"/>
          </a:xfrm>
        </p:spPr>
        <p:txBody>
          <a:bodyPr/>
          <a:lstStyle/>
          <a:p>
            <a:pPr>
              <a:buFont typeface="+mj-lt"/>
              <a:buAutoNum type="arabicPeriod" startAt="2"/>
            </a:pPr>
            <a:r>
              <a:rPr lang="en-GB" dirty="0" smtClean="0">
                <a:ea typeface="ＭＳ Ｐゴシック" pitchFamily="34" charset="-128"/>
              </a:rPr>
              <a:t>Experimental Design Principles </a:t>
            </a:r>
            <a:br>
              <a:rPr lang="en-GB" dirty="0" smtClean="0">
                <a:ea typeface="ＭＳ Ｐゴシック" pitchFamily="34" charset="-128"/>
              </a:rPr>
            </a:br>
            <a:r>
              <a:rPr lang="en-GB" dirty="0" smtClean="0">
                <a:ea typeface="ＭＳ Ｐゴシック" pitchFamily="34" charset="-128"/>
              </a:rPr>
              <a:t>3. Local control</a:t>
            </a:r>
            <a:endParaRPr lang="es-E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a:xfrm>
            <a:off x="454958" y="0"/>
            <a:ext cx="8915400" cy="1143000"/>
          </a:xfrm>
        </p:spPr>
        <p:txBody>
          <a:bodyPr/>
          <a:lstStyle/>
          <a:p>
            <a:pPr>
              <a:buFont typeface="+mj-lt"/>
              <a:buAutoNum type="arabicPeriod" startAt="2"/>
            </a:pPr>
            <a:r>
              <a:rPr lang="en-GB" dirty="0" smtClean="0">
                <a:ea typeface="ＭＳ Ｐゴシック" pitchFamily="34" charset="-128"/>
              </a:rPr>
              <a:t>Experimental Design Principles </a:t>
            </a:r>
            <a:br>
              <a:rPr lang="en-GB" dirty="0" smtClean="0">
                <a:ea typeface="ＭＳ Ｐゴシック" pitchFamily="34" charset="-128"/>
              </a:rPr>
            </a:br>
            <a:r>
              <a:rPr lang="en-GB" dirty="0" smtClean="0">
                <a:ea typeface="ＭＳ Ｐゴシック" pitchFamily="34" charset="-128"/>
              </a:rPr>
              <a:t>3. Local control</a:t>
            </a:r>
            <a:endParaRPr lang="es-ES" dirty="0"/>
          </a:p>
        </p:txBody>
      </p:sp>
      <p:sp>
        <p:nvSpPr>
          <p:cNvPr id="7" name="6 CuadroTexto"/>
          <p:cNvSpPr txBox="1"/>
          <p:nvPr/>
        </p:nvSpPr>
        <p:spPr>
          <a:xfrm>
            <a:off x="292232" y="1197204"/>
            <a:ext cx="8446416" cy="523220"/>
          </a:xfrm>
          <a:prstGeom prst="rect">
            <a:avLst/>
          </a:prstGeom>
          <a:noFill/>
        </p:spPr>
        <p:txBody>
          <a:bodyPr wrap="square" rtlCol="0">
            <a:spAutoFit/>
          </a:bodyPr>
          <a:lstStyle/>
          <a:p>
            <a:pPr marL="609600" indent="-609600" eaLnBrk="0" hangingPunct="0">
              <a:spcBef>
                <a:spcPct val="20000"/>
              </a:spcBef>
            </a:pPr>
            <a:r>
              <a:rPr lang="en-GB" sz="2800" b="1" dirty="0" smtClean="0">
                <a:solidFill>
                  <a:srgbClr val="7D468C"/>
                </a:solidFill>
                <a:latin typeface="+mn-lt"/>
                <a:ea typeface="+mn-ea"/>
                <a:cs typeface="+mn-cs"/>
              </a:rPr>
              <a:t>Local control or randomize?</a:t>
            </a:r>
          </a:p>
        </p:txBody>
      </p:sp>
      <p:sp>
        <p:nvSpPr>
          <p:cNvPr id="4" name="3 Rectángulo"/>
          <p:cNvSpPr/>
          <p:nvPr/>
        </p:nvSpPr>
        <p:spPr>
          <a:xfrm>
            <a:off x="526676" y="4974975"/>
            <a:ext cx="8899712" cy="461665"/>
          </a:xfrm>
          <a:prstGeom prst="rect">
            <a:avLst/>
          </a:prstGeom>
        </p:spPr>
        <p:txBody>
          <a:bodyPr wrap="square">
            <a:spAutoFit/>
          </a:bodyPr>
          <a:lstStyle/>
          <a:p>
            <a:pPr marL="342900" indent="-342900"/>
            <a:r>
              <a:rPr lang="en-US" sz="2400" dirty="0" smtClean="0">
                <a:solidFill>
                  <a:schemeClr val="bg2">
                    <a:lumMod val="50000"/>
                  </a:schemeClr>
                </a:solidFill>
                <a:latin typeface="+mn-lt"/>
              </a:rPr>
              <a:t>“Block what you can, randomize what you cannot” (George Box, 1978)</a:t>
            </a:r>
            <a:endParaRPr lang="ca-ES" sz="2400" dirty="0">
              <a:solidFill>
                <a:schemeClr val="bg2">
                  <a:lumMod val="50000"/>
                </a:schemeClr>
              </a:solidFill>
              <a:latin typeface="+mn-lt"/>
            </a:endParaRPr>
          </a:p>
        </p:txBody>
      </p:sp>
      <p:sp>
        <p:nvSpPr>
          <p:cNvPr id="5" name="4 CuadroTexto"/>
          <p:cNvSpPr txBox="1"/>
          <p:nvPr/>
        </p:nvSpPr>
        <p:spPr>
          <a:xfrm>
            <a:off x="605116" y="1909483"/>
            <a:ext cx="8431307" cy="2462213"/>
          </a:xfrm>
          <a:prstGeom prst="rect">
            <a:avLst/>
          </a:prstGeom>
          <a:noFill/>
        </p:spPr>
        <p:txBody>
          <a:bodyPr wrap="square" rtlCol="0">
            <a:spAutoFit/>
          </a:bodyPr>
          <a:lstStyle/>
          <a:p>
            <a:pPr marL="174625" indent="-174625" algn="just">
              <a:buFont typeface="Arial" pitchFamily="34" charset="0"/>
              <a:buChar char="•"/>
            </a:pPr>
            <a:r>
              <a:rPr lang="en-US" sz="2200" dirty="0" smtClean="0">
                <a:solidFill>
                  <a:schemeClr val="bg2">
                    <a:lumMod val="50000"/>
                  </a:schemeClr>
                </a:solidFill>
                <a:latin typeface="+mn-lt"/>
              </a:rPr>
              <a:t>Local control assure you that differences are not due to blocks in the sample</a:t>
            </a:r>
          </a:p>
          <a:p>
            <a:pPr algn="just">
              <a:buFont typeface="Arial" pitchFamily="34" charset="0"/>
              <a:buChar char="•"/>
            </a:pPr>
            <a:endParaRPr lang="en-US" sz="2200" dirty="0" smtClean="0">
              <a:solidFill>
                <a:schemeClr val="bg2">
                  <a:lumMod val="50000"/>
                </a:schemeClr>
              </a:solidFill>
              <a:latin typeface="+mn-lt"/>
            </a:endParaRPr>
          </a:p>
          <a:p>
            <a:pPr algn="just">
              <a:buFont typeface="Arial" pitchFamily="34" charset="0"/>
              <a:buChar char="•"/>
            </a:pPr>
            <a:r>
              <a:rPr lang="en-US" sz="2200" dirty="0" smtClean="0">
                <a:solidFill>
                  <a:schemeClr val="bg2">
                    <a:lumMod val="50000"/>
                  </a:schemeClr>
                </a:solidFill>
                <a:latin typeface="+mn-lt"/>
              </a:rPr>
              <a:t> Local control eliminate the noise due to differences among blocks </a:t>
            </a:r>
          </a:p>
          <a:p>
            <a:pPr algn="just">
              <a:buFont typeface="Arial" pitchFamily="34" charset="0"/>
              <a:buChar char="•"/>
            </a:pPr>
            <a:endParaRPr lang="en-US" sz="2200" dirty="0" smtClean="0">
              <a:solidFill>
                <a:schemeClr val="bg2">
                  <a:lumMod val="50000"/>
                </a:schemeClr>
              </a:solidFill>
              <a:latin typeface="+mn-lt"/>
            </a:endParaRPr>
          </a:p>
          <a:p>
            <a:pPr marL="174625" indent="-174625" algn="just">
              <a:buFont typeface="Arial" pitchFamily="34" charset="0"/>
              <a:buChar char="•"/>
            </a:pPr>
            <a:r>
              <a:rPr lang="en-US" sz="2200" dirty="0" smtClean="0">
                <a:solidFill>
                  <a:schemeClr val="bg2">
                    <a:lumMod val="50000"/>
                  </a:schemeClr>
                </a:solidFill>
                <a:latin typeface="+mn-lt"/>
              </a:rPr>
              <a:t>Randomization is good for balance effects from variables not taken into account from the beginning.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5 Título"/>
          <p:cNvSpPr>
            <a:spLocks noGrp="1"/>
          </p:cNvSpPr>
          <p:nvPr>
            <p:ph type="title"/>
          </p:nvPr>
        </p:nvSpPr>
        <p:spPr>
          <a:xfrm>
            <a:off x="454958" y="0"/>
            <a:ext cx="8915400" cy="1143000"/>
          </a:xfrm>
        </p:spPr>
        <p:txBody>
          <a:bodyPr/>
          <a:lstStyle/>
          <a:p>
            <a:pPr>
              <a:buFont typeface="+mj-lt"/>
              <a:buAutoNum type="arabicPeriod" startAt="2"/>
            </a:pPr>
            <a:r>
              <a:rPr lang="en-GB" dirty="0" smtClean="0">
                <a:ea typeface="ＭＳ Ｐゴシック" pitchFamily="34" charset="-128"/>
              </a:rPr>
              <a:t>Experimental Design Principles </a:t>
            </a:r>
            <a:br>
              <a:rPr lang="en-GB" dirty="0" smtClean="0">
                <a:ea typeface="ＭＳ Ｐゴシック" pitchFamily="34" charset="-128"/>
              </a:rPr>
            </a:br>
            <a:r>
              <a:rPr lang="en-GB" dirty="0" smtClean="0">
                <a:ea typeface="ＭＳ Ｐゴシック" pitchFamily="34" charset="-128"/>
              </a:rPr>
              <a:t>3. Local control</a:t>
            </a:r>
            <a:endParaRPr lang="es-ES" dirty="0"/>
          </a:p>
        </p:txBody>
      </p:sp>
      <p:sp>
        <p:nvSpPr>
          <p:cNvPr id="8" name="7 CuadroTexto"/>
          <p:cNvSpPr txBox="1"/>
          <p:nvPr/>
        </p:nvSpPr>
        <p:spPr>
          <a:xfrm>
            <a:off x="349623" y="1371600"/>
            <a:ext cx="8552330" cy="430887"/>
          </a:xfrm>
          <a:prstGeom prst="rect">
            <a:avLst/>
          </a:prstGeom>
          <a:noFill/>
        </p:spPr>
        <p:txBody>
          <a:bodyPr wrap="square" rtlCol="0">
            <a:spAutoFit/>
          </a:bodyPr>
          <a:lstStyle/>
          <a:p>
            <a:pPr algn="just"/>
            <a:r>
              <a:rPr lang="en-US" sz="2200" smtClean="0">
                <a:solidFill>
                  <a:srgbClr val="0070C0"/>
                </a:solidFill>
                <a:latin typeface="+mn-lt"/>
              </a:rPr>
              <a:t>Example of a bad experimental design (or perhaps an absence of...)</a:t>
            </a:r>
          </a:p>
        </p:txBody>
      </p:sp>
      <p:pic>
        <p:nvPicPr>
          <p:cNvPr id="1026" name="Picture 2" descr="C:\Users\rgonzalo\Dropbox (Personal)\Work\Master VHIR\barplot_batch.jpg"/>
          <p:cNvPicPr>
            <a:picLocks noChangeAspect="1" noChangeArrowheads="1"/>
          </p:cNvPicPr>
          <p:nvPr/>
        </p:nvPicPr>
        <p:blipFill>
          <a:blip r:embed="rId2" cstate="print"/>
          <a:srcRect/>
          <a:stretch>
            <a:fillRect/>
          </a:stretch>
        </p:blipFill>
        <p:spPr bwMode="auto">
          <a:xfrm>
            <a:off x="703729" y="1976718"/>
            <a:ext cx="3630706" cy="3630706"/>
          </a:xfrm>
          <a:prstGeom prst="rect">
            <a:avLst/>
          </a:prstGeom>
          <a:noFill/>
        </p:spPr>
      </p:pic>
      <p:pic>
        <p:nvPicPr>
          <p:cNvPr id="1027" name="Picture 3" descr="C:\Users\rgonzalo\Dropbox (Personal)\Work\Master VHIR\pca_batch.jpg"/>
          <p:cNvPicPr>
            <a:picLocks noChangeAspect="1" noChangeArrowheads="1"/>
          </p:cNvPicPr>
          <p:nvPr/>
        </p:nvPicPr>
        <p:blipFill>
          <a:blip r:embed="rId3" cstate="print"/>
          <a:srcRect/>
          <a:stretch>
            <a:fillRect/>
          </a:stretch>
        </p:blipFill>
        <p:spPr bwMode="auto">
          <a:xfrm>
            <a:off x="470648" y="1976717"/>
            <a:ext cx="4908176" cy="4675095"/>
          </a:xfrm>
          <a:prstGeom prst="rect">
            <a:avLst/>
          </a:prstGeom>
          <a:noFill/>
        </p:spPr>
      </p:pic>
      <p:pic>
        <p:nvPicPr>
          <p:cNvPr id="1028" name="Picture 4" descr="C:\Users\rgonzalo\Dropbox (Personal)\Work\Master VHIR\barplot_batch.jpg"/>
          <p:cNvPicPr>
            <a:picLocks noChangeAspect="1" noChangeArrowheads="1"/>
          </p:cNvPicPr>
          <p:nvPr/>
        </p:nvPicPr>
        <p:blipFill>
          <a:blip r:embed="rId2" cstate="print"/>
          <a:srcRect/>
          <a:stretch>
            <a:fillRect/>
          </a:stretch>
        </p:blipFill>
        <p:spPr bwMode="auto">
          <a:xfrm>
            <a:off x="5827058" y="2299448"/>
            <a:ext cx="3563471" cy="4128246"/>
          </a:xfrm>
          <a:prstGeom prst="rect">
            <a:avLst/>
          </a:prstGeom>
          <a:noFill/>
        </p:spPr>
      </p:pic>
      <p:sp>
        <p:nvSpPr>
          <p:cNvPr id="10" name="9 Rectángulo redondeado"/>
          <p:cNvSpPr/>
          <p:nvPr/>
        </p:nvSpPr>
        <p:spPr bwMode="auto">
          <a:xfrm>
            <a:off x="4506012" y="3016577"/>
            <a:ext cx="339365" cy="206724"/>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3</a:t>
            </a:r>
          </a:p>
        </p:txBody>
      </p:sp>
      <p:sp>
        <p:nvSpPr>
          <p:cNvPr id="12" name="11 Rectángulo redondeado"/>
          <p:cNvSpPr/>
          <p:nvPr/>
        </p:nvSpPr>
        <p:spPr bwMode="auto">
          <a:xfrm>
            <a:off x="4490300" y="2520099"/>
            <a:ext cx="339365" cy="206724"/>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2</a:t>
            </a:r>
          </a:p>
        </p:txBody>
      </p:sp>
      <p:sp>
        <p:nvSpPr>
          <p:cNvPr id="14" name="13 Elipse"/>
          <p:cNvSpPr/>
          <p:nvPr/>
        </p:nvSpPr>
        <p:spPr bwMode="auto">
          <a:xfrm>
            <a:off x="4451021" y="3291525"/>
            <a:ext cx="490194" cy="262742"/>
          </a:xfrm>
          <a:prstGeom prst="ellipse">
            <a:avLst/>
          </a:prstGeom>
          <a:solidFill>
            <a:srgbClr val="FF000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3</a:t>
            </a:r>
          </a:p>
        </p:txBody>
      </p:sp>
      <p:sp>
        <p:nvSpPr>
          <p:cNvPr id="15" name="14 Elipse"/>
          <p:cNvSpPr/>
          <p:nvPr/>
        </p:nvSpPr>
        <p:spPr bwMode="auto">
          <a:xfrm>
            <a:off x="1200345" y="2699207"/>
            <a:ext cx="490194" cy="262742"/>
          </a:xfrm>
          <a:prstGeom prst="ellipse">
            <a:avLst/>
          </a:prstGeom>
          <a:solidFill>
            <a:srgbClr val="FF000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1</a:t>
            </a:r>
          </a:p>
        </p:txBody>
      </p:sp>
      <p:sp>
        <p:nvSpPr>
          <p:cNvPr id="16" name="15 Rectángulo redondeado"/>
          <p:cNvSpPr/>
          <p:nvPr/>
        </p:nvSpPr>
        <p:spPr bwMode="auto">
          <a:xfrm>
            <a:off x="1243674" y="2928934"/>
            <a:ext cx="339365" cy="206724"/>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1</a:t>
            </a:r>
          </a:p>
        </p:txBody>
      </p:sp>
      <p:sp>
        <p:nvSpPr>
          <p:cNvPr id="17" name="16 Elipse"/>
          <p:cNvSpPr/>
          <p:nvPr/>
        </p:nvSpPr>
        <p:spPr bwMode="auto">
          <a:xfrm>
            <a:off x="4430597" y="2696064"/>
            <a:ext cx="490194" cy="216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2</a:t>
            </a:r>
          </a:p>
        </p:txBody>
      </p:sp>
      <p:sp>
        <p:nvSpPr>
          <p:cNvPr id="19" name="18 Rectángulo redondeado"/>
          <p:cNvSpPr/>
          <p:nvPr/>
        </p:nvSpPr>
        <p:spPr bwMode="auto">
          <a:xfrm>
            <a:off x="3771628" y="5419181"/>
            <a:ext cx="339365" cy="206724"/>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1</a:t>
            </a:r>
          </a:p>
        </p:txBody>
      </p:sp>
      <p:sp>
        <p:nvSpPr>
          <p:cNvPr id="20" name="19 Rectángulo redondeado"/>
          <p:cNvSpPr/>
          <p:nvPr/>
        </p:nvSpPr>
        <p:spPr bwMode="auto">
          <a:xfrm>
            <a:off x="3690592" y="5180029"/>
            <a:ext cx="339365" cy="206724"/>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2</a:t>
            </a:r>
          </a:p>
        </p:txBody>
      </p:sp>
      <p:sp>
        <p:nvSpPr>
          <p:cNvPr id="21" name="20 Rectángulo redondeado"/>
          <p:cNvSpPr/>
          <p:nvPr/>
        </p:nvSpPr>
        <p:spPr bwMode="auto">
          <a:xfrm>
            <a:off x="4055097" y="5054338"/>
            <a:ext cx="339365" cy="206724"/>
          </a:xfrm>
          <a:prstGeom prst="roundRect">
            <a:avLst/>
          </a:prstGeom>
          <a:solidFill>
            <a:srgbClr val="993489"/>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3</a:t>
            </a:r>
          </a:p>
        </p:txBody>
      </p:sp>
      <p:sp>
        <p:nvSpPr>
          <p:cNvPr id="22" name="21 Elipse"/>
          <p:cNvSpPr/>
          <p:nvPr/>
        </p:nvSpPr>
        <p:spPr bwMode="auto">
          <a:xfrm>
            <a:off x="1965487" y="4953784"/>
            <a:ext cx="490194" cy="262742"/>
          </a:xfrm>
          <a:prstGeom prst="ellipse">
            <a:avLst/>
          </a:prstGeom>
          <a:solidFill>
            <a:srgbClr val="FF000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1</a:t>
            </a:r>
          </a:p>
        </p:txBody>
      </p:sp>
      <p:sp>
        <p:nvSpPr>
          <p:cNvPr id="24" name="23 Elipse"/>
          <p:cNvSpPr/>
          <p:nvPr/>
        </p:nvSpPr>
        <p:spPr bwMode="auto">
          <a:xfrm>
            <a:off x="2094320" y="5195739"/>
            <a:ext cx="490194" cy="216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2</a:t>
            </a:r>
          </a:p>
        </p:txBody>
      </p:sp>
      <p:sp>
        <p:nvSpPr>
          <p:cNvPr id="25" name="24 Elipse"/>
          <p:cNvSpPr/>
          <p:nvPr/>
        </p:nvSpPr>
        <p:spPr bwMode="auto">
          <a:xfrm>
            <a:off x="1709392" y="5319859"/>
            <a:ext cx="490194" cy="262742"/>
          </a:xfrm>
          <a:prstGeom prst="ellipse">
            <a:avLst/>
          </a:prstGeom>
          <a:solidFill>
            <a:srgbClr val="FF0000"/>
          </a:solidFill>
          <a:ln w="9525"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600" b="0" i="0" u="none" strike="noStrike" cap="none" normalizeH="0" baseline="0" dirty="0" smtClean="0">
                <a:ln>
                  <a:noFill/>
                </a:ln>
                <a:solidFill>
                  <a:schemeClr val="tx1"/>
                </a:solidFill>
                <a:effectLst/>
                <a:latin typeface="Calibri" pitchFamily="34" charset="0"/>
              </a:rPr>
              <a:t>3</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Marcador de texto"/>
          <p:cNvSpPr>
            <a:spLocks noGrp="1"/>
          </p:cNvSpPr>
          <p:nvPr>
            <p:ph type="body" sz="quarter" idx="10"/>
          </p:nvPr>
        </p:nvSpPr>
        <p:spPr bwMode="auto">
          <a:xfrm>
            <a:off x="3903663" y="579438"/>
            <a:ext cx="6002337" cy="5349875"/>
          </a:xfrm>
          <a:noFill/>
          <a:ln>
            <a:miter lim="800000"/>
            <a:headEnd/>
            <a:tailEnd/>
          </a:ln>
        </p:spPr>
        <p:txBody>
          <a:bodyPr vert="horz" wrap="square" lIns="91440" tIns="45720" rIns="91440" bIns="45720" numCol="1" anchor="t" anchorCtr="0" compatLnSpc="1">
            <a:prstTxWarp prst="textNoShape">
              <a:avLst/>
            </a:prstTxWarp>
          </a:bodyPr>
          <a:lstStyle/>
          <a:p>
            <a:pPr marL="358775" indent="-358775">
              <a:buFont typeface="Calibri" pitchFamily="34" charset="0"/>
              <a:buAutoNum type="arabicPeriod"/>
            </a:pPr>
            <a:r>
              <a:rPr lang="en-GB" dirty="0" smtClean="0">
                <a:solidFill>
                  <a:srgbClr val="FF0000"/>
                </a:solidFill>
                <a:ea typeface="ＭＳ Ｐゴシック" pitchFamily="34" charset="-128"/>
              </a:rPr>
              <a:t>Basic ideas of experimental design</a:t>
            </a:r>
          </a:p>
          <a:p>
            <a:pPr marL="358775" indent="-358775">
              <a:buFont typeface="Calibri" pitchFamily="34" charset="0"/>
              <a:buAutoNum type="arabicPeriod"/>
            </a:pPr>
            <a:r>
              <a:rPr lang="en-GB" dirty="0" smtClean="0">
                <a:solidFill>
                  <a:srgbClr val="FF0000"/>
                </a:solidFill>
                <a:ea typeface="ＭＳ Ｐゴシック" pitchFamily="34" charset="-128"/>
              </a:rPr>
              <a:t>Experimental Design </a:t>
            </a:r>
            <a:r>
              <a:rPr lang="en-GB" dirty="0">
                <a:solidFill>
                  <a:srgbClr val="FF0000"/>
                </a:solidFill>
                <a:ea typeface="ＭＳ Ｐゴシック" pitchFamily="34" charset="-128"/>
              </a:rPr>
              <a:t>Principles</a:t>
            </a:r>
          </a:p>
          <a:p>
            <a:pPr marL="798875" lvl="1" indent="-358775">
              <a:buFont typeface="Calibri" pitchFamily="34" charset="0"/>
              <a:buAutoNum type="arabicPeriod"/>
            </a:pPr>
            <a:r>
              <a:rPr lang="en-GB" dirty="0" smtClean="0">
                <a:solidFill>
                  <a:srgbClr val="FF0000"/>
                </a:solidFill>
                <a:ea typeface="ＭＳ Ｐゴシック" pitchFamily="34" charset="-128"/>
              </a:rPr>
              <a:t>Randomize</a:t>
            </a:r>
          </a:p>
          <a:p>
            <a:pPr marL="798875" lvl="1" indent="-358775">
              <a:buFont typeface="Calibri" pitchFamily="34" charset="0"/>
              <a:buAutoNum type="arabicPeriod"/>
            </a:pPr>
            <a:r>
              <a:rPr lang="en-GB" dirty="0" smtClean="0">
                <a:solidFill>
                  <a:srgbClr val="FF0000"/>
                </a:solidFill>
                <a:ea typeface="ＭＳ Ｐゴシック" pitchFamily="34" charset="-128"/>
              </a:rPr>
              <a:t>Replicate</a:t>
            </a:r>
          </a:p>
          <a:p>
            <a:pPr marL="798875" lvl="1" indent="-358775">
              <a:buFont typeface="Calibri" pitchFamily="34" charset="0"/>
              <a:buAutoNum type="arabicPeriod"/>
            </a:pPr>
            <a:r>
              <a:rPr lang="en-GB" dirty="0" smtClean="0">
                <a:solidFill>
                  <a:srgbClr val="FF0000"/>
                </a:solidFill>
                <a:ea typeface="ＭＳ Ｐゴシック" pitchFamily="34" charset="-128"/>
              </a:rPr>
              <a:t>Local control</a:t>
            </a:r>
          </a:p>
          <a:p>
            <a:pPr marL="358775" indent="-358775">
              <a:buFont typeface="Calibri" pitchFamily="34" charset="0"/>
              <a:buAutoNum type="arabicPeriod"/>
            </a:pPr>
            <a:r>
              <a:rPr lang="en-GB" dirty="0" smtClean="0">
                <a:solidFill>
                  <a:srgbClr val="FF0000"/>
                </a:solidFill>
                <a:ea typeface="ＭＳ Ｐゴシック" pitchFamily="34" charset="-128"/>
              </a:rPr>
              <a:t>Experimental Design types</a:t>
            </a:r>
          </a:p>
          <a:p>
            <a:pPr marL="798875" lvl="1" indent="-358775">
              <a:buFont typeface="Calibri" pitchFamily="34" charset="0"/>
              <a:buAutoNum type="arabicPeriod"/>
            </a:pPr>
            <a:r>
              <a:rPr lang="en-GB" dirty="0" smtClean="0">
                <a:solidFill>
                  <a:srgbClr val="FF0000"/>
                </a:solidFill>
                <a:ea typeface="ＭＳ Ｐゴシック" pitchFamily="34" charset="-128"/>
              </a:rPr>
              <a:t>Completely Randomized Design (CRD)</a:t>
            </a:r>
          </a:p>
          <a:p>
            <a:pPr marL="798875" lvl="1" indent="-358775">
              <a:buFont typeface="Calibri" pitchFamily="34" charset="0"/>
              <a:buAutoNum type="arabicPeriod"/>
            </a:pPr>
            <a:r>
              <a:rPr lang="en-GB" dirty="0" smtClean="0">
                <a:solidFill>
                  <a:srgbClr val="FF0000"/>
                </a:solidFill>
                <a:ea typeface="ＭＳ Ｐゴシック" pitchFamily="34" charset="-128"/>
              </a:rPr>
              <a:t>Randomized Block Design (RBD)</a:t>
            </a:r>
          </a:p>
          <a:p>
            <a:pPr marL="798875" lvl="1" indent="-358775">
              <a:buFont typeface="Calibri" pitchFamily="34" charset="0"/>
              <a:buAutoNum type="arabicPeriod"/>
            </a:pPr>
            <a:r>
              <a:rPr lang="en-GB" dirty="0" smtClean="0">
                <a:solidFill>
                  <a:srgbClr val="FF0000"/>
                </a:solidFill>
                <a:ea typeface="ＭＳ Ｐゴシック" pitchFamily="34" charset="-128"/>
              </a:rPr>
              <a:t>Factorial Experiments</a:t>
            </a:r>
          </a:p>
          <a:p>
            <a:pPr marL="798875" lvl="1" indent="-358775">
              <a:buFont typeface="Calibri" pitchFamily="34" charset="0"/>
              <a:buAutoNum type="arabicPeriod"/>
            </a:pPr>
            <a:r>
              <a:rPr lang="en-GB" dirty="0" smtClean="0">
                <a:solidFill>
                  <a:srgbClr val="FF0000"/>
                </a:solidFill>
                <a:ea typeface="ＭＳ Ｐゴシック" pitchFamily="34" charset="-128"/>
              </a:rPr>
              <a:t>Repeated Measures (Within Subjects Designs)</a:t>
            </a:r>
          </a:p>
          <a:p>
            <a:pPr marL="358775" indent="-358775">
              <a:buFont typeface="Calibri" pitchFamily="34" charset="0"/>
              <a:buAutoNum type="arabicPeriod"/>
            </a:pPr>
            <a:r>
              <a:rPr lang="en-GB" dirty="0" smtClean="0">
                <a:ea typeface="ＭＳ Ｐゴシック" pitchFamily="34" charset="-128"/>
              </a:rPr>
              <a:t>Some references</a:t>
            </a:r>
          </a:p>
          <a:p>
            <a:pPr marL="358775" indent="-358775">
              <a:buFont typeface="Calibri" pitchFamily="34" charset="0"/>
              <a:buAutoNum type="arabicPeriod"/>
            </a:pPr>
            <a:r>
              <a:rPr lang="en-GB" dirty="0" smtClean="0">
                <a:ea typeface="ＭＳ Ｐゴシック" pitchFamily="34" charset="-128"/>
              </a:rPr>
              <a:t>Exercises</a:t>
            </a:r>
          </a:p>
          <a:p>
            <a:pPr marL="798875" lvl="1" indent="-358775">
              <a:buFont typeface="Calibri" pitchFamily="34" charset="0"/>
              <a:buAutoNum type="arabicPeriod"/>
            </a:pPr>
            <a:endParaRPr lang="en-GB" dirty="0" smtClean="0">
              <a:ea typeface="ＭＳ Ｐゴシック" pitchFamily="34" charset="-128"/>
            </a:endParaRPr>
          </a:p>
          <a:p>
            <a:pPr marL="358775" indent="-358775">
              <a:buFont typeface="Calibri" pitchFamily="34" charset="0"/>
              <a:buAutoNum type="arabicPeriod"/>
            </a:pPr>
            <a:endParaRPr lang="en-GB" dirty="0" smtClean="0">
              <a:ea typeface="ＭＳ Ｐゴシック" pitchFamily="34" charset="-128"/>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pPr>
              <a:buFont typeface="+mj-lt"/>
              <a:buAutoNum type="arabicPeriod" startAt="3"/>
            </a:pPr>
            <a:r>
              <a:rPr lang="en-GB" dirty="0">
                <a:ea typeface="ＭＳ Ｐゴシック" pitchFamily="34" charset="-128"/>
              </a:rPr>
              <a:t>Experimental Design types</a:t>
            </a:r>
            <a:endParaRPr lang="en-GB" dirty="0"/>
          </a:p>
        </p:txBody>
      </p:sp>
      <p:sp>
        <p:nvSpPr>
          <p:cNvPr id="3" name="Text Box 2"/>
          <p:cNvSpPr txBox="1">
            <a:spLocks noChangeArrowheads="1"/>
          </p:cNvSpPr>
          <p:nvPr/>
        </p:nvSpPr>
        <p:spPr bwMode="auto">
          <a:xfrm>
            <a:off x="742560" y="1371024"/>
            <a:ext cx="8420880" cy="4612805"/>
          </a:xfrm>
          <a:prstGeom prst="rect">
            <a:avLst/>
          </a:prstGeom>
          <a:noFill/>
          <a:ln w="9525">
            <a:noFill/>
            <a:round/>
            <a:headEnd/>
            <a:tailEnd/>
          </a:ln>
        </p:spPr>
        <p:txBody>
          <a:bodyPr lIns="95790" tIns="47895" rIns="95790" bIns="47895"/>
          <a:lstStyle/>
          <a:p>
            <a:pPr algn="just">
              <a:spcBef>
                <a:spcPts val="736"/>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smtClean="0">
                <a:solidFill>
                  <a:srgbClr val="993489"/>
                </a:solidFill>
                <a:latin typeface="+mn-lt"/>
              </a:rPr>
              <a:t>A key point in any experiment is the way that experimental units are allocated to treatments</a:t>
            </a:r>
          </a:p>
          <a:p>
            <a:pPr marL="346978" indent="-346978" algn="just">
              <a:spcBef>
                <a:spcPts val="736"/>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400" dirty="0" smtClean="0">
              <a:solidFill>
                <a:srgbClr val="000000"/>
              </a:solidFill>
              <a:latin typeface="+mn-lt"/>
            </a:endParaRPr>
          </a:p>
          <a:p>
            <a:pPr marL="766369" lvl="1" indent="-291161" algn="just">
              <a:spcBef>
                <a:spcPts val="618"/>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smtClean="0">
                <a:solidFill>
                  <a:schemeClr val="bg2">
                    <a:lumMod val="50000"/>
                  </a:schemeClr>
                </a:solidFill>
                <a:latin typeface="+mn-lt"/>
              </a:rPr>
              <a:t>It must be chosen so that random variability is </a:t>
            </a:r>
            <a:r>
              <a:rPr lang="en-US" sz="2400" i="1" dirty="0" smtClean="0">
                <a:solidFill>
                  <a:schemeClr val="bg2">
                    <a:lumMod val="50000"/>
                  </a:schemeClr>
                </a:solidFill>
                <a:latin typeface="+mn-lt"/>
              </a:rPr>
              <a:t>as small as </a:t>
            </a:r>
            <a:r>
              <a:rPr lang="en-US" sz="2400" dirty="0" smtClean="0">
                <a:solidFill>
                  <a:schemeClr val="bg2">
                    <a:lumMod val="50000"/>
                  </a:schemeClr>
                </a:solidFill>
                <a:latin typeface="+mn-lt"/>
              </a:rPr>
              <a:t>possible.</a:t>
            </a:r>
          </a:p>
          <a:p>
            <a:pPr marL="766369" lvl="1" indent="-291161" algn="just">
              <a:spcBef>
                <a:spcPts val="618"/>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smtClean="0">
                <a:solidFill>
                  <a:schemeClr val="bg2">
                    <a:lumMod val="50000"/>
                  </a:schemeClr>
                </a:solidFill>
                <a:latin typeface="+mn-lt"/>
              </a:rPr>
              <a:t>It must be chosen so that </a:t>
            </a:r>
            <a:r>
              <a:rPr lang="en-US" sz="2400" i="1" dirty="0" smtClean="0">
                <a:solidFill>
                  <a:schemeClr val="bg2">
                    <a:lumMod val="50000"/>
                  </a:schemeClr>
                </a:solidFill>
                <a:latin typeface="+mn-lt"/>
              </a:rPr>
              <a:t>the best local control </a:t>
            </a:r>
            <a:r>
              <a:rPr lang="en-US" sz="2400" dirty="0" smtClean="0">
                <a:solidFill>
                  <a:schemeClr val="bg2">
                    <a:lumMod val="50000"/>
                  </a:schemeClr>
                </a:solidFill>
                <a:latin typeface="+mn-lt"/>
              </a:rPr>
              <a:t>is achieved. </a:t>
            </a:r>
          </a:p>
          <a:p>
            <a:pPr marL="766369" lvl="1" indent="-291161" algn="just">
              <a:spcBef>
                <a:spcPts val="618"/>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i="1" dirty="0" smtClean="0">
                <a:solidFill>
                  <a:schemeClr val="bg2">
                    <a:lumMod val="50000"/>
                  </a:schemeClr>
                </a:solidFill>
                <a:latin typeface="+mn-lt"/>
              </a:rPr>
              <a:t>It implicitly defines the analysis model</a:t>
            </a:r>
            <a:r>
              <a:rPr lang="en-US" sz="2400" dirty="0" smtClean="0">
                <a:solidFill>
                  <a:schemeClr val="bg2">
                    <a:lumMod val="50000"/>
                  </a:schemeClr>
                </a:solidFill>
                <a:latin typeface="+mn-lt"/>
              </a:rPr>
              <a:t>, so it must be chosen so that the analysis can be performed and validity conditions hold.</a:t>
            </a:r>
            <a:endParaRPr lang="en-US" sz="2400" dirty="0">
              <a:solidFill>
                <a:schemeClr val="bg2">
                  <a:lumMod val="50000"/>
                </a:schemeClr>
              </a:solidFill>
              <a:latin typeface="+mn-lt"/>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2"/>
          <p:cNvSpPr txBox="1">
            <a:spLocks noChangeArrowheads="1"/>
          </p:cNvSpPr>
          <p:nvPr/>
        </p:nvSpPr>
        <p:spPr bwMode="auto">
          <a:xfrm>
            <a:off x="742560" y="1371024"/>
            <a:ext cx="8420880" cy="4612805"/>
          </a:xfrm>
          <a:prstGeom prst="rect">
            <a:avLst/>
          </a:prstGeom>
          <a:noFill/>
          <a:ln w="9525">
            <a:noFill/>
            <a:round/>
            <a:headEnd/>
            <a:tailEnd/>
          </a:ln>
        </p:spPr>
        <p:txBody>
          <a:bodyPr lIns="95790" tIns="47895" rIns="95790" bIns="47895"/>
          <a:lstStyle/>
          <a:p>
            <a:pPr marL="346978" indent="-346978">
              <a:lnSpc>
                <a:spcPct val="150000"/>
              </a:lnSpc>
              <a:spcBef>
                <a:spcPts val="736"/>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800" dirty="0" smtClean="0">
                <a:solidFill>
                  <a:srgbClr val="993489"/>
                </a:solidFill>
                <a:latin typeface="+mn-lt"/>
              </a:rPr>
              <a:t>More common are:</a:t>
            </a:r>
          </a:p>
          <a:p>
            <a:pPr marL="346978" indent="-346978">
              <a:lnSpc>
                <a:spcPct val="150000"/>
              </a:lnSpc>
              <a:spcBef>
                <a:spcPts val="736"/>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smtClean="0">
                <a:solidFill>
                  <a:schemeClr val="bg2">
                    <a:lumMod val="50000"/>
                  </a:schemeClr>
                </a:solidFill>
                <a:latin typeface="+mn-lt"/>
              </a:rPr>
              <a:t>Completely </a:t>
            </a:r>
            <a:r>
              <a:rPr lang="en-US" sz="2400" dirty="0">
                <a:solidFill>
                  <a:schemeClr val="bg2">
                    <a:lumMod val="50000"/>
                  </a:schemeClr>
                </a:solidFill>
                <a:latin typeface="+mn-lt"/>
              </a:rPr>
              <a:t>randomized design (CRD)</a:t>
            </a:r>
          </a:p>
          <a:p>
            <a:pPr marL="346978" indent="-346978">
              <a:lnSpc>
                <a:spcPct val="150000"/>
              </a:lnSpc>
              <a:spcBef>
                <a:spcPts val="736"/>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a:solidFill>
                  <a:schemeClr val="bg2">
                    <a:lumMod val="50000"/>
                  </a:schemeClr>
                </a:solidFill>
                <a:latin typeface="+mn-lt"/>
              </a:rPr>
              <a:t>Randomized Block design (RBD)</a:t>
            </a:r>
          </a:p>
          <a:p>
            <a:pPr marL="346978" indent="-346978">
              <a:lnSpc>
                <a:spcPct val="150000"/>
              </a:lnSpc>
              <a:spcBef>
                <a:spcPts val="736"/>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a:solidFill>
                  <a:schemeClr val="bg2">
                    <a:lumMod val="50000"/>
                  </a:schemeClr>
                </a:solidFill>
                <a:latin typeface="+mn-lt"/>
              </a:rPr>
              <a:t>Factorial designs</a:t>
            </a:r>
          </a:p>
          <a:p>
            <a:pPr marL="346978" indent="-346978">
              <a:lnSpc>
                <a:spcPct val="150000"/>
              </a:lnSpc>
              <a:spcBef>
                <a:spcPts val="736"/>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a:solidFill>
                  <a:schemeClr val="bg2">
                    <a:lumMod val="50000"/>
                  </a:schemeClr>
                </a:solidFill>
                <a:latin typeface="+mn-lt"/>
              </a:rPr>
              <a:t>Nested designs</a:t>
            </a:r>
          </a:p>
          <a:p>
            <a:pPr marL="766369" lvl="1" indent="-291161">
              <a:lnSpc>
                <a:spcPct val="150000"/>
              </a:lnSpc>
              <a:spcBef>
                <a:spcPts val="618"/>
              </a:spcBef>
              <a:buFont typeface="Wingdings" pitchFamily="2" charset="2"/>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smtClean="0">
                <a:solidFill>
                  <a:schemeClr val="bg2">
                    <a:lumMod val="50000"/>
                  </a:schemeClr>
                </a:solidFill>
                <a:latin typeface="+mn-lt"/>
              </a:rPr>
              <a:t>Repeated measures designs</a:t>
            </a:r>
            <a:endParaRPr lang="en-US" sz="2400" dirty="0">
              <a:solidFill>
                <a:schemeClr val="bg2">
                  <a:lumMod val="50000"/>
                </a:schemeClr>
              </a:solidFill>
              <a:latin typeface="+mn-lt"/>
            </a:endParaRPr>
          </a:p>
        </p:txBody>
      </p:sp>
      <p:sp>
        <p:nvSpPr>
          <p:cNvPr id="4" name="5 Título"/>
          <p:cNvSpPr txBox="1">
            <a:spLocks/>
          </p:cNvSpPr>
          <p:nvPr/>
        </p:nvSpPr>
        <p:spPr>
          <a:xfrm>
            <a:off x="495300" y="274638"/>
            <a:ext cx="8915400" cy="11430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 typeface="+mj-lt"/>
              <a:buAutoNum type="arabicPeriod" startAt="3"/>
              <a:tabLst/>
              <a:defRPr/>
            </a:pPr>
            <a:r>
              <a:rPr kumimoji="0" lang="en-GB" sz="2400" b="1" i="0" u="none" strike="noStrike" kern="0" cap="none" spc="0" normalizeH="0" baseline="0" noProof="0" dirty="0" smtClean="0">
                <a:ln>
                  <a:noFill/>
                </a:ln>
                <a:solidFill>
                  <a:schemeClr val="bg1"/>
                </a:solidFill>
                <a:effectLst/>
                <a:uLnTx/>
                <a:uFillTx/>
                <a:latin typeface="+mj-lt"/>
                <a:ea typeface="ＭＳ Ｐゴシック" pitchFamily="34" charset="-128"/>
                <a:cs typeface="+mj-cs"/>
              </a:rPr>
              <a:t> Experimental Design types</a:t>
            </a:r>
            <a:endParaRPr kumimoji="0" lang="en-GB" sz="2400" b="1" i="0" u="none" strike="noStrike" kern="0" cap="none" spc="0" normalizeH="0" baseline="0" noProof="0" dirty="0">
              <a:ln>
                <a:noFill/>
              </a:ln>
              <a:solidFill>
                <a:schemeClr val="bg1"/>
              </a:solidFill>
              <a:effectLst/>
              <a:uLnTx/>
              <a:uFillTx/>
              <a:latin typeface="+mj-lt"/>
              <a:ea typeface="+mj-ea"/>
              <a:cs typeface="+mj-cs"/>
            </a:endParaRPr>
          </a:p>
        </p:txBody>
      </p:sp>
      <p:sp>
        <p:nvSpPr>
          <p:cNvPr id="5" name="5 Título"/>
          <p:cNvSpPr txBox="1">
            <a:spLocks/>
          </p:cNvSpPr>
          <p:nvPr/>
        </p:nvSpPr>
        <p:spPr>
          <a:xfrm>
            <a:off x="647700" y="427038"/>
            <a:ext cx="89154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spcAft>
                <a:spcPts val="0"/>
              </a:spcAft>
              <a:buFont typeface="+mj-lt"/>
              <a:buAutoNum type="arabicPeriod" startAt="3"/>
            </a:pPr>
            <a:r>
              <a:rPr lang="en-GB" sz="3200" dirty="0" smtClean="0">
                <a:ea typeface="ＭＳ Ｐゴシック" pitchFamily="34" charset="-128"/>
              </a:rPr>
              <a:t>Experimental Design types</a:t>
            </a:r>
            <a:endParaRPr lang="en-GB" sz="3200" dirty="0"/>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Completely Randomized Design (CRD)</a:t>
            </a:r>
            <a:endParaRPr lang="en-US" sz="2800" dirty="0">
              <a:solidFill>
                <a:schemeClr val="bg1"/>
              </a:solidFill>
              <a:latin typeface="+mn-lt"/>
            </a:endParaRPr>
          </a:p>
        </p:txBody>
      </p:sp>
      <p:sp>
        <p:nvSpPr>
          <p:cNvPr id="51203" name="Text Box 2"/>
          <p:cNvSpPr txBox="1">
            <a:spLocks noChangeArrowheads="1"/>
          </p:cNvSpPr>
          <p:nvPr/>
        </p:nvSpPr>
        <p:spPr bwMode="auto">
          <a:xfrm>
            <a:off x="673920" y="1293256"/>
            <a:ext cx="8860045" cy="4977163"/>
          </a:xfrm>
          <a:prstGeom prst="rect">
            <a:avLst/>
          </a:prstGeom>
          <a:noFill/>
          <a:ln w="9525">
            <a:noFill/>
            <a:round/>
            <a:headEnd/>
            <a:tailEnd/>
          </a:ln>
        </p:spPr>
        <p:txBody>
          <a:bodyPr lIns="95790" tIns="47895" rIns="95790" bIns="47895"/>
          <a:lstStyle/>
          <a:p>
            <a:pPr marL="346978" indent="-346978">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Simplest of all designs</a:t>
            </a:r>
          </a:p>
          <a:p>
            <a:pPr marL="346978" indent="-346978">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Uses randomization and replication.</a:t>
            </a:r>
          </a:p>
          <a:p>
            <a:pPr marL="693957" lvl="1" indent="-259479">
              <a:spcBef>
                <a:spcPts val="546"/>
              </a:spcBef>
              <a:buFont typeface="Wingdings" pitchFamily="2" charset="2"/>
              <a:buChar char="ü"/>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Treatments </a:t>
            </a:r>
            <a:r>
              <a:rPr lang="en-US" sz="2000" dirty="0" smtClean="0">
                <a:solidFill>
                  <a:schemeClr val="bg2">
                    <a:lumMod val="50000"/>
                  </a:schemeClr>
                </a:solidFill>
                <a:latin typeface="+mn-lt"/>
              </a:rPr>
              <a:t>are allocated </a:t>
            </a:r>
            <a:r>
              <a:rPr lang="en-US" sz="2000" dirty="0">
                <a:solidFill>
                  <a:schemeClr val="bg2">
                    <a:lumMod val="50000"/>
                  </a:schemeClr>
                </a:solidFill>
                <a:latin typeface="+mn-lt"/>
              </a:rPr>
              <a:t>at random to experimental units over the entire experimental </a:t>
            </a:r>
            <a:r>
              <a:rPr lang="en-US" sz="2000" dirty="0" smtClean="0">
                <a:solidFill>
                  <a:schemeClr val="bg2">
                    <a:lumMod val="50000"/>
                  </a:schemeClr>
                </a:solidFill>
                <a:latin typeface="+mn-lt"/>
              </a:rPr>
              <a:t>material</a:t>
            </a:r>
            <a:endParaRPr lang="en-US" sz="2000" dirty="0">
              <a:solidFill>
                <a:schemeClr val="bg2">
                  <a:lumMod val="50000"/>
                </a:schemeClr>
              </a:solidFill>
              <a:latin typeface="+mn-lt"/>
            </a:endParaRPr>
          </a:p>
          <a:p>
            <a:pPr marL="693957" lvl="1" indent="-259479">
              <a:spcBef>
                <a:spcPts val="546"/>
              </a:spcBef>
              <a:buFont typeface="Wingdings" pitchFamily="2" charset="2"/>
              <a:buChar char="ü"/>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Replicated </a:t>
            </a:r>
            <a:r>
              <a:rPr lang="en-US" sz="2000" b="1" i="1" dirty="0">
                <a:solidFill>
                  <a:schemeClr val="bg2">
                    <a:lumMod val="50000"/>
                  </a:schemeClr>
                </a:solidFill>
                <a:latin typeface="+mn-lt"/>
              </a:rPr>
              <a:t>r  </a:t>
            </a:r>
            <a:r>
              <a:rPr lang="en-US" sz="2000" dirty="0">
                <a:solidFill>
                  <a:schemeClr val="bg2">
                    <a:lumMod val="50000"/>
                  </a:schemeClr>
                </a:solidFill>
                <a:latin typeface="+mn-lt"/>
              </a:rPr>
              <a:t>times (defined by power </a:t>
            </a:r>
            <a:r>
              <a:rPr lang="en-US" sz="2000" dirty="0" smtClean="0">
                <a:solidFill>
                  <a:schemeClr val="bg2">
                    <a:lumMod val="50000"/>
                  </a:schemeClr>
                </a:solidFill>
                <a:latin typeface="+mn-lt"/>
              </a:rPr>
              <a:t>analysis </a:t>
            </a:r>
            <a:r>
              <a:rPr lang="en-US" sz="2000" dirty="0">
                <a:solidFill>
                  <a:schemeClr val="bg2">
                    <a:lumMod val="50000"/>
                  </a:schemeClr>
                </a:solidFill>
                <a:latin typeface="+mn-lt"/>
              </a:rPr>
              <a:t>&amp; cost).</a:t>
            </a:r>
          </a:p>
          <a:p>
            <a:pPr marL="346978" indent="-346978">
              <a:spcBef>
                <a:spcPts val="665"/>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Useful in laboratory settings where it is possible to have homogenous experimental material.</a:t>
            </a:r>
          </a:p>
          <a:p>
            <a:pPr marL="693957" lvl="1" indent="-259479">
              <a:spcBef>
                <a:spcPts val="570"/>
              </a:spcBef>
              <a:buFont typeface="Wingdings" pitchFamily="2" charset="2"/>
              <a:buChar char="ü"/>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Biological variability controlled keeping same cell line </a:t>
            </a:r>
          </a:p>
          <a:p>
            <a:pPr marL="693957" lvl="1" indent="-259479">
              <a:spcBef>
                <a:spcPts val="570"/>
              </a:spcBef>
              <a:buFont typeface="Wingdings" pitchFamily="2" charset="2"/>
              <a:buChar char="ü"/>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Technical variability reduced by using same technique and same machine for the entire samples at once.</a:t>
            </a:r>
          </a:p>
          <a:p>
            <a:pPr marL="346978" indent="-346978">
              <a:spcBef>
                <a:spcPts val="689"/>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Model:</a:t>
            </a:r>
          </a:p>
          <a:p>
            <a:pPr marL="346978" indent="-346978">
              <a:spcBef>
                <a:spcPts val="689"/>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000" dirty="0">
              <a:solidFill>
                <a:srgbClr val="000000"/>
              </a:solidFill>
              <a:latin typeface="+mn-lt"/>
            </a:endParaRPr>
          </a:p>
        </p:txBody>
      </p:sp>
      <p:sp>
        <p:nvSpPr>
          <p:cNvPr id="50179" name="Rectangle 3"/>
          <p:cNvSpPr>
            <a:spLocks noChangeArrowheads="1"/>
          </p:cNvSpPr>
          <p:nvPr/>
        </p:nvSpPr>
        <p:spPr bwMode="auto">
          <a:xfrm>
            <a:off x="1862640" y="5371764"/>
            <a:ext cx="4892350" cy="382204"/>
          </a:xfrm>
          <a:prstGeom prst="rect">
            <a:avLst/>
          </a:prstGeom>
          <a:noFill/>
          <a:ln w="9360">
            <a:solidFill>
              <a:srgbClr val="000000"/>
            </a:solidFill>
            <a:miter lim="800000"/>
            <a:headEnd/>
            <a:tailEnd/>
          </a:ln>
          <a:effectLst/>
        </p:spPr>
        <p:txBody>
          <a:bodyPr wrap="none" lIns="85527" tIns="44474" rIns="85527" bIns="44474">
            <a:spAutoFit/>
          </a:bodyPr>
          <a:lstStyle/>
          <a:p>
            <a:pPr>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defRPr/>
            </a:pPr>
            <a:r>
              <a:rPr lang="en-US" sz="1900" b="1" dirty="0">
                <a:solidFill>
                  <a:schemeClr val="bg2">
                    <a:lumMod val="50000"/>
                  </a:schemeClr>
                </a:solidFill>
                <a:latin typeface="+mn-lt"/>
              </a:rPr>
              <a:t>Response = constant + treatment effect + error</a:t>
            </a: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2"/>
          <p:cNvSpPr txBox="1">
            <a:spLocks noChangeArrowheads="1"/>
          </p:cNvSpPr>
          <p:nvPr/>
        </p:nvSpPr>
        <p:spPr bwMode="auto">
          <a:xfrm>
            <a:off x="742560" y="1680306"/>
            <a:ext cx="8420880" cy="4612805"/>
          </a:xfrm>
          <a:prstGeom prst="rect">
            <a:avLst/>
          </a:prstGeom>
          <a:noFill/>
          <a:ln w="9525">
            <a:noFill/>
            <a:round/>
            <a:headEnd/>
            <a:tailEnd/>
          </a:ln>
        </p:spPr>
        <p:txBody>
          <a:bodyPr lIns="95790" tIns="47895" rIns="95790" bIns="47895"/>
          <a:lstStyle/>
          <a:p>
            <a:pPr marL="346978" indent="-346978">
              <a:lnSpc>
                <a:spcPct val="90000"/>
              </a:lnSpc>
              <a:spcBef>
                <a:spcPts val="641"/>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Compare four techniques for correcting faulty genes</a:t>
            </a:r>
          </a:p>
          <a:p>
            <a:pPr marL="766369" lvl="1" indent="-291161">
              <a:lnSpc>
                <a:spcPct val="90000"/>
              </a:lnSpc>
              <a:spcBef>
                <a:spcPts val="523"/>
              </a:spcBef>
              <a:buFont typeface="Wingdings" pitchFamily="2" charset="2"/>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A: normal gene inserted in non-specific location</a:t>
            </a:r>
          </a:p>
          <a:p>
            <a:pPr marL="766369" lvl="1" indent="-291161">
              <a:lnSpc>
                <a:spcPct val="90000"/>
              </a:lnSpc>
              <a:spcBef>
                <a:spcPts val="523"/>
              </a:spcBef>
              <a:buFont typeface="Wingdings" pitchFamily="2" charset="2"/>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B: Modified gene swapped for a normal gene</a:t>
            </a:r>
          </a:p>
          <a:p>
            <a:pPr marL="766369" lvl="1" indent="-291161">
              <a:lnSpc>
                <a:spcPct val="90000"/>
              </a:lnSpc>
              <a:spcBef>
                <a:spcPts val="523"/>
              </a:spcBef>
              <a:buFont typeface="Wingdings" pitchFamily="2" charset="2"/>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C: Modified gene repaired through selective reverse mutation</a:t>
            </a:r>
          </a:p>
          <a:p>
            <a:pPr marL="766369" lvl="1" indent="-291161">
              <a:lnSpc>
                <a:spcPct val="90000"/>
              </a:lnSpc>
              <a:spcBef>
                <a:spcPts val="523"/>
              </a:spcBef>
              <a:buFont typeface="Wingdings" pitchFamily="2" charset="2"/>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D: Regulation of a particular gene altered</a:t>
            </a:r>
          </a:p>
          <a:p>
            <a:pPr marL="766369" lvl="1" indent="-291161">
              <a:lnSpc>
                <a:spcPct val="90000"/>
              </a:lnSpc>
              <a:spcBef>
                <a:spcPts val="523"/>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000" dirty="0" smtClean="0">
              <a:solidFill>
                <a:srgbClr val="0070C0"/>
              </a:solidFill>
              <a:latin typeface="+mn-lt"/>
            </a:endParaRPr>
          </a:p>
          <a:p>
            <a:pPr marL="346978" indent="-346978">
              <a:lnSpc>
                <a:spcPct val="90000"/>
              </a:lnSpc>
              <a:spcBef>
                <a:spcPts val="641"/>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20 independent individuals are selected</a:t>
            </a:r>
          </a:p>
          <a:p>
            <a:pPr marL="346978" indent="-346978">
              <a:lnSpc>
                <a:spcPct val="90000"/>
              </a:lnSpc>
              <a:spcBef>
                <a:spcPts val="641"/>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000" dirty="0" smtClean="0">
              <a:solidFill>
                <a:srgbClr val="0070C0"/>
              </a:solidFill>
              <a:latin typeface="+mn-lt"/>
            </a:endParaRPr>
          </a:p>
          <a:p>
            <a:pPr marL="346978" indent="-346978">
              <a:lnSpc>
                <a:spcPct val="90000"/>
              </a:lnSpc>
              <a:spcBef>
                <a:spcPts val="641"/>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Treatments are assigned at random</a:t>
            </a:r>
          </a:p>
          <a:p>
            <a:pPr marL="346978" indent="-346978">
              <a:lnSpc>
                <a:spcPct val="90000"/>
              </a:lnSpc>
              <a:spcBef>
                <a:spcPts val="641"/>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000" dirty="0" smtClean="0">
              <a:solidFill>
                <a:srgbClr val="0070C0"/>
              </a:solidFill>
              <a:latin typeface="+mn-lt"/>
            </a:endParaRPr>
          </a:p>
          <a:p>
            <a:pPr marL="346978" indent="-346978">
              <a:lnSpc>
                <a:spcPct val="90000"/>
              </a:lnSpc>
              <a:spcBef>
                <a:spcPts val="641"/>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Experiment is performed, gene expression is measured and data are analyzed using one-way ANOVA.</a:t>
            </a:r>
            <a:endParaRPr lang="en-US" sz="2000" dirty="0">
              <a:solidFill>
                <a:srgbClr val="0070C0"/>
              </a:solidFill>
              <a:latin typeface="+mn-lt"/>
            </a:endParaRPr>
          </a:p>
        </p:txBody>
      </p:sp>
      <p:sp>
        <p:nvSpPr>
          <p:cNvPr id="4"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Completely Randomized </a:t>
            </a:r>
            <a:r>
              <a:rPr lang="en-US" sz="2800" dirty="0">
                <a:solidFill>
                  <a:srgbClr val="C00000"/>
                </a:solidFill>
                <a:latin typeface="+mn-lt"/>
              </a:rPr>
              <a:t>Design (CRD)</a:t>
            </a:r>
          </a:p>
        </p:txBody>
      </p:sp>
      <p:sp>
        <p:nvSpPr>
          <p:cNvPr id="5" name="4 CuadroTexto"/>
          <p:cNvSpPr txBox="1"/>
          <p:nvPr/>
        </p:nvSpPr>
        <p:spPr>
          <a:xfrm>
            <a:off x="322729" y="1290918"/>
            <a:ext cx="5957047" cy="430887"/>
          </a:xfrm>
          <a:prstGeom prst="rect">
            <a:avLst/>
          </a:prstGeom>
          <a:noFill/>
        </p:spPr>
        <p:txBody>
          <a:bodyPr wrap="square" rtlCol="0">
            <a:spAutoFit/>
          </a:bodyPr>
          <a:lstStyle/>
          <a:p>
            <a:pPr algn="just"/>
            <a:r>
              <a:rPr lang="en-GB" sz="2200" dirty="0" smtClean="0">
                <a:solidFill>
                  <a:srgbClr val="0070C0"/>
                </a:solidFill>
                <a:latin typeface="+mn-lt"/>
              </a:rPr>
              <a:t>CRD Example. Gene therapy experiment:</a:t>
            </a: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Group 2"/>
          <p:cNvGraphicFramePr>
            <a:graphicFrameLocks noGrp="1"/>
          </p:cNvGraphicFramePr>
          <p:nvPr/>
        </p:nvGraphicFramePr>
        <p:xfrm>
          <a:off x="333015" y="1424107"/>
          <a:ext cx="4046640" cy="3353741"/>
        </p:xfrm>
        <a:graphic>
          <a:graphicData uri="http://schemas.openxmlformats.org/drawingml/2006/table">
            <a:tbl>
              <a:tblPr/>
              <a:tblGrid>
                <a:gridCol w="1425840"/>
                <a:gridCol w="870480"/>
                <a:gridCol w="394680"/>
                <a:gridCol w="478920"/>
                <a:gridCol w="482040"/>
                <a:gridCol w="394680"/>
              </a:tblGrid>
              <a:tr h="636361">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Suma de Response</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Subjects</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 </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 </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 </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 </a:t>
                      </a:r>
                    </a:p>
                  </a:txBody>
                  <a:tcPr marL="88441" marR="88441" marT="377076" marB="42456" anchor="b" horzOverflow="overflow">
                    <a:lnL>
                      <a:noFill/>
                    </a:lnL>
                    <a:lnR>
                      <a:noFill/>
                    </a:lnR>
                    <a:lnT>
                      <a:noFill/>
                    </a:lnT>
                    <a:lnB>
                      <a:noFill/>
                    </a:lnB>
                    <a:lnTlToBr>
                      <a:noFill/>
                    </a:lnTlToBr>
                    <a:lnBlToTr>
                      <a:noFill/>
                    </a:lnBlToTr>
                    <a:noFill/>
                  </a:tcPr>
                </a:tc>
              </a:tr>
              <a:tr h="527946">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TREAT</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1</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2</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3</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4</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5</a:t>
                      </a:r>
                    </a:p>
                  </a:txBody>
                  <a:tcPr marL="88441" marR="88441" marT="377076" marB="42456" anchor="b" horzOverflow="overflow">
                    <a:lnL>
                      <a:noFill/>
                    </a:lnL>
                    <a:lnR>
                      <a:noFill/>
                    </a:lnR>
                    <a:lnT>
                      <a:noFill/>
                    </a:lnT>
                    <a:lnB>
                      <a:noFill/>
                    </a:lnB>
                    <a:lnTlToBr>
                      <a:noFill/>
                    </a:lnTlToBr>
                    <a:lnBlToTr>
                      <a:noFill/>
                    </a:lnBlToTr>
                    <a:noFill/>
                  </a:tcPr>
                </a:tc>
              </a:tr>
              <a:tr h="527946">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A</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96</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99</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100</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104</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84</a:t>
                      </a:r>
                    </a:p>
                  </a:txBody>
                  <a:tcPr marL="88441" marR="88441" marT="377076" marB="42456" anchor="b" horzOverflow="overflow">
                    <a:lnL>
                      <a:noFill/>
                    </a:lnL>
                    <a:lnR>
                      <a:noFill/>
                    </a:lnR>
                    <a:lnT>
                      <a:noFill/>
                    </a:lnT>
                    <a:lnB>
                      <a:noFill/>
                    </a:lnB>
                    <a:lnTlToBr>
                      <a:noFill/>
                    </a:lnTlToBr>
                    <a:lnBlToTr>
                      <a:noFill/>
                    </a:lnBlToTr>
                    <a:noFill/>
                  </a:tcPr>
                </a:tc>
              </a:tr>
              <a:tr h="527946">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B</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91</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90</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75</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80</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90</a:t>
                      </a:r>
                    </a:p>
                  </a:txBody>
                  <a:tcPr marL="88441" marR="88441" marT="377076" marB="42456" anchor="b" horzOverflow="overflow">
                    <a:lnL>
                      <a:noFill/>
                    </a:lnL>
                    <a:lnR>
                      <a:noFill/>
                    </a:lnR>
                    <a:lnT>
                      <a:noFill/>
                    </a:lnT>
                    <a:lnB>
                      <a:noFill/>
                    </a:lnB>
                    <a:lnTlToBr>
                      <a:noFill/>
                    </a:lnTlToBr>
                    <a:lnBlToTr>
                      <a:noFill/>
                    </a:lnBlToTr>
                    <a:noFill/>
                  </a:tcPr>
                </a:tc>
              </a:tr>
              <a:tr h="527946">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C</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70</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90</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84</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76</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78</a:t>
                      </a:r>
                    </a:p>
                  </a:txBody>
                  <a:tcPr marL="88441" marR="88441" marT="377076" marB="42456" anchor="b" horzOverflow="overflow">
                    <a:lnL>
                      <a:noFill/>
                    </a:lnL>
                    <a:lnR>
                      <a:noFill/>
                    </a:lnR>
                    <a:lnT>
                      <a:noFill/>
                    </a:lnT>
                    <a:lnB>
                      <a:noFill/>
                    </a:lnB>
                    <a:lnTlToBr>
                      <a:noFill/>
                    </a:lnTlToBr>
                    <a:lnBlToTr>
                      <a:noFill/>
                    </a:lnBlToTr>
                    <a:noFill/>
                  </a:tcPr>
                </a:tc>
              </a:tr>
              <a:tr h="527946">
                <a:tc>
                  <a:txBody>
                    <a:bodyPr/>
                    <a:lstStyle/>
                    <a:p>
                      <a:pPr marL="0" marR="0" lvl="0" indent="0" algn="ct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D</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78</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87</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67</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smtClean="0">
                          <a:ln>
                            <a:noFill/>
                          </a:ln>
                          <a:solidFill>
                            <a:srgbClr val="0070C0"/>
                          </a:solidFill>
                          <a:effectLst/>
                          <a:latin typeface="Times New Roman" pitchFamily="16" charset="0"/>
                          <a:cs typeface="DejaVu Sans" pitchFamily="32" charset="0"/>
                        </a:rPr>
                        <a:t>66</a:t>
                      </a:r>
                    </a:p>
                  </a:txBody>
                  <a:tcPr marL="88441" marR="88441" marT="377076" marB="42456" anchor="b" horzOverflow="overflow">
                    <a:lnL>
                      <a:noFill/>
                    </a:lnL>
                    <a:lnR>
                      <a:noFill/>
                    </a:lnR>
                    <a:lnT>
                      <a:noFill/>
                    </a:lnT>
                    <a:lnB>
                      <a:noFill/>
                    </a:lnB>
                    <a:lnTlToBr>
                      <a:noFill/>
                    </a:lnTlToBr>
                    <a:lnBlToTr>
                      <a:noFill/>
                    </a:lnBlToTr>
                    <a:noFill/>
                  </a:tcPr>
                </a:tc>
                <a:tc>
                  <a:txBody>
                    <a:bodyPr/>
                    <a:lstStyle/>
                    <a:p>
                      <a:pPr marL="0" marR="0" lvl="0" indent="0" algn="r" defTabSz="449263" rtl="0" eaLnBrk="1" fontAlgn="base" latinLnBrk="0" hangingPunct="1">
                        <a:lnSpc>
                          <a:spcPct val="56000"/>
                        </a:lnSpc>
                        <a:spcBef>
                          <a:spcPct val="0"/>
                        </a:spcBef>
                        <a:spcAft>
                          <a:spcPct val="0"/>
                        </a:spcAft>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en-US" sz="1400" b="0" i="0" u="none" strike="noStrike" cap="none" normalizeH="0" baseline="0" dirty="0" smtClean="0">
                          <a:ln>
                            <a:noFill/>
                          </a:ln>
                          <a:solidFill>
                            <a:srgbClr val="0070C0"/>
                          </a:solidFill>
                          <a:effectLst/>
                          <a:latin typeface="Times New Roman" pitchFamily="16" charset="0"/>
                          <a:cs typeface="DejaVu Sans" pitchFamily="32" charset="0"/>
                        </a:rPr>
                        <a:t>76</a:t>
                      </a:r>
                    </a:p>
                  </a:txBody>
                  <a:tcPr marL="88441" marR="88441" marT="377076" marB="42456" anchor="b" horzOverflow="overflow">
                    <a:lnL>
                      <a:noFill/>
                    </a:lnL>
                    <a:lnR>
                      <a:noFill/>
                    </a:lnR>
                    <a:lnT>
                      <a:noFill/>
                    </a:lnT>
                    <a:lnB>
                      <a:noFill/>
                    </a:lnB>
                    <a:lnTlToBr>
                      <a:noFill/>
                    </a:lnTlToBr>
                    <a:lnBlToTr>
                      <a:noFill/>
                    </a:lnBlToTr>
                    <a:noFill/>
                  </a:tcPr>
                </a:tc>
              </a:tr>
            </a:tbl>
          </a:graphicData>
        </a:graphic>
      </p:graphicFrame>
      <p:sp>
        <p:nvSpPr>
          <p:cNvPr id="2090" name="Text Box 40"/>
          <p:cNvSpPr txBox="1">
            <a:spLocks noChangeArrowheads="1"/>
          </p:cNvSpPr>
          <p:nvPr/>
        </p:nvSpPr>
        <p:spPr bwMode="auto">
          <a:xfrm>
            <a:off x="1164849" y="5691297"/>
            <a:ext cx="2424559" cy="366816"/>
          </a:xfrm>
          <a:prstGeom prst="rect">
            <a:avLst/>
          </a:prstGeom>
          <a:noFill/>
          <a:ln w="9525">
            <a:noFill/>
            <a:round/>
            <a:headEnd/>
            <a:tailEnd/>
          </a:ln>
        </p:spPr>
        <p:txBody>
          <a:bodyPr wrap="none" lIns="85527" tIns="44474" rIns="85527" bIns="44474">
            <a:spAutoFit/>
          </a:bodyPr>
          <a:lstStyle/>
          <a:p>
            <a:pPr>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s-ES" dirty="0" err="1">
                <a:solidFill>
                  <a:srgbClr val="000000"/>
                </a:solidFill>
                <a:latin typeface="+mn-lt"/>
              </a:rPr>
              <a:t>Human</a:t>
            </a:r>
            <a:r>
              <a:rPr lang="es-ES" dirty="0">
                <a:solidFill>
                  <a:srgbClr val="000000"/>
                </a:solidFill>
                <a:latin typeface="+mn-lt"/>
              </a:rPr>
              <a:t> </a:t>
            </a:r>
            <a:r>
              <a:rPr lang="es-ES" dirty="0" err="1">
                <a:solidFill>
                  <a:srgbClr val="000000"/>
                </a:solidFill>
                <a:latin typeface="+mn-lt"/>
              </a:rPr>
              <a:t>readable</a:t>
            </a:r>
            <a:r>
              <a:rPr lang="es-ES" dirty="0">
                <a:solidFill>
                  <a:srgbClr val="000000"/>
                </a:solidFill>
                <a:latin typeface="+mn-lt"/>
              </a:rPr>
              <a:t> </a:t>
            </a:r>
            <a:r>
              <a:rPr lang="es-ES" dirty="0" err="1">
                <a:solidFill>
                  <a:srgbClr val="000000"/>
                </a:solidFill>
                <a:latin typeface="+mn-lt"/>
              </a:rPr>
              <a:t>format</a:t>
            </a:r>
            <a:endParaRPr lang="es-ES" dirty="0">
              <a:solidFill>
                <a:srgbClr val="000000"/>
              </a:solidFill>
              <a:latin typeface="+mn-lt"/>
            </a:endParaRPr>
          </a:p>
        </p:txBody>
      </p:sp>
      <p:sp>
        <p:nvSpPr>
          <p:cNvPr id="2091" name="Text Box 41"/>
          <p:cNvSpPr txBox="1">
            <a:spLocks noChangeArrowheads="1"/>
          </p:cNvSpPr>
          <p:nvPr/>
        </p:nvSpPr>
        <p:spPr bwMode="auto">
          <a:xfrm>
            <a:off x="4528836" y="6228960"/>
            <a:ext cx="2972786" cy="366816"/>
          </a:xfrm>
          <a:prstGeom prst="rect">
            <a:avLst/>
          </a:prstGeom>
          <a:noFill/>
          <a:ln w="9525">
            <a:noFill/>
            <a:round/>
            <a:headEnd/>
            <a:tailEnd/>
          </a:ln>
        </p:spPr>
        <p:txBody>
          <a:bodyPr wrap="none" lIns="85527" tIns="44474" rIns="85527" bIns="44474">
            <a:spAutoFit/>
          </a:bodyPr>
          <a:lstStyle/>
          <a:p>
            <a:pPr>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s-ES" dirty="0" err="1">
                <a:solidFill>
                  <a:srgbClr val="000000"/>
                </a:solidFill>
                <a:latin typeface="+mn-lt"/>
              </a:rPr>
              <a:t>Computer</a:t>
            </a:r>
            <a:r>
              <a:rPr lang="es-ES" dirty="0">
                <a:solidFill>
                  <a:srgbClr val="000000"/>
                </a:solidFill>
                <a:latin typeface="+mn-lt"/>
              </a:rPr>
              <a:t> </a:t>
            </a:r>
            <a:r>
              <a:rPr lang="es-ES" dirty="0" err="1">
                <a:solidFill>
                  <a:srgbClr val="000000"/>
                </a:solidFill>
                <a:latin typeface="+mn-lt"/>
              </a:rPr>
              <a:t>processable</a:t>
            </a:r>
            <a:r>
              <a:rPr lang="es-ES" dirty="0">
                <a:solidFill>
                  <a:srgbClr val="000000"/>
                </a:solidFill>
                <a:latin typeface="+mn-lt"/>
              </a:rPr>
              <a:t> </a:t>
            </a:r>
            <a:r>
              <a:rPr lang="es-ES" dirty="0" err="1">
                <a:solidFill>
                  <a:srgbClr val="000000"/>
                </a:solidFill>
                <a:latin typeface="+mn-lt"/>
              </a:rPr>
              <a:t>format</a:t>
            </a:r>
            <a:endParaRPr lang="es-ES" dirty="0">
              <a:solidFill>
                <a:srgbClr val="000000"/>
              </a:solidFill>
              <a:latin typeface="+mn-lt"/>
            </a:endParaRPr>
          </a:p>
        </p:txBody>
      </p:sp>
      <p:sp>
        <p:nvSpPr>
          <p:cNvPr id="2092" name="Line 42"/>
          <p:cNvSpPr>
            <a:spLocks noChangeShapeType="1"/>
          </p:cNvSpPr>
          <p:nvPr/>
        </p:nvSpPr>
        <p:spPr bwMode="auto">
          <a:xfrm flipV="1">
            <a:off x="5631064" y="5177116"/>
            <a:ext cx="1307619" cy="928389"/>
          </a:xfrm>
          <a:prstGeom prst="line">
            <a:avLst/>
          </a:prstGeom>
          <a:noFill/>
          <a:ln w="9360">
            <a:solidFill>
              <a:srgbClr val="000000"/>
            </a:solidFill>
            <a:miter lim="800000"/>
            <a:headEnd/>
            <a:tailEnd type="triangle" w="med" len="med"/>
          </a:ln>
        </p:spPr>
        <p:txBody>
          <a:bodyPr lIns="86895" tIns="43448" rIns="86895" bIns="43448"/>
          <a:lstStyle/>
          <a:p>
            <a:endParaRPr lang="ca-ES"/>
          </a:p>
        </p:txBody>
      </p:sp>
      <p:sp>
        <p:nvSpPr>
          <p:cNvPr id="2093" name="Line 43"/>
          <p:cNvSpPr>
            <a:spLocks noChangeShapeType="1"/>
          </p:cNvSpPr>
          <p:nvPr/>
        </p:nvSpPr>
        <p:spPr bwMode="auto">
          <a:xfrm flipV="1">
            <a:off x="2461269" y="5042647"/>
            <a:ext cx="12989" cy="620632"/>
          </a:xfrm>
          <a:prstGeom prst="line">
            <a:avLst/>
          </a:prstGeom>
          <a:noFill/>
          <a:ln w="9360">
            <a:solidFill>
              <a:srgbClr val="000000"/>
            </a:solidFill>
            <a:miter lim="800000"/>
            <a:headEnd/>
            <a:tailEnd type="triangle" w="med" len="med"/>
          </a:ln>
        </p:spPr>
        <p:txBody>
          <a:bodyPr lIns="86895" tIns="43448" rIns="86895" bIns="43448"/>
          <a:lstStyle/>
          <a:p>
            <a:endParaRPr lang="ca-ES"/>
          </a:p>
        </p:txBody>
      </p:sp>
      <p:sp>
        <p:nvSpPr>
          <p:cNvPr id="9"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Completely Randomized </a:t>
            </a:r>
            <a:r>
              <a:rPr lang="en-US" sz="2800" dirty="0">
                <a:solidFill>
                  <a:srgbClr val="C00000"/>
                </a:solidFill>
                <a:latin typeface="+mn-lt"/>
              </a:rPr>
              <a:t>Design (CRD)</a:t>
            </a:r>
          </a:p>
        </p:txBody>
      </p:sp>
      <p:graphicFrame>
        <p:nvGraphicFramePr>
          <p:cNvPr id="11" name="10 Tabla"/>
          <p:cNvGraphicFramePr>
            <a:graphicFrameLocks noGrp="1"/>
          </p:cNvGraphicFramePr>
          <p:nvPr/>
        </p:nvGraphicFramePr>
        <p:xfrm>
          <a:off x="6611469" y="1360987"/>
          <a:ext cx="2680448" cy="4811205"/>
        </p:xfrm>
        <a:graphic>
          <a:graphicData uri="http://schemas.openxmlformats.org/drawingml/2006/table">
            <a:tbl>
              <a:tblPr/>
              <a:tblGrid>
                <a:gridCol w="1340224"/>
                <a:gridCol w="1340224"/>
              </a:tblGrid>
              <a:tr h="229105">
                <a:tc>
                  <a:txBody>
                    <a:bodyPr/>
                    <a:lstStyle/>
                    <a:p>
                      <a:pPr algn="ctr" fontAlgn="b"/>
                      <a:r>
                        <a:rPr lang="es-ES" sz="1400" b="0" i="0" u="none" strike="noStrike" dirty="0">
                          <a:solidFill>
                            <a:srgbClr val="0070C0"/>
                          </a:solidFill>
                          <a:latin typeface="Calibri"/>
                        </a:rPr>
                        <a:t>TREAT</a:t>
                      </a:r>
                    </a:p>
                  </a:txBody>
                  <a:tcPr marL="9525" marR="9525" marT="9525" marB="0" anchor="b">
                    <a:lnL>
                      <a:noFill/>
                    </a:lnL>
                    <a:lnR>
                      <a:noFill/>
                    </a:lnR>
                    <a:lnT>
                      <a:noFill/>
                    </a:lnT>
                    <a:lnB>
                      <a:noFill/>
                    </a:lnB>
                  </a:tcPr>
                </a:tc>
                <a:tc>
                  <a:txBody>
                    <a:bodyPr/>
                    <a:lstStyle/>
                    <a:p>
                      <a:pPr algn="ctr" fontAlgn="b"/>
                      <a:r>
                        <a:rPr lang="es-ES" sz="1400" b="0" i="0" u="none" strike="noStrike">
                          <a:solidFill>
                            <a:srgbClr val="0070C0"/>
                          </a:solidFill>
                          <a:latin typeface="Calibri"/>
                        </a:rPr>
                        <a:t>RESPONSE</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A</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96</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A</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99</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A</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100</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A</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104</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A</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84</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B</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91</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B</a:t>
                      </a:r>
                    </a:p>
                  </a:txBody>
                  <a:tcPr marL="9525" marR="9525" marT="9525" marB="0" anchor="b">
                    <a:lnL>
                      <a:noFill/>
                    </a:lnL>
                    <a:lnR>
                      <a:noFill/>
                    </a:lnR>
                    <a:lnT>
                      <a:noFill/>
                    </a:lnT>
                    <a:lnB>
                      <a:noFill/>
                    </a:lnB>
                  </a:tcPr>
                </a:tc>
                <a:tc>
                  <a:txBody>
                    <a:bodyPr/>
                    <a:lstStyle/>
                    <a:p>
                      <a:pPr algn="ctr" fontAlgn="b"/>
                      <a:r>
                        <a:rPr lang="es-ES" sz="1400" b="0" i="0" u="none" strike="noStrike">
                          <a:solidFill>
                            <a:srgbClr val="0070C0"/>
                          </a:solidFill>
                          <a:latin typeface="Calibri"/>
                        </a:rPr>
                        <a:t>90</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B</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75</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B</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80</a:t>
                      </a:r>
                    </a:p>
                  </a:txBody>
                  <a:tcPr marL="9525" marR="9525" marT="9525" marB="0" anchor="b">
                    <a:lnL>
                      <a:noFill/>
                    </a:lnL>
                    <a:lnR>
                      <a:noFill/>
                    </a:lnR>
                    <a:lnT>
                      <a:noFill/>
                    </a:lnT>
                    <a:lnB>
                      <a:noFill/>
                    </a:lnB>
                  </a:tcPr>
                </a:tc>
              </a:tr>
              <a:tr h="229105">
                <a:tc>
                  <a:txBody>
                    <a:bodyPr/>
                    <a:lstStyle/>
                    <a:p>
                      <a:pPr algn="ctr" fontAlgn="b"/>
                      <a:r>
                        <a:rPr lang="es-ES" sz="1400" b="0" i="0" u="none" strike="noStrike" dirty="0">
                          <a:solidFill>
                            <a:srgbClr val="0070C0"/>
                          </a:solidFill>
                          <a:latin typeface="Calibri"/>
                        </a:rPr>
                        <a:t>B</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90</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C</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70</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C</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90</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C</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84</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C</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76</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C</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78</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D</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78</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D</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87</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D</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67</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D</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66</a:t>
                      </a:r>
                    </a:p>
                  </a:txBody>
                  <a:tcPr marL="9525" marR="9525" marT="9525" marB="0" anchor="b">
                    <a:lnL>
                      <a:noFill/>
                    </a:lnL>
                    <a:lnR>
                      <a:noFill/>
                    </a:lnR>
                    <a:lnT>
                      <a:noFill/>
                    </a:lnT>
                    <a:lnB>
                      <a:noFill/>
                    </a:lnB>
                  </a:tcPr>
                </a:tc>
              </a:tr>
              <a:tr h="229105">
                <a:tc>
                  <a:txBody>
                    <a:bodyPr/>
                    <a:lstStyle/>
                    <a:p>
                      <a:pPr algn="ctr" fontAlgn="b"/>
                      <a:r>
                        <a:rPr lang="es-ES" sz="1400" b="0" i="0" u="none" strike="noStrike">
                          <a:solidFill>
                            <a:srgbClr val="0070C0"/>
                          </a:solidFill>
                          <a:latin typeface="Calibri"/>
                        </a:rPr>
                        <a:t>D</a:t>
                      </a:r>
                    </a:p>
                  </a:txBody>
                  <a:tcPr marL="9525" marR="9525" marT="9525" marB="0" anchor="b">
                    <a:lnL>
                      <a:noFill/>
                    </a:lnL>
                    <a:lnR>
                      <a:noFill/>
                    </a:lnR>
                    <a:lnT>
                      <a:noFill/>
                    </a:lnT>
                    <a:lnB>
                      <a:noFill/>
                    </a:lnB>
                  </a:tcPr>
                </a:tc>
                <a:tc>
                  <a:txBody>
                    <a:bodyPr/>
                    <a:lstStyle/>
                    <a:p>
                      <a:pPr algn="ctr" fontAlgn="b"/>
                      <a:r>
                        <a:rPr lang="es-ES" sz="1400" b="0" i="0" u="none" strike="noStrike" dirty="0">
                          <a:solidFill>
                            <a:srgbClr val="0070C0"/>
                          </a:solidFill>
                          <a:latin typeface="Calibri"/>
                        </a:rPr>
                        <a:t>76</a:t>
                      </a:r>
                    </a:p>
                  </a:txBody>
                  <a:tcPr marL="9525" marR="9525" marT="9525" marB="0" anchor="b">
                    <a:lnL>
                      <a:noFill/>
                    </a:lnL>
                    <a:lnR>
                      <a:noFill/>
                    </a:lnR>
                    <a:lnT>
                      <a:noFill/>
                    </a:lnT>
                    <a:lnB>
                      <a:noFill/>
                    </a:lnB>
                  </a:tcPr>
                </a:tc>
              </a:tr>
            </a:tbl>
          </a:graphicData>
        </a:graphic>
      </p:graphicFrame>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2"/>
          <p:cNvSpPr txBox="1">
            <a:spLocks noChangeArrowheads="1"/>
          </p:cNvSpPr>
          <p:nvPr/>
        </p:nvSpPr>
        <p:spPr bwMode="auto">
          <a:xfrm>
            <a:off x="742560" y="1371024"/>
            <a:ext cx="9141600" cy="4062667"/>
          </a:xfrm>
          <a:prstGeom prst="rect">
            <a:avLst/>
          </a:prstGeom>
          <a:noFill/>
          <a:ln w="9525">
            <a:noFill/>
            <a:round/>
            <a:headEnd/>
            <a:tailEnd/>
          </a:ln>
        </p:spPr>
        <p:txBody>
          <a:bodyPr lIns="95790" tIns="47895" rIns="95790" bIns="47895"/>
          <a:lstStyle/>
          <a:p>
            <a:pPr marL="346978" indent="-346978">
              <a:spcBef>
                <a:spcPts val="760"/>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a:solidFill>
                  <a:schemeClr val="bg2">
                    <a:lumMod val="50000"/>
                  </a:schemeClr>
                </a:solidFill>
                <a:latin typeface="+mn-lt"/>
              </a:rPr>
              <a:t>CRD becomes less informative if the experimental material is not homogenous. </a:t>
            </a:r>
            <a:endParaRPr lang="en-US" sz="2400" dirty="0" smtClean="0">
              <a:solidFill>
                <a:schemeClr val="bg2">
                  <a:lumMod val="50000"/>
                </a:schemeClr>
              </a:solidFill>
              <a:latin typeface="+mn-lt"/>
            </a:endParaRPr>
          </a:p>
          <a:p>
            <a:pPr marL="346978" indent="-346978">
              <a:spcBef>
                <a:spcPts val="760"/>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400" dirty="0">
              <a:solidFill>
                <a:schemeClr val="bg2">
                  <a:lumMod val="50000"/>
                </a:schemeClr>
              </a:solidFill>
              <a:latin typeface="+mn-lt"/>
            </a:endParaRPr>
          </a:p>
          <a:p>
            <a:pPr marL="346978" indent="-346978">
              <a:spcBef>
                <a:spcPts val="760"/>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a:solidFill>
                  <a:schemeClr val="bg2">
                    <a:lumMod val="50000"/>
                  </a:schemeClr>
                </a:solidFill>
                <a:latin typeface="+mn-lt"/>
              </a:rPr>
              <a:t>Blocking may be used to divide the whole experimental material into homogeneous strata or sub-groups known as  blocks. </a:t>
            </a:r>
            <a:endParaRPr lang="en-US" sz="2400" dirty="0" smtClean="0">
              <a:solidFill>
                <a:schemeClr val="bg2">
                  <a:lumMod val="50000"/>
                </a:schemeClr>
              </a:solidFill>
              <a:latin typeface="+mn-lt"/>
            </a:endParaRPr>
          </a:p>
          <a:p>
            <a:pPr marL="346978" indent="-346978">
              <a:spcBef>
                <a:spcPts val="760"/>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400" dirty="0">
              <a:solidFill>
                <a:schemeClr val="bg2">
                  <a:lumMod val="50000"/>
                </a:schemeClr>
              </a:solidFill>
              <a:latin typeface="+mn-lt"/>
            </a:endParaRPr>
          </a:p>
          <a:p>
            <a:pPr marL="346978" indent="-346978">
              <a:spcBef>
                <a:spcPts val="760"/>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a:solidFill>
                  <a:schemeClr val="bg2">
                    <a:lumMod val="50000"/>
                  </a:schemeClr>
                </a:solidFill>
                <a:latin typeface="+mn-lt"/>
              </a:rPr>
              <a:t>After blocking, if the treatments are applied to experimental  units randomly, the design is called </a:t>
            </a:r>
            <a:r>
              <a:rPr lang="en-US" sz="2400" i="1" dirty="0">
                <a:solidFill>
                  <a:schemeClr val="bg2">
                    <a:lumMod val="50000"/>
                  </a:schemeClr>
                </a:solidFill>
                <a:latin typeface="+mn-lt"/>
              </a:rPr>
              <a:t>Randomized Block Design</a:t>
            </a:r>
            <a:r>
              <a:rPr lang="en-US" sz="2400" dirty="0">
                <a:solidFill>
                  <a:schemeClr val="bg2">
                    <a:lumMod val="50000"/>
                  </a:schemeClr>
                </a:solidFill>
                <a:latin typeface="+mn-lt"/>
              </a:rPr>
              <a:t> (</a:t>
            </a:r>
            <a:r>
              <a:rPr lang="en-US" sz="2400" i="1" dirty="0">
                <a:solidFill>
                  <a:schemeClr val="bg2">
                    <a:lumMod val="50000"/>
                  </a:schemeClr>
                </a:solidFill>
                <a:latin typeface="+mn-lt"/>
              </a:rPr>
              <a:t>RBD</a:t>
            </a:r>
            <a:r>
              <a:rPr lang="en-US" sz="2400" dirty="0" smtClean="0">
                <a:solidFill>
                  <a:schemeClr val="bg2">
                    <a:lumMod val="50000"/>
                  </a:schemeClr>
                </a:solidFill>
                <a:latin typeface="+mn-lt"/>
              </a:rPr>
              <a:t>).</a:t>
            </a:r>
          </a:p>
          <a:p>
            <a:pPr marL="346978" indent="-346978">
              <a:spcBef>
                <a:spcPts val="760"/>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400" dirty="0" smtClean="0">
              <a:solidFill>
                <a:schemeClr val="bg2">
                  <a:lumMod val="50000"/>
                </a:schemeClr>
              </a:solidFill>
              <a:latin typeface="+mn-lt"/>
            </a:endParaRPr>
          </a:p>
          <a:p>
            <a:pPr marL="346978" indent="-346978">
              <a:spcBef>
                <a:spcPts val="760"/>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smtClean="0">
                <a:solidFill>
                  <a:schemeClr val="bg2">
                    <a:lumMod val="50000"/>
                  </a:schemeClr>
                </a:solidFill>
                <a:latin typeface="+mn-lt"/>
              </a:rPr>
              <a:t>Model:</a:t>
            </a:r>
            <a:endParaRPr lang="en-US" sz="2400" dirty="0">
              <a:solidFill>
                <a:schemeClr val="bg2">
                  <a:lumMod val="50000"/>
                </a:schemeClr>
              </a:solidFill>
              <a:latin typeface="+mn-lt"/>
            </a:endParaRPr>
          </a:p>
        </p:txBody>
      </p:sp>
      <p:sp>
        <p:nvSpPr>
          <p:cNvPr id="2" name="Rectangle 3"/>
          <p:cNvSpPr>
            <a:spLocks noChangeArrowheads="1"/>
          </p:cNvSpPr>
          <p:nvPr/>
        </p:nvSpPr>
        <p:spPr bwMode="auto">
          <a:xfrm>
            <a:off x="1994139" y="5854486"/>
            <a:ext cx="6297799" cy="397593"/>
          </a:xfrm>
          <a:prstGeom prst="rect">
            <a:avLst/>
          </a:prstGeom>
          <a:noFill/>
          <a:ln w="9360">
            <a:solidFill>
              <a:srgbClr val="000000"/>
            </a:solidFill>
            <a:miter lim="800000"/>
            <a:headEnd/>
            <a:tailEnd/>
          </a:ln>
          <a:effectLst/>
        </p:spPr>
        <p:txBody>
          <a:bodyPr wrap="none" lIns="85527" tIns="44474" rIns="85527" bIns="44474">
            <a:spAutoFit/>
          </a:bodyPr>
          <a:lstStyle/>
          <a:p>
            <a:pPr>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defRPr/>
            </a:pPr>
            <a:r>
              <a:rPr lang="en-US" sz="2000" b="1" dirty="0">
                <a:solidFill>
                  <a:schemeClr val="bg2">
                    <a:lumMod val="50000"/>
                  </a:schemeClr>
                </a:solidFill>
                <a:latin typeface="+mn-lt"/>
              </a:rPr>
              <a:t>Response = mean + treatment effect + block effect + error</a:t>
            </a:r>
          </a:p>
        </p:txBody>
      </p:sp>
      <p:sp>
        <p:nvSpPr>
          <p:cNvPr id="5"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2"/>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Randomized Block Design (RBD</a:t>
            </a:r>
            <a:r>
              <a:rPr lang="en-US" sz="2800" dirty="0">
                <a:solidFill>
                  <a:srgbClr val="C00000"/>
                </a:solidFill>
                <a:latin typeface="+mn-lt"/>
              </a:rPr>
              <a:t>)</a:t>
            </a: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1"/>
          <p:cNvSpPr txBox="1">
            <a:spLocks noChangeArrowheads="1"/>
          </p:cNvSpPr>
          <p:nvPr/>
        </p:nvSpPr>
        <p:spPr bwMode="auto">
          <a:xfrm>
            <a:off x="486544" y="994027"/>
            <a:ext cx="8200256" cy="976423"/>
          </a:xfrm>
          <a:prstGeom prst="rect">
            <a:avLst/>
          </a:prstGeom>
          <a:noFill/>
          <a:ln w="9525">
            <a:noFill/>
            <a:round/>
            <a:headEnd/>
            <a:tailEnd/>
          </a:ln>
        </p:spPr>
        <p:txBody>
          <a:bodyPr lIns="95790" tIns="47895" rIns="95790" bIns="47895" anchor="ctr"/>
          <a:lstStyle/>
          <a:p>
            <a:pPr>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400" smtClean="0">
                <a:solidFill>
                  <a:srgbClr val="0070C0"/>
                </a:solidFill>
                <a:latin typeface="+mn-lt"/>
              </a:rPr>
              <a:t>RBD example: Regenerative treatment</a:t>
            </a:r>
            <a:endParaRPr lang="en-US" sz="2400">
              <a:solidFill>
                <a:srgbClr val="0070C0"/>
              </a:solidFill>
              <a:latin typeface="+mn-lt"/>
            </a:endParaRPr>
          </a:p>
        </p:txBody>
      </p:sp>
      <p:sp>
        <p:nvSpPr>
          <p:cNvPr id="54275" name="Text Box 2"/>
          <p:cNvSpPr txBox="1">
            <a:spLocks noChangeArrowheads="1"/>
          </p:cNvSpPr>
          <p:nvPr/>
        </p:nvSpPr>
        <p:spPr bwMode="auto">
          <a:xfrm>
            <a:off x="688772" y="1949248"/>
            <a:ext cx="8420880" cy="4612805"/>
          </a:xfrm>
          <a:prstGeom prst="rect">
            <a:avLst/>
          </a:prstGeom>
          <a:noFill/>
          <a:ln w="9525">
            <a:noFill/>
            <a:round/>
            <a:headEnd/>
            <a:tailEnd/>
          </a:ln>
        </p:spPr>
        <p:txBody>
          <a:bodyPr lIns="95790" tIns="47895" rIns="95790" bIns="47895"/>
          <a:lstStyle/>
          <a:p>
            <a:pPr marL="346978" indent="-346978">
              <a:spcBef>
                <a:spcPts val="736"/>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After exposure to a toxic, cells can be treated by different substances that accelerate regeneration. </a:t>
            </a:r>
          </a:p>
          <a:p>
            <a:pPr marL="346978" indent="-346978">
              <a:spcBef>
                <a:spcPts val="736"/>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A study wishes to compare six such growth factors (5 are treatments and 1 is a control).</a:t>
            </a:r>
          </a:p>
          <a:p>
            <a:pPr marL="346978" indent="-346978">
              <a:spcBef>
                <a:spcPts val="736"/>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A confusion has caused that there is not enough culture medium to grow all treatments with replicates. Instead there are 4 culture mediums available.</a:t>
            </a:r>
          </a:p>
          <a:p>
            <a:pPr marL="346978" indent="-346978">
              <a:spcBef>
                <a:spcPts val="736"/>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What can be done?: </a:t>
            </a:r>
            <a:r>
              <a:rPr lang="en-US" sz="2000" b="1" i="1" dirty="0" smtClean="0">
                <a:solidFill>
                  <a:srgbClr val="0070C0"/>
                </a:solidFill>
                <a:latin typeface="+mn-lt"/>
              </a:rPr>
              <a:t>Block by culture medium type</a:t>
            </a:r>
            <a:r>
              <a:rPr lang="en-US" sz="2000" i="1" dirty="0" smtClean="0">
                <a:solidFill>
                  <a:srgbClr val="0070C0"/>
                </a:solidFill>
                <a:latin typeface="+mn-lt"/>
              </a:rPr>
              <a:t> </a:t>
            </a:r>
          </a:p>
          <a:p>
            <a:pPr marL="766369" lvl="1" indent="-291161">
              <a:spcBef>
                <a:spcPts val="618"/>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Prepare 4 groups of 6 plates, each group of one culture type</a:t>
            </a:r>
          </a:p>
          <a:p>
            <a:pPr marL="766369" lvl="1" indent="-291161">
              <a:spcBef>
                <a:spcPts val="618"/>
              </a:spcBef>
              <a:buFont typeface="Arial"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In each group : randomly assign a different treatment to each one of the six plates.</a:t>
            </a:r>
          </a:p>
          <a:p>
            <a:pPr marL="766369" lvl="1" indent="-291161">
              <a:spcBef>
                <a:spcPts val="618"/>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s-ES" sz="1900" dirty="0">
              <a:solidFill>
                <a:srgbClr val="0070C0"/>
              </a:solidFill>
            </a:endParaRPr>
          </a:p>
        </p:txBody>
      </p:sp>
      <p:sp>
        <p:nvSpPr>
          <p:cNvPr id="4"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2"/>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Randomized Block Design (RBD</a:t>
            </a:r>
            <a:r>
              <a:rPr lang="en-US" sz="2800" dirty="0">
                <a:solidFill>
                  <a:srgbClr val="C00000"/>
                </a:solidFill>
                <a:latin typeface="+mn-lt"/>
              </a:rPr>
              <a:t>)</a:t>
            </a: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6 Tabla"/>
          <p:cNvGraphicFramePr>
            <a:graphicFrameLocks noGrp="1"/>
          </p:cNvGraphicFramePr>
          <p:nvPr/>
        </p:nvGraphicFramePr>
        <p:xfrm>
          <a:off x="291352" y="2061353"/>
          <a:ext cx="5154705" cy="2429968"/>
        </p:xfrm>
        <a:graphic>
          <a:graphicData uri="http://schemas.openxmlformats.org/drawingml/2006/table">
            <a:tbl>
              <a:tblPr/>
              <a:tblGrid>
                <a:gridCol w="1030941"/>
                <a:gridCol w="1030941"/>
                <a:gridCol w="1030941"/>
                <a:gridCol w="1030941"/>
                <a:gridCol w="1030941"/>
              </a:tblGrid>
              <a:tr h="303746">
                <a:tc>
                  <a:txBody>
                    <a:bodyPr/>
                    <a:lstStyle/>
                    <a:p>
                      <a:pPr algn="l" fontAlgn="b"/>
                      <a:endParaRPr lang="es-ES" sz="1600" b="0" i="0" u="none" strike="noStrike" dirty="0">
                        <a:solidFill>
                          <a:srgbClr val="000000"/>
                        </a:solidFill>
                        <a:latin typeface="Calibri"/>
                      </a:endParaRPr>
                    </a:p>
                  </a:txBody>
                  <a:tcPr marL="9525" marR="9525" marT="9525" marB="0" anchor="b">
                    <a:lnL>
                      <a:noFill/>
                    </a:lnL>
                    <a:lnR>
                      <a:noFill/>
                    </a:lnR>
                    <a:lnT>
                      <a:noFill/>
                    </a:lnT>
                    <a:lnB>
                      <a:noFill/>
                    </a:lnB>
                  </a:tcPr>
                </a:tc>
                <a:tc gridSpan="4">
                  <a:txBody>
                    <a:bodyPr/>
                    <a:lstStyle/>
                    <a:p>
                      <a:pPr algn="ctr" fontAlgn="b"/>
                      <a:r>
                        <a:rPr lang="es-ES" sz="1600" b="0" i="0" u="none" strike="noStrike">
                          <a:solidFill>
                            <a:srgbClr val="0070C0"/>
                          </a:solidFill>
                          <a:latin typeface="Calibri"/>
                        </a:rPr>
                        <a:t>Culture Medium (Block)</a:t>
                      </a:r>
                    </a:p>
                  </a:txBody>
                  <a:tcPr marL="9525" marR="9525" marT="9525" marB="0" anchor="b">
                    <a:lnL>
                      <a:noFill/>
                    </a:lnL>
                    <a:lnR>
                      <a:noFill/>
                    </a:lnR>
                    <a:lnT>
                      <a:noFill/>
                    </a:lnT>
                    <a:lnB>
                      <a:noFill/>
                    </a:lnB>
                  </a:tcPr>
                </a:tc>
                <a:tc hMerge="1">
                  <a:txBody>
                    <a:bodyPr/>
                    <a:lstStyle/>
                    <a:p>
                      <a:endParaRPr lang="ca-ES"/>
                    </a:p>
                  </a:txBody>
                  <a:tcPr/>
                </a:tc>
                <a:tc hMerge="1">
                  <a:txBody>
                    <a:bodyPr/>
                    <a:lstStyle/>
                    <a:p>
                      <a:endParaRPr lang="ca-ES"/>
                    </a:p>
                  </a:txBody>
                  <a:tcPr/>
                </a:tc>
                <a:tc hMerge="1">
                  <a:txBody>
                    <a:bodyPr/>
                    <a:lstStyle/>
                    <a:p>
                      <a:endParaRPr lang="ca-ES"/>
                    </a:p>
                  </a:txBody>
                  <a:tcPr/>
                </a:tc>
              </a:tr>
              <a:tr h="303746">
                <a:tc>
                  <a:txBody>
                    <a:bodyPr/>
                    <a:lstStyle/>
                    <a:p>
                      <a:pPr algn="ctr" fontAlgn="b"/>
                      <a:r>
                        <a:rPr lang="es-ES" sz="1600" b="0" i="0" u="none" strike="noStrike">
                          <a:solidFill>
                            <a:srgbClr val="0070C0"/>
                          </a:solidFill>
                          <a:latin typeface="Calibri"/>
                        </a:rPr>
                        <a:t>Tx</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b"/>
                      <a:r>
                        <a:rPr lang="es-ES" sz="1600" b="0" i="0" u="none" strike="noStrike" dirty="0">
                          <a:solidFill>
                            <a:srgbClr val="0070C0"/>
                          </a:solidFill>
                          <a:latin typeface="Calibri"/>
                        </a:rPr>
                        <a:t>1</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rtl="0" fontAlgn="b"/>
                      <a:r>
                        <a:rPr lang="es-ES" sz="1600" b="0" i="0" u="none" strike="noStrike">
                          <a:solidFill>
                            <a:srgbClr val="0070C0"/>
                          </a:solidFill>
                          <a:latin typeface="Calibri"/>
                        </a:rPr>
                        <a:t>2</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rtl="0" fontAlgn="b"/>
                      <a:r>
                        <a:rPr lang="es-ES" sz="1600" b="0" i="0" u="none" strike="noStrike">
                          <a:solidFill>
                            <a:srgbClr val="0070C0"/>
                          </a:solidFill>
                          <a:latin typeface="Calibri"/>
                        </a:rPr>
                        <a:t>3</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rtl="0" fontAlgn="b"/>
                      <a:r>
                        <a:rPr lang="es-ES" sz="1600" b="0" i="0" u="none" strike="noStrike">
                          <a:solidFill>
                            <a:srgbClr val="0070C0"/>
                          </a:solidFill>
                          <a:latin typeface="Calibri"/>
                        </a:rPr>
                        <a:t>4</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r>
              <a:tr h="303746">
                <a:tc>
                  <a:txBody>
                    <a:bodyPr/>
                    <a:lstStyle/>
                    <a:p>
                      <a:pPr algn="ctr" rtl="0" fontAlgn="b"/>
                      <a:r>
                        <a:rPr lang="es-ES" sz="1600" b="0" i="0" u="none" strike="noStrike">
                          <a:solidFill>
                            <a:srgbClr val="0070C0"/>
                          </a:solidFill>
                          <a:latin typeface="Calibri"/>
                        </a:rPr>
                        <a:t>1</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rtl="0" fontAlgn="b"/>
                      <a:r>
                        <a:rPr lang="es-ES" sz="1600" b="0" i="0" u="none" strike="noStrike">
                          <a:solidFill>
                            <a:srgbClr val="0070C0"/>
                          </a:solidFill>
                          <a:latin typeface="Calibri"/>
                        </a:rPr>
                        <a:t>34.98</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rtl="0" fontAlgn="b"/>
                      <a:r>
                        <a:rPr lang="es-ES" sz="1600" b="0" i="0" u="none" strike="noStrike">
                          <a:solidFill>
                            <a:srgbClr val="0070C0"/>
                          </a:solidFill>
                          <a:latin typeface="Calibri"/>
                        </a:rPr>
                        <a:t>41.22</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rtl="0" fontAlgn="b"/>
                      <a:r>
                        <a:rPr lang="es-ES" sz="1600" b="0" i="0" u="none" strike="noStrike">
                          <a:solidFill>
                            <a:srgbClr val="0070C0"/>
                          </a:solidFill>
                          <a:latin typeface="Calibri"/>
                        </a:rPr>
                        <a:t>36.94</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rtl="0" fontAlgn="b"/>
                      <a:r>
                        <a:rPr lang="es-ES" sz="1600" b="0" i="0" u="none" strike="noStrike">
                          <a:solidFill>
                            <a:srgbClr val="0070C0"/>
                          </a:solidFill>
                          <a:latin typeface="Calibri"/>
                        </a:rPr>
                        <a:t>39.97</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r>
              <a:tr h="303746">
                <a:tc>
                  <a:txBody>
                    <a:bodyPr/>
                    <a:lstStyle/>
                    <a:p>
                      <a:pPr algn="ctr" rtl="0" fontAlgn="b"/>
                      <a:r>
                        <a:rPr lang="es-ES" sz="1600" b="0" i="0" u="none" strike="noStrike">
                          <a:solidFill>
                            <a:srgbClr val="0070C0"/>
                          </a:solidFill>
                          <a:latin typeface="Calibri"/>
                        </a:rPr>
                        <a:t>2</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600" b="0" i="0" u="none" strike="noStrike">
                          <a:solidFill>
                            <a:srgbClr val="0070C0"/>
                          </a:solidFill>
                          <a:latin typeface="Calibri"/>
                        </a:rPr>
                        <a:t>40.89</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600" b="0" i="0" u="none" strike="noStrike">
                          <a:solidFill>
                            <a:srgbClr val="0070C0"/>
                          </a:solidFill>
                          <a:latin typeface="Calibri"/>
                        </a:rPr>
                        <a:t>46.69</a:t>
                      </a:r>
                    </a:p>
                  </a:txBody>
                  <a:tcPr marL="9525" marR="9525" marT="9525" marB="0" anchor="b">
                    <a:lnL>
                      <a:noFill/>
                    </a:lnL>
                    <a:lnR>
                      <a:noFill/>
                    </a:lnR>
                    <a:lnT>
                      <a:noFill/>
                    </a:lnT>
                    <a:lnB>
                      <a:noFill/>
                    </a:lnB>
                  </a:tcPr>
                </a:tc>
                <a:tc>
                  <a:txBody>
                    <a:bodyPr/>
                    <a:lstStyle/>
                    <a:p>
                      <a:pPr algn="ctr" rtl="0" fontAlgn="b"/>
                      <a:r>
                        <a:rPr lang="es-ES" sz="1600" b="0" i="0" u="none" strike="noStrike">
                          <a:solidFill>
                            <a:srgbClr val="0070C0"/>
                          </a:solidFill>
                          <a:latin typeface="Calibri"/>
                        </a:rPr>
                        <a:t>46.65</a:t>
                      </a:r>
                    </a:p>
                  </a:txBody>
                  <a:tcPr marL="9525" marR="9525" marT="9525" marB="0" anchor="b">
                    <a:lnL>
                      <a:noFill/>
                    </a:lnL>
                    <a:lnR>
                      <a:noFill/>
                    </a:lnR>
                    <a:lnT>
                      <a:noFill/>
                    </a:lnT>
                    <a:lnB>
                      <a:noFill/>
                    </a:lnB>
                  </a:tcPr>
                </a:tc>
                <a:tc>
                  <a:txBody>
                    <a:bodyPr/>
                    <a:lstStyle/>
                    <a:p>
                      <a:pPr algn="ctr" rtl="0" fontAlgn="b"/>
                      <a:r>
                        <a:rPr lang="es-ES" sz="1600" b="0" i="0" u="none" strike="noStrike">
                          <a:solidFill>
                            <a:srgbClr val="0070C0"/>
                          </a:solidFill>
                          <a:latin typeface="Calibri"/>
                        </a:rPr>
                        <a:t>41.9</a:t>
                      </a:r>
                    </a:p>
                  </a:txBody>
                  <a:tcPr marL="9525" marR="9525" marT="9525" marB="0" anchor="b">
                    <a:lnL>
                      <a:noFill/>
                    </a:lnL>
                    <a:lnR>
                      <a:noFill/>
                    </a:lnR>
                    <a:lnT>
                      <a:noFill/>
                    </a:lnT>
                    <a:lnB>
                      <a:noFill/>
                    </a:lnB>
                  </a:tcPr>
                </a:tc>
              </a:tr>
              <a:tr h="303746">
                <a:tc>
                  <a:txBody>
                    <a:bodyPr/>
                    <a:lstStyle/>
                    <a:p>
                      <a:pPr algn="ctr" rtl="0" fontAlgn="b"/>
                      <a:r>
                        <a:rPr lang="es-ES" sz="1600" b="0" i="0" u="none" strike="noStrike">
                          <a:solidFill>
                            <a:srgbClr val="0070C0"/>
                          </a:solidFill>
                          <a:latin typeface="Calibri"/>
                        </a:rPr>
                        <a:t>3</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600" b="0" i="0" u="none" strike="noStrike">
                          <a:solidFill>
                            <a:srgbClr val="0070C0"/>
                          </a:solidFill>
                          <a:latin typeface="Calibri"/>
                        </a:rPr>
                        <a:t>42.7</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600" b="0" i="0" u="none" strike="noStrike">
                          <a:solidFill>
                            <a:srgbClr val="0070C0"/>
                          </a:solidFill>
                          <a:latin typeface="Calibri"/>
                        </a:rPr>
                        <a:t>49.42</a:t>
                      </a:r>
                    </a:p>
                  </a:txBody>
                  <a:tcPr marL="9525" marR="9525" marT="9525" marB="0" anchor="b">
                    <a:lnL>
                      <a:noFill/>
                    </a:lnL>
                    <a:lnR>
                      <a:noFill/>
                    </a:lnR>
                    <a:lnT>
                      <a:noFill/>
                    </a:lnT>
                    <a:lnB>
                      <a:noFill/>
                    </a:lnB>
                  </a:tcPr>
                </a:tc>
                <a:tc>
                  <a:txBody>
                    <a:bodyPr/>
                    <a:lstStyle/>
                    <a:p>
                      <a:pPr algn="ctr" rtl="0" fontAlgn="b"/>
                      <a:r>
                        <a:rPr lang="es-ES" sz="1600" b="0" i="0" u="none" strike="noStrike">
                          <a:solidFill>
                            <a:srgbClr val="0070C0"/>
                          </a:solidFill>
                          <a:latin typeface="Calibri"/>
                        </a:rPr>
                        <a:t>52.68</a:t>
                      </a:r>
                    </a:p>
                  </a:txBody>
                  <a:tcPr marL="9525" marR="9525" marT="9525" marB="0" anchor="b">
                    <a:lnL>
                      <a:noFill/>
                    </a:lnL>
                    <a:lnR>
                      <a:noFill/>
                    </a:lnR>
                    <a:lnT>
                      <a:noFill/>
                    </a:lnT>
                    <a:lnB>
                      <a:noFill/>
                    </a:lnB>
                  </a:tcPr>
                </a:tc>
                <a:tc>
                  <a:txBody>
                    <a:bodyPr/>
                    <a:lstStyle/>
                    <a:p>
                      <a:pPr algn="ctr" rtl="0" fontAlgn="b"/>
                      <a:r>
                        <a:rPr lang="es-ES" sz="1600" b="0" i="0" u="none" strike="noStrike">
                          <a:solidFill>
                            <a:srgbClr val="0070C0"/>
                          </a:solidFill>
                          <a:latin typeface="Calibri"/>
                        </a:rPr>
                        <a:t>42.91</a:t>
                      </a:r>
                    </a:p>
                  </a:txBody>
                  <a:tcPr marL="9525" marR="9525" marT="9525" marB="0" anchor="b">
                    <a:lnL>
                      <a:noFill/>
                    </a:lnL>
                    <a:lnR>
                      <a:noFill/>
                    </a:lnR>
                    <a:lnT>
                      <a:noFill/>
                    </a:lnT>
                    <a:lnB>
                      <a:noFill/>
                    </a:lnB>
                  </a:tcPr>
                </a:tc>
              </a:tr>
              <a:tr h="303746">
                <a:tc>
                  <a:txBody>
                    <a:bodyPr/>
                    <a:lstStyle/>
                    <a:p>
                      <a:pPr algn="ctr" rtl="0" fontAlgn="b"/>
                      <a:r>
                        <a:rPr lang="es-ES" sz="1600" b="0" i="0" u="none" strike="noStrike">
                          <a:solidFill>
                            <a:srgbClr val="0070C0"/>
                          </a:solidFill>
                          <a:latin typeface="Calibri"/>
                        </a:rPr>
                        <a:t>4</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600" b="0" i="0" u="none" strike="noStrike">
                          <a:solidFill>
                            <a:srgbClr val="0070C0"/>
                          </a:solidFill>
                          <a:latin typeface="Calibri"/>
                        </a:rPr>
                        <a:t>37.18</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600" b="0" i="0" u="none" strike="noStrike">
                          <a:solidFill>
                            <a:srgbClr val="0070C0"/>
                          </a:solidFill>
                          <a:latin typeface="Calibri"/>
                        </a:rPr>
                        <a:t>45.85</a:t>
                      </a:r>
                    </a:p>
                  </a:txBody>
                  <a:tcPr marL="9525" marR="9525" marT="9525" marB="0" anchor="b">
                    <a:lnL>
                      <a:noFill/>
                    </a:lnL>
                    <a:lnR>
                      <a:noFill/>
                    </a:lnR>
                    <a:lnT>
                      <a:noFill/>
                    </a:lnT>
                    <a:lnB>
                      <a:noFill/>
                    </a:lnB>
                  </a:tcPr>
                </a:tc>
                <a:tc>
                  <a:txBody>
                    <a:bodyPr/>
                    <a:lstStyle/>
                    <a:p>
                      <a:pPr algn="ctr" rtl="0" fontAlgn="b"/>
                      <a:r>
                        <a:rPr lang="es-ES" sz="1600" b="0" i="0" u="none" strike="noStrike">
                          <a:solidFill>
                            <a:srgbClr val="0070C0"/>
                          </a:solidFill>
                          <a:latin typeface="Calibri"/>
                        </a:rPr>
                        <a:t>40.23</a:t>
                      </a:r>
                    </a:p>
                  </a:txBody>
                  <a:tcPr marL="9525" marR="9525" marT="9525" marB="0" anchor="b">
                    <a:lnL>
                      <a:noFill/>
                    </a:lnL>
                    <a:lnR>
                      <a:noFill/>
                    </a:lnR>
                    <a:lnT>
                      <a:noFill/>
                    </a:lnT>
                    <a:lnB>
                      <a:noFill/>
                    </a:lnB>
                  </a:tcPr>
                </a:tc>
                <a:tc>
                  <a:txBody>
                    <a:bodyPr/>
                    <a:lstStyle/>
                    <a:p>
                      <a:pPr algn="ctr" rtl="0" fontAlgn="b"/>
                      <a:r>
                        <a:rPr lang="es-ES" sz="1600" b="0" i="0" u="none" strike="noStrike">
                          <a:solidFill>
                            <a:srgbClr val="0070C0"/>
                          </a:solidFill>
                          <a:latin typeface="Calibri"/>
                        </a:rPr>
                        <a:t>39.2</a:t>
                      </a:r>
                    </a:p>
                  </a:txBody>
                  <a:tcPr marL="9525" marR="9525" marT="9525" marB="0" anchor="b">
                    <a:lnL>
                      <a:noFill/>
                    </a:lnL>
                    <a:lnR>
                      <a:noFill/>
                    </a:lnR>
                    <a:lnT>
                      <a:noFill/>
                    </a:lnT>
                    <a:lnB>
                      <a:noFill/>
                    </a:lnB>
                  </a:tcPr>
                </a:tc>
              </a:tr>
              <a:tr h="303746">
                <a:tc>
                  <a:txBody>
                    <a:bodyPr/>
                    <a:lstStyle/>
                    <a:p>
                      <a:pPr algn="ctr" rtl="0" fontAlgn="b"/>
                      <a:r>
                        <a:rPr lang="es-ES" sz="1600" b="0" i="0" u="none" strike="noStrike">
                          <a:solidFill>
                            <a:srgbClr val="0070C0"/>
                          </a:solidFill>
                          <a:latin typeface="Calibri"/>
                        </a:rPr>
                        <a:t>5</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600" b="0" i="0" u="none" strike="noStrike">
                          <a:solidFill>
                            <a:srgbClr val="0070C0"/>
                          </a:solidFill>
                          <a:latin typeface="Calibri"/>
                        </a:rPr>
                        <a:t>37.99</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600" b="0" i="0" u="none" strike="noStrike">
                          <a:solidFill>
                            <a:srgbClr val="0070C0"/>
                          </a:solidFill>
                          <a:latin typeface="Calibri"/>
                        </a:rPr>
                        <a:t>41.99</a:t>
                      </a:r>
                    </a:p>
                  </a:txBody>
                  <a:tcPr marL="9525" marR="9525" marT="9525" marB="0" anchor="b">
                    <a:lnL>
                      <a:noFill/>
                    </a:lnL>
                    <a:lnR>
                      <a:noFill/>
                    </a:lnR>
                    <a:lnT>
                      <a:noFill/>
                    </a:lnT>
                    <a:lnB>
                      <a:noFill/>
                    </a:lnB>
                  </a:tcPr>
                </a:tc>
                <a:tc>
                  <a:txBody>
                    <a:bodyPr/>
                    <a:lstStyle/>
                    <a:p>
                      <a:pPr algn="ctr" rtl="0" fontAlgn="b"/>
                      <a:r>
                        <a:rPr lang="es-ES" sz="1600" b="0" i="0" u="none" strike="noStrike" dirty="0">
                          <a:solidFill>
                            <a:srgbClr val="0070C0"/>
                          </a:solidFill>
                          <a:latin typeface="Calibri"/>
                        </a:rPr>
                        <a:t>37.61</a:t>
                      </a:r>
                    </a:p>
                  </a:txBody>
                  <a:tcPr marL="9525" marR="9525" marT="9525" marB="0" anchor="b">
                    <a:lnL>
                      <a:noFill/>
                    </a:lnL>
                    <a:lnR>
                      <a:noFill/>
                    </a:lnR>
                    <a:lnT>
                      <a:noFill/>
                    </a:lnT>
                    <a:lnB>
                      <a:noFill/>
                    </a:lnB>
                  </a:tcPr>
                </a:tc>
                <a:tc>
                  <a:txBody>
                    <a:bodyPr/>
                    <a:lstStyle/>
                    <a:p>
                      <a:pPr algn="ctr" rtl="0" fontAlgn="b"/>
                      <a:r>
                        <a:rPr lang="es-ES" sz="1600" b="0" i="0" u="none" strike="noStrike">
                          <a:solidFill>
                            <a:srgbClr val="0070C0"/>
                          </a:solidFill>
                          <a:latin typeface="Calibri"/>
                        </a:rPr>
                        <a:t>40.45</a:t>
                      </a:r>
                    </a:p>
                  </a:txBody>
                  <a:tcPr marL="9525" marR="9525" marT="9525" marB="0" anchor="b">
                    <a:lnL>
                      <a:noFill/>
                    </a:lnL>
                    <a:lnR>
                      <a:noFill/>
                    </a:lnR>
                    <a:lnT>
                      <a:noFill/>
                    </a:lnT>
                    <a:lnB>
                      <a:noFill/>
                    </a:lnB>
                  </a:tcPr>
                </a:tc>
              </a:tr>
              <a:tr h="303746">
                <a:tc>
                  <a:txBody>
                    <a:bodyPr/>
                    <a:lstStyle/>
                    <a:p>
                      <a:pPr algn="ctr" rtl="0" fontAlgn="b"/>
                      <a:r>
                        <a:rPr lang="es-ES" sz="1600" b="0" i="0" u="none" strike="noStrike">
                          <a:solidFill>
                            <a:srgbClr val="0070C0"/>
                          </a:solidFill>
                          <a:latin typeface="Calibri"/>
                        </a:rPr>
                        <a:t>6</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600" b="0" i="0" u="none" strike="noStrike">
                          <a:solidFill>
                            <a:srgbClr val="0070C0"/>
                          </a:solidFill>
                          <a:latin typeface="Calibri"/>
                        </a:rPr>
                        <a:t>34.89</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600" b="0" i="0" u="none" strike="noStrike">
                          <a:solidFill>
                            <a:srgbClr val="0070C0"/>
                          </a:solidFill>
                          <a:latin typeface="Calibri"/>
                        </a:rPr>
                        <a:t>50.15</a:t>
                      </a:r>
                    </a:p>
                  </a:txBody>
                  <a:tcPr marL="9525" marR="9525" marT="9525" marB="0" anchor="b">
                    <a:lnL>
                      <a:noFill/>
                    </a:lnL>
                    <a:lnR>
                      <a:noFill/>
                    </a:lnR>
                    <a:lnT>
                      <a:noFill/>
                    </a:lnT>
                    <a:lnB>
                      <a:noFill/>
                    </a:lnB>
                  </a:tcPr>
                </a:tc>
                <a:tc>
                  <a:txBody>
                    <a:bodyPr/>
                    <a:lstStyle/>
                    <a:p>
                      <a:pPr algn="ctr" rtl="0" fontAlgn="b"/>
                      <a:r>
                        <a:rPr lang="es-ES" sz="1600" b="0" i="0" u="none" strike="noStrike">
                          <a:solidFill>
                            <a:srgbClr val="0070C0"/>
                          </a:solidFill>
                          <a:latin typeface="Calibri"/>
                        </a:rPr>
                        <a:t>44.57</a:t>
                      </a:r>
                    </a:p>
                  </a:txBody>
                  <a:tcPr marL="9525" marR="9525" marT="9525" marB="0" anchor="b">
                    <a:lnL>
                      <a:noFill/>
                    </a:lnL>
                    <a:lnR>
                      <a:noFill/>
                    </a:lnR>
                    <a:lnT>
                      <a:noFill/>
                    </a:lnT>
                    <a:lnB>
                      <a:noFill/>
                    </a:lnB>
                  </a:tcPr>
                </a:tc>
                <a:tc>
                  <a:txBody>
                    <a:bodyPr/>
                    <a:lstStyle/>
                    <a:p>
                      <a:pPr algn="ctr" rtl="0" fontAlgn="b"/>
                      <a:r>
                        <a:rPr lang="es-ES" sz="1600" b="0" i="0" u="none" strike="noStrike" dirty="0">
                          <a:solidFill>
                            <a:srgbClr val="0070C0"/>
                          </a:solidFill>
                          <a:latin typeface="Calibri"/>
                        </a:rPr>
                        <a:t>43.29</a:t>
                      </a:r>
                    </a:p>
                  </a:txBody>
                  <a:tcPr marL="9525" marR="9525" marT="9525" marB="0" anchor="b">
                    <a:lnL>
                      <a:noFill/>
                    </a:lnL>
                    <a:lnR>
                      <a:noFill/>
                    </a:lnR>
                    <a:lnT>
                      <a:noFill/>
                    </a:lnT>
                    <a:lnB>
                      <a:noFill/>
                    </a:lnB>
                  </a:tcPr>
                </a:tc>
              </a:tr>
            </a:tbl>
          </a:graphicData>
        </a:graphic>
      </p:graphicFrame>
      <p:graphicFrame>
        <p:nvGraphicFramePr>
          <p:cNvPr id="9" name="8 Tabla"/>
          <p:cNvGraphicFramePr>
            <a:graphicFrameLocks noGrp="1"/>
          </p:cNvGraphicFramePr>
          <p:nvPr/>
        </p:nvGraphicFramePr>
        <p:xfrm>
          <a:off x="6548430" y="1303875"/>
          <a:ext cx="2662804" cy="5554125"/>
        </p:xfrm>
        <a:graphic>
          <a:graphicData uri="http://schemas.openxmlformats.org/drawingml/2006/table">
            <a:tbl>
              <a:tblPr/>
              <a:tblGrid>
                <a:gridCol w="1051107"/>
                <a:gridCol w="437961"/>
                <a:gridCol w="1173736"/>
              </a:tblGrid>
              <a:tr h="212863">
                <a:tc>
                  <a:txBody>
                    <a:bodyPr/>
                    <a:lstStyle/>
                    <a:p>
                      <a:pPr algn="ctr" rtl="0" fontAlgn="ctr"/>
                      <a:r>
                        <a:rPr lang="es-ES" sz="1400" b="0" i="0" u="none" strike="noStrike" dirty="0" err="1">
                          <a:solidFill>
                            <a:srgbClr val="0070C0"/>
                          </a:solidFill>
                          <a:latin typeface="Calibri"/>
                        </a:rPr>
                        <a:t>medium</a:t>
                      </a:r>
                      <a:endParaRPr lang="es-ES" sz="1400" b="0" i="0" u="none" strike="noStrike" dirty="0">
                        <a:solidFill>
                          <a:srgbClr val="0070C0"/>
                        </a:solidFill>
                        <a:latin typeface="Calibri"/>
                      </a:endParaRPr>
                    </a:p>
                  </a:txBody>
                  <a:tcPr marL="8805" marR="8805" marT="880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rtl="0" fontAlgn="ctr"/>
                      <a:r>
                        <a:rPr lang="es-ES" sz="1400" b="0" i="0" u="none" strike="noStrike">
                          <a:solidFill>
                            <a:srgbClr val="0070C0"/>
                          </a:solidFill>
                          <a:latin typeface="Calibri"/>
                        </a:rPr>
                        <a:t>Tx</a:t>
                      </a:r>
                    </a:p>
                  </a:txBody>
                  <a:tcPr marL="8805" marR="8805" marT="880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rtl="0" fontAlgn="ctr"/>
                      <a:r>
                        <a:rPr lang="es-ES" sz="1400" b="0" i="0" u="none" strike="noStrike">
                          <a:solidFill>
                            <a:srgbClr val="0070C0"/>
                          </a:solidFill>
                          <a:latin typeface="Calibri"/>
                        </a:rPr>
                        <a:t>Regeneration</a:t>
                      </a:r>
                    </a:p>
                  </a:txBody>
                  <a:tcPr marL="8805" marR="8805" marT="8805" marB="0" anchor="ctr">
                    <a:lnL>
                      <a:noFill/>
                    </a:lnL>
                    <a:lnR>
                      <a:noFill/>
                    </a:lnR>
                    <a:lnT>
                      <a:noFill/>
                    </a:lnT>
                    <a:lnB w="6350" cap="flat" cmpd="sng" algn="ctr">
                      <a:solidFill>
                        <a:srgbClr val="000000"/>
                      </a:solidFill>
                      <a:prstDash val="solid"/>
                      <a:round/>
                      <a:headEnd type="none" w="med" len="med"/>
                      <a:tailEnd type="none" w="med" len="med"/>
                    </a:lnB>
                  </a:tcPr>
                </a:tc>
              </a:tr>
              <a:tr h="212863">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rtl="0" fontAlgn="b"/>
                      <a:r>
                        <a:rPr lang="es-ES" sz="1400" b="0" i="0" u="none" strike="noStrike">
                          <a:solidFill>
                            <a:srgbClr val="0070C0"/>
                          </a:solidFill>
                          <a:latin typeface="Calibri"/>
                        </a:rPr>
                        <a:t>34.98</a:t>
                      </a:r>
                    </a:p>
                  </a:txBody>
                  <a:tcPr marL="8805" marR="8805" marT="8805" marB="0" anchor="b">
                    <a:lnL>
                      <a:noFill/>
                    </a:lnL>
                    <a:lnR>
                      <a:noFill/>
                    </a:lnR>
                    <a:lnT w="6350" cap="flat" cmpd="sng" algn="ctr">
                      <a:solidFill>
                        <a:srgbClr val="000000"/>
                      </a:solidFill>
                      <a:prstDash val="solid"/>
                      <a:round/>
                      <a:headEnd type="none" w="med" len="med"/>
                      <a:tailEnd type="none" w="med" len="med"/>
                    </a:lnT>
                    <a:lnB>
                      <a:noFill/>
                    </a:lnB>
                  </a:tcPr>
                </a:tc>
              </a:tr>
              <a:tr h="212863">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a:noFill/>
                    </a:lnT>
                    <a:lnB>
                      <a:noFill/>
                    </a:lnB>
                  </a:tcPr>
                </a:tc>
                <a:tc>
                  <a:txBody>
                    <a:bodyPr/>
                    <a:lstStyle/>
                    <a:p>
                      <a:pPr algn="ctr" rtl="0" fontAlgn="b"/>
                      <a:r>
                        <a:rPr lang="es-ES" sz="1400" b="0" i="0" u="none" strike="noStrike" dirty="0">
                          <a:solidFill>
                            <a:srgbClr val="0070C0"/>
                          </a:solidFill>
                          <a:latin typeface="Calibri"/>
                        </a:rPr>
                        <a:t>41.22</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36.94</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39.97</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40.89</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46.69</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46.65</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41.9</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42.07</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49.42</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52.68</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42.91</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37.18</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45.85</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40.23</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39.2</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5</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37.99</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5</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41.99</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5</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37.61</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5</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40.45</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1</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6</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34.89</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2</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6</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50.15</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3</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6</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44.57</a:t>
                      </a:r>
                    </a:p>
                  </a:txBody>
                  <a:tcPr marL="8805" marR="8805" marT="8805" marB="0" anchor="b">
                    <a:lnL>
                      <a:noFill/>
                    </a:lnL>
                    <a:lnR>
                      <a:noFill/>
                    </a:lnR>
                    <a:lnT>
                      <a:noFill/>
                    </a:lnT>
                    <a:lnB>
                      <a:noFill/>
                    </a:lnB>
                  </a:tcPr>
                </a:tc>
              </a:tr>
              <a:tr h="212863">
                <a:tc>
                  <a:txBody>
                    <a:bodyPr/>
                    <a:lstStyle/>
                    <a:p>
                      <a:pPr algn="ctr" rtl="0" fontAlgn="b"/>
                      <a:r>
                        <a:rPr lang="es-ES" sz="1400" b="0" i="0" u="none" strike="noStrike">
                          <a:solidFill>
                            <a:srgbClr val="0070C0"/>
                          </a:solidFill>
                          <a:latin typeface="Calibri"/>
                        </a:rPr>
                        <a:t>4</a:t>
                      </a:r>
                    </a:p>
                  </a:txBody>
                  <a:tcPr marL="8805" marR="8805" marT="8805" marB="0" anchor="b">
                    <a:lnL>
                      <a:noFill/>
                    </a:lnL>
                    <a:lnR>
                      <a:noFill/>
                    </a:lnR>
                    <a:lnT>
                      <a:noFill/>
                    </a:lnT>
                    <a:lnB>
                      <a:noFill/>
                    </a:lnB>
                  </a:tcPr>
                </a:tc>
                <a:tc>
                  <a:txBody>
                    <a:bodyPr/>
                    <a:lstStyle/>
                    <a:p>
                      <a:pPr algn="ctr" rtl="0" fontAlgn="b"/>
                      <a:r>
                        <a:rPr lang="es-ES" sz="1400" b="0" i="0" u="none" strike="noStrike">
                          <a:solidFill>
                            <a:srgbClr val="0070C0"/>
                          </a:solidFill>
                          <a:latin typeface="Calibri"/>
                        </a:rPr>
                        <a:t>6</a:t>
                      </a:r>
                    </a:p>
                  </a:txBody>
                  <a:tcPr marL="8805" marR="8805" marT="8805" marB="0" anchor="b">
                    <a:lnL>
                      <a:noFill/>
                    </a:lnL>
                    <a:lnR>
                      <a:noFill/>
                    </a:lnR>
                    <a:lnT>
                      <a:noFill/>
                    </a:lnT>
                    <a:lnB>
                      <a:noFill/>
                    </a:lnB>
                  </a:tcPr>
                </a:tc>
                <a:tc>
                  <a:txBody>
                    <a:bodyPr/>
                    <a:lstStyle/>
                    <a:p>
                      <a:pPr algn="ctr" rtl="0" fontAlgn="b"/>
                      <a:r>
                        <a:rPr lang="es-ES" sz="1400" b="0" i="0" u="none" strike="noStrike" dirty="0">
                          <a:solidFill>
                            <a:srgbClr val="0070C0"/>
                          </a:solidFill>
                          <a:latin typeface="Calibri"/>
                        </a:rPr>
                        <a:t>43.29</a:t>
                      </a:r>
                    </a:p>
                  </a:txBody>
                  <a:tcPr marL="8805" marR="8805" marT="8805" marB="0" anchor="b">
                    <a:lnL>
                      <a:noFill/>
                    </a:lnL>
                    <a:lnR>
                      <a:noFill/>
                    </a:lnR>
                    <a:lnT>
                      <a:noFill/>
                    </a:lnT>
                    <a:lnB>
                      <a:noFill/>
                    </a:lnB>
                  </a:tcPr>
                </a:tc>
              </a:tr>
            </a:tbl>
          </a:graphicData>
        </a:graphic>
      </p:graphicFrame>
      <p:sp>
        <p:nvSpPr>
          <p:cNvPr id="10"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2"/>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Randomized Block Design (RBD</a:t>
            </a:r>
            <a:r>
              <a:rPr lang="en-US" sz="2800" dirty="0">
                <a:solidFill>
                  <a:srgbClr val="C00000"/>
                </a:solidFill>
                <a:latin typeface="+mn-lt"/>
              </a:rPr>
              <a:t>)</a:t>
            </a: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2"/>
          <p:cNvSpPr txBox="1">
            <a:spLocks noChangeArrowheads="1"/>
          </p:cNvSpPr>
          <p:nvPr/>
        </p:nvSpPr>
        <p:spPr bwMode="auto">
          <a:xfrm>
            <a:off x="742560" y="1371024"/>
            <a:ext cx="8420880" cy="4715055"/>
          </a:xfrm>
          <a:prstGeom prst="rect">
            <a:avLst/>
          </a:prstGeom>
          <a:noFill/>
          <a:ln w="9525">
            <a:noFill/>
            <a:round/>
            <a:headEnd/>
            <a:tailEnd/>
          </a:ln>
        </p:spPr>
        <p:txBody>
          <a:bodyPr lIns="95790" tIns="47895" rIns="95790" bIns="47895"/>
          <a:lstStyle/>
          <a:p>
            <a:pPr>
              <a:spcBef>
                <a:spcPts val="760"/>
              </a:spcBef>
              <a:tabLst>
                <a:tab pos="771525" algn="l"/>
                <a:tab pos="1198563" algn="l"/>
                <a:tab pos="1625600" algn="l"/>
                <a:tab pos="2052638" algn="l"/>
                <a:tab pos="2479675" algn="l"/>
                <a:tab pos="2906713" algn="l"/>
                <a:tab pos="3333750" algn="l"/>
                <a:tab pos="3760788" algn="l"/>
                <a:tab pos="4187825" algn="l"/>
                <a:tab pos="4613275" algn="l"/>
                <a:tab pos="5040313" algn="l"/>
                <a:tab pos="5467350" algn="l"/>
                <a:tab pos="5894388" algn="l"/>
                <a:tab pos="6321425" algn="l"/>
                <a:tab pos="6748463" algn="l"/>
                <a:tab pos="7175500" algn="l"/>
                <a:tab pos="7602538" algn="l"/>
                <a:tab pos="8029575" algn="l"/>
                <a:tab pos="8456613" algn="l"/>
                <a:tab pos="8883650" algn="l"/>
              </a:tabLst>
            </a:pPr>
            <a:r>
              <a:rPr lang="en-US" sz="2400" i="1" dirty="0">
                <a:solidFill>
                  <a:srgbClr val="993489"/>
                </a:solidFill>
                <a:latin typeface="+mn-lt"/>
              </a:rPr>
              <a:t>Block what you can and randomize what you cannot </a:t>
            </a:r>
            <a:r>
              <a:rPr lang="en-US" sz="2400" dirty="0">
                <a:solidFill>
                  <a:srgbClr val="993489"/>
                </a:solidFill>
                <a:latin typeface="+mn-lt"/>
              </a:rPr>
              <a:t>– Box, </a:t>
            </a:r>
            <a:r>
              <a:rPr lang="en-US" sz="2400" dirty="0" smtClean="0">
                <a:solidFill>
                  <a:srgbClr val="993489"/>
                </a:solidFill>
                <a:latin typeface="+mn-lt"/>
              </a:rPr>
              <a:t>Hunter&amp; </a:t>
            </a:r>
            <a:r>
              <a:rPr lang="en-US" sz="2400" dirty="0">
                <a:solidFill>
                  <a:srgbClr val="993489"/>
                </a:solidFill>
                <a:latin typeface="+mn-lt"/>
              </a:rPr>
              <a:t>Hunter (1978</a:t>
            </a:r>
            <a:r>
              <a:rPr lang="en-US" sz="2400" dirty="0" smtClean="0">
                <a:solidFill>
                  <a:srgbClr val="993489"/>
                </a:solidFill>
                <a:latin typeface="+mn-lt"/>
              </a:rPr>
              <a:t>)</a:t>
            </a:r>
          </a:p>
          <a:p>
            <a:pPr marL="346978" indent="-346978">
              <a:spcBef>
                <a:spcPts val="760"/>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400" dirty="0">
              <a:solidFill>
                <a:srgbClr val="000000"/>
              </a:solidFill>
              <a:latin typeface="+mn-lt"/>
            </a:endParaRPr>
          </a:p>
          <a:p>
            <a:pPr marL="766369" lvl="1" indent="-291161">
              <a:spcBef>
                <a:spcPts val="641"/>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Blocking ensures that the differences between treatments cannot possibly be due to blocking </a:t>
            </a:r>
            <a:r>
              <a:rPr lang="en-US" sz="2000" dirty="0" smtClean="0">
                <a:solidFill>
                  <a:schemeClr val="bg2">
                    <a:lumMod val="50000"/>
                  </a:schemeClr>
                </a:solidFill>
                <a:latin typeface="+mn-lt"/>
              </a:rPr>
              <a:t>factors</a:t>
            </a:r>
          </a:p>
          <a:p>
            <a:pPr marL="766369" lvl="1" indent="-291161">
              <a:spcBef>
                <a:spcPts val="641"/>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000" dirty="0">
              <a:solidFill>
                <a:schemeClr val="bg2">
                  <a:lumMod val="50000"/>
                </a:schemeClr>
              </a:solidFill>
              <a:latin typeface="+mn-lt"/>
            </a:endParaRPr>
          </a:p>
          <a:p>
            <a:pPr marL="766369" lvl="1" indent="-291161">
              <a:spcBef>
                <a:spcPts val="641"/>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Blocking eliminates noise due to differences between blocks</a:t>
            </a:r>
            <a:r>
              <a:rPr lang="en-US" sz="2000" dirty="0" smtClean="0">
                <a:solidFill>
                  <a:schemeClr val="bg2">
                    <a:lumMod val="50000"/>
                  </a:schemeClr>
                </a:solidFill>
                <a:latin typeface="+mn-lt"/>
              </a:rPr>
              <a:t>,</a:t>
            </a:r>
          </a:p>
          <a:p>
            <a:pPr marL="766369" lvl="1" indent="-291161">
              <a:spcBef>
                <a:spcPts val="641"/>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000" dirty="0">
              <a:solidFill>
                <a:schemeClr val="bg2">
                  <a:lumMod val="50000"/>
                </a:schemeClr>
              </a:solidFill>
              <a:latin typeface="+mn-lt"/>
            </a:endParaRPr>
          </a:p>
          <a:p>
            <a:pPr marL="766369" lvl="1" indent="-291161">
              <a:spcBef>
                <a:spcPts val="641"/>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a:solidFill>
                  <a:schemeClr val="bg2">
                    <a:lumMod val="50000"/>
                  </a:schemeClr>
                </a:solidFill>
                <a:latin typeface="+mn-lt"/>
              </a:rPr>
              <a:t>Randomization gives approximate balance across other variables unaccounted for.</a:t>
            </a:r>
          </a:p>
          <a:p>
            <a:pPr marL="346978" indent="-346978">
              <a:spcBef>
                <a:spcPts val="641"/>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400" dirty="0">
              <a:solidFill>
                <a:srgbClr val="000000"/>
              </a:solidFill>
              <a:latin typeface="+mn-lt"/>
            </a:endParaRPr>
          </a:p>
        </p:txBody>
      </p:sp>
      <p:sp>
        <p:nvSpPr>
          <p:cNvPr id="4"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2"/>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Randomized Block Design (RBD</a:t>
            </a:r>
            <a:r>
              <a:rPr lang="en-US" sz="2800" dirty="0">
                <a:solidFill>
                  <a:srgbClr val="C00000"/>
                </a:solidFill>
                <a:latin typeface="+mn-lt"/>
              </a:rPr>
              <a:t>)</a:t>
            </a: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 Box 2"/>
          <p:cNvSpPr txBox="1">
            <a:spLocks noChangeArrowheads="1"/>
          </p:cNvSpPr>
          <p:nvPr/>
        </p:nvSpPr>
        <p:spPr bwMode="auto">
          <a:xfrm>
            <a:off x="742560" y="1371024"/>
            <a:ext cx="8420880" cy="4612805"/>
          </a:xfrm>
          <a:prstGeom prst="rect">
            <a:avLst/>
          </a:prstGeom>
          <a:noFill/>
          <a:ln w="9525">
            <a:noFill/>
            <a:round/>
            <a:headEnd/>
            <a:tailEnd/>
          </a:ln>
        </p:spPr>
        <p:txBody>
          <a:bodyPr lIns="95790" tIns="47895" rIns="95790" bIns="47895"/>
          <a:lstStyle/>
          <a:p>
            <a:pPr marL="346978" indent="-346978">
              <a:spcBef>
                <a:spcPts val="665"/>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800" dirty="0" smtClean="0">
                <a:solidFill>
                  <a:srgbClr val="993489"/>
                </a:solidFill>
                <a:latin typeface="+mn-lt"/>
              </a:rPr>
              <a:t>Factorial Design</a:t>
            </a:r>
          </a:p>
          <a:p>
            <a:pPr marL="346978" indent="-346978">
              <a:spcBef>
                <a:spcPts val="665"/>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400" dirty="0" smtClean="0">
              <a:solidFill>
                <a:srgbClr val="000000"/>
              </a:solidFill>
              <a:latin typeface="+mn-lt"/>
            </a:endParaRPr>
          </a:p>
          <a:p>
            <a:pPr marL="346978" indent="-346978">
              <a:spcBef>
                <a:spcPts val="665"/>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smtClean="0">
                <a:solidFill>
                  <a:schemeClr val="bg2">
                    <a:lumMod val="50000"/>
                  </a:schemeClr>
                </a:solidFill>
                <a:latin typeface="+mn-lt"/>
              </a:rPr>
              <a:t>Effects </a:t>
            </a:r>
            <a:r>
              <a:rPr lang="en-US" sz="2400" dirty="0">
                <a:solidFill>
                  <a:schemeClr val="bg2">
                    <a:lumMod val="50000"/>
                  </a:schemeClr>
                </a:solidFill>
                <a:latin typeface="+mn-lt"/>
              </a:rPr>
              <a:t>of several factors of variation are studied simultaneously. </a:t>
            </a:r>
          </a:p>
          <a:p>
            <a:pPr marL="346978" indent="-346978">
              <a:spcBef>
                <a:spcPts val="665"/>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a:solidFill>
                  <a:schemeClr val="bg2">
                    <a:lumMod val="50000"/>
                  </a:schemeClr>
                </a:solidFill>
                <a:latin typeface="+mn-lt"/>
              </a:rPr>
              <a:t>The treatments are all the combinations of different factors under study. </a:t>
            </a:r>
          </a:p>
          <a:p>
            <a:pPr marL="346978" indent="-346978">
              <a:spcBef>
                <a:spcPts val="665"/>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400" dirty="0">
                <a:solidFill>
                  <a:schemeClr val="bg2">
                    <a:lumMod val="50000"/>
                  </a:schemeClr>
                </a:solidFill>
                <a:latin typeface="+mn-lt"/>
              </a:rPr>
              <a:t>The effects of each of the factors and the </a:t>
            </a:r>
            <a:r>
              <a:rPr lang="en-US" sz="2400" i="1" dirty="0">
                <a:solidFill>
                  <a:schemeClr val="bg2">
                    <a:lumMod val="50000"/>
                  </a:schemeClr>
                </a:solidFill>
                <a:latin typeface="+mn-lt"/>
              </a:rPr>
              <a:t>interaction</a:t>
            </a:r>
            <a:r>
              <a:rPr lang="en-US" sz="2400" dirty="0">
                <a:solidFill>
                  <a:schemeClr val="bg2">
                    <a:lumMod val="50000"/>
                  </a:schemeClr>
                </a:solidFill>
                <a:latin typeface="+mn-lt"/>
              </a:rPr>
              <a:t> effects, which are the variations in the effect of one factor as a result to different levels of other factors, are studied.</a:t>
            </a:r>
          </a:p>
          <a:p>
            <a:pPr marL="346978" indent="-346978">
              <a:spcBef>
                <a:spcPts val="665"/>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700" dirty="0">
              <a:solidFill>
                <a:srgbClr val="000000"/>
              </a:solidFill>
              <a:latin typeface="Arial Unicode MS" pitchFamily="32" charset="0"/>
            </a:endParaRPr>
          </a:p>
          <a:p>
            <a:pPr marL="346978" indent="-346978">
              <a:spcBef>
                <a:spcPts val="665"/>
              </a:spcBef>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700" dirty="0">
              <a:solidFill>
                <a:srgbClr val="000000"/>
              </a:solidFill>
              <a:latin typeface="Arial Unicode MS" pitchFamily="32" charset="0"/>
            </a:endParaRPr>
          </a:p>
        </p:txBody>
      </p:sp>
      <p:sp>
        <p:nvSpPr>
          <p:cNvPr id="57347" name="Rectangle 3"/>
          <p:cNvSpPr>
            <a:spLocks noChangeArrowheads="1"/>
          </p:cNvSpPr>
          <p:nvPr/>
        </p:nvSpPr>
        <p:spPr bwMode="auto">
          <a:xfrm>
            <a:off x="1012383" y="5558650"/>
            <a:ext cx="7539946" cy="366816"/>
          </a:xfrm>
          <a:prstGeom prst="rect">
            <a:avLst/>
          </a:prstGeom>
          <a:noFill/>
          <a:ln w="9360">
            <a:solidFill>
              <a:srgbClr val="000000"/>
            </a:solidFill>
            <a:miter lim="800000"/>
            <a:headEnd/>
            <a:tailEnd/>
          </a:ln>
          <a:effectLst/>
        </p:spPr>
        <p:txBody>
          <a:bodyPr wrap="square" lIns="85527" tIns="44474" rIns="85527" bIns="44474">
            <a:spAutoFit/>
          </a:bodyPr>
          <a:lstStyle/>
          <a:p>
            <a:pPr>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defRPr/>
            </a:pPr>
            <a:r>
              <a:rPr lang="en-US" b="1" dirty="0">
                <a:solidFill>
                  <a:schemeClr val="bg2">
                    <a:lumMod val="50000"/>
                  </a:schemeClr>
                </a:solidFill>
                <a:latin typeface="+mn-lt"/>
              </a:rPr>
              <a:t>Response = mean+ treat-1 effect + treat-2 effect </a:t>
            </a:r>
            <a:r>
              <a:rPr lang="en-US" b="1" dirty="0" smtClean="0">
                <a:solidFill>
                  <a:schemeClr val="bg2">
                    <a:lumMod val="50000"/>
                  </a:schemeClr>
                </a:solidFill>
                <a:latin typeface="+mn-lt"/>
              </a:rPr>
              <a:t>+treat-1:2-Interaction </a:t>
            </a:r>
            <a:r>
              <a:rPr lang="en-US" b="1" dirty="0">
                <a:solidFill>
                  <a:schemeClr val="bg2">
                    <a:lumMod val="50000"/>
                  </a:schemeClr>
                </a:solidFill>
                <a:latin typeface="+mn-lt"/>
              </a:rPr>
              <a:t>+ error</a:t>
            </a:r>
          </a:p>
        </p:txBody>
      </p:sp>
      <p:sp>
        <p:nvSpPr>
          <p:cNvPr id="5"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Factorial Design</a:t>
            </a:r>
            <a:endParaRPr lang="en-US" sz="2800" dirty="0">
              <a:solidFill>
                <a:srgbClr val="C00000"/>
              </a:solidFill>
              <a:latin typeface="+mn-lt"/>
            </a:endParaRP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7" name="Text Box 2"/>
          <p:cNvSpPr txBox="1">
            <a:spLocks noChangeArrowheads="1"/>
          </p:cNvSpPr>
          <p:nvPr/>
        </p:nvSpPr>
        <p:spPr bwMode="auto">
          <a:xfrm>
            <a:off x="366042" y="2043954"/>
            <a:ext cx="5819605" cy="3913094"/>
          </a:xfrm>
          <a:prstGeom prst="rect">
            <a:avLst/>
          </a:prstGeom>
          <a:noFill/>
          <a:ln w="9525">
            <a:noFill/>
            <a:round/>
            <a:headEnd/>
            <a:tailEnd/>
          </a:ln>
        </p:spPr>
        <p:txBody>
          <a:bodyPr lIns="95790" tIns="47895" rIns="95790" bIns="47895"/>
          <a:lstStyle/>
          <a:p>
            <a:pPr marL="346978" indent="-346978" algn="just">
              <a:spcBef>
                <a:spcPts val="546"/>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A study was performed to determine the effect of chloramphenicol </a:t>
            </a:r>
            <a:r>
              <a:rPr lang="en-US" sz="2000" dirty="0" smtClean="0">
                <a:solidFill>
                  <a:srgbClr val="0070C0"/>
                </a:solidFill>
                <a:latin typeface="+mn-lt"/>
              </a:rPr>
              <a:t>and the diet on certain  hematological parameters </a:t>
            </a:r>
            <a:r>
              <a:rPr lang="en-US" sz="2000" dirty="0" smtClean="0">
                <a:solidFill>
                  <a:srgbClr val="0070C0"/>
                </a:solidFill>
                <a:latin typeface="+mn-lt"/>
              </a:rPr>
              <a:t>of </a:t>
            </a:r>
            <a:r>
              <a:rPr lang="en-US" sz="2000" dirty="0" smtClean="0">
                <a:solidFill>
                  <a:srgbClr val="0070C0"/>
                </a:solidFill>
                <a:latin typeface="+mn-lt"/>
              </a:rPr>
              <a:t>mice. </a:t>
            </a:r>
            <a:endParaRPr lang="en-US" sz="2000" dirty="0" smtClean="0">
              <a:solidFill>
                <a:srgbClr val="0070C0"/>
              </a:solidFill>
              <a:latin typeface="+mn-lt"/>
            </a:endParaRPr>
          </a:p>
          <a:p>
            <a:pPr marL="346978" indent="-346978" algn="just">
              <a:spcBef>
                <a:spcPts val="546"/>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Table 1 shows </a:t>
            </a:r>
            <a:r>
              <a:rPr lang="en-US" sz="2000" dirty="0" smtClean="0">
                <a:solidFill>
                  <a:srgbClr val="0070C0"/>
                </a:solidFill>
                <a:latin typeface="+mn-lt"/>
              </a:rPr>
              <a:t>WBCC (white blood cell counts)  </a:t>
            </a:r>
            <a:r>
              <a:rPr lang="en-US" sz="2000" dirty="0" smtClean="0">
                <a:solidFill>
                  <a:srgbClr val="0070C0"/>
                </a:solidFill>
                <a:latin typeface="+mn-lt"/>
              </a:rPr>
              <a:t>counts in mice </a:t>
            </a:r>
            <a:r>
              <a:rPr lang="en-US" sz="2000" dirty="0" smtClean="0">
                <a:solidFill>
                  <a:srgbClr val="0070C0"/>
                </a:solidFill>
                <a:latin typeface="+mn-lt"/>
              </a:rPr>
              <a:t>nourished with two </a:t>
            </a:r>
            <a:r>
              <a:rPr lang="en-US" sz="2000" dirty="0" smtClean="0">
                <a:solidFill>
                  <a:srgbClr val="0070C0"/>
                </a:solidFill>
                <a:latin typeface="+mn-lt"/>
              </a:rPr>
              <a:t>distinct diets </a:t>
            </a:r>
            <a:r>
              <a:rPr lang="en-US" sz="2000" dirty="0" smtClean="0">
                <a:solidFill>
                  <a:srgbClr val="0070C0"/>
                </a:solidFill>
                <a:latin typeface="+mn-lt"/>
              </a:rPr>
              <a:t>kept </a:t>
            </a:r>
            <a:r>
              <a:rPr lang="en-US" sz="2000" dirty="0" smtClean="0">
                <a:solidFill>
                  <a:srgbClr val="0070C0"/>
                </a:solidFill>
                <a:latin typeface="+mn-lt"/>
              </a:rPr>
              <a:t>as controls or treated with chloramphenicol. </a:t>
            </a:r>
          </a:p>
          <a:p>
            <a:pPr marL="693957" lvl="1" indent="-259479" algn="just">
              <a:spcBef>
                <a:spcPts val="499"/>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r>
              <a:rPr lang="en-US" sz="2000" dirty="0" smtClean="0">
                <a:solidFill>
                  <a:srgbClr val="0070C0"/>
                </a:solidFill>
                <a:latin typeface="+mn-lt"/>
              </a:rPr>
              <a:t>Mice </a:t>
            </a:r>
            <a:r>
              <a:rPr lang="en-US" sz="2000" dirty="0" smtClean="0">
                <a:solidFill>
                  <a:srgbClr val="0070C0"/>
                </a:solidFill>
                <a:latin typeface="+mn-lt"/>
              </a:rPr>
              <a:t>(</a:t>
            </a:r>
            <a:r>
              <a:rPr lang="en-US" sz="2000" dirty="0" smtClean="0">
                <a:solidFill>
                  <a:srgbClr val="0070C0"/>
                </a:solidFill>
                <a:latin typeface="+mn-lt"/>
              </a:rPr>
              <a:t>of comparable age and from the same  breeder) were assigned at random to each </a:t>
            </a:r>
            <a:r>
              <a:rPr lang="en-US" sz="2000" dirty="0" smtClean="0">
                <a:solidFill>
                  <a:srgbClr val="0070C0"/>
                </a:solidFill>
                <a:latin typeface="+mn-lt"/>
              </a:rPr>
              <a:t>combination of group and diet and </a:t>
            </a:r>
            <a:r>
              <a:rPr lang="en-US" sz="2000" dirty="0" smtClean="0">
                <a:solidFill>
                  <a:srgbClr val="0070C0"/>
                </a:solidFill>
                <a:latin typeface="+mn-lt"/>
              </a:rPr>
              <a:t>after an appropriate time the mice were bled and the </a:t>
            </a:r>
            <a:r>
              <a:rPr lang="en-US" sz="2000" dirty="0" smtClean="0">
                <a:solidFill>
                  <a:srgbClr val="0070C0"/>
                </a:solidFill>
                <a:latin typeface="+mn-lt"/>
              </a:rPr>
              <a:t>WBCC were </a:t>
            </a:r>
            <a:r>
              <a:rPr lang="en-US" sz="2000" dirty="0" smtClean="0">
                <a:solidFill>
                  <a:srgbClr val="0070C0"/>
                </a:solidFill>
                <a:latin typeface="+mn-lt"/>
              </a:rPr>
              <a:t>obtained </a:t>
            </a:r>
          </a:p>
          <a:p>
            <a:pPr marL="346978" indent="-346978" algn="just">
              <a:spcBef>
                <a:spcPts val="546"/>
              </a:spcBef>
              <a:buFont typeface="Arial Unicode MS" pitchFamily="32" charset="0"/>
              <a:buChar char="•"/>
              <a:tabLst>
                <a:tab pos="346978" algn="l"/>
                <a:tab pos="772404" algn="l"/>
                <a:tab pos="1199338" algn="l"/>
                <a:tab pos="1626272" algn="l"/>
                <a:tab pos="2053207" algn="l"/>
                <a:tab pos="2480140" algn="l"/>
                <a:tab pos="2907075" algn="l"/>
                <a:tab pos="3334009" algn="l"/>
                <a:tab pos="3760943" algn="l"/>
                <a:tab pos="4187877" algn="l"/>
                <a:tab pos="4614812" algn="l"/>
                <a:tab pos="5041745" algn="l"/>
                <a:tab pos="5468680" algn="l"/>
                <a:tab pos="5895614" algn="l"/>
                <a:tab pos="6322548" algn="l"/>
                <a:tab pos="6749482" algn="l"/>
                <a:tab pos="7176417" algn="l"/>
                <a:tab pos="7603350" algn="l"/>
                <a:tab pos="8030285" algn="l"/>
                <a:tab pos="8457219" algn="l"/>
                <a:tab pos="8884153" algn="l"/>
              </a:tabLst>
            </a:pPr>
            <a:endParaRPr lang="en-US" sz="2200" dirty="0" smtClean="0">
              <a:solidFill>
                <a:srgbClr val="0070C0"/>
              </a:solidFill>
              <a:latin typeface="Arial Unicode MS" pitchFamily="32" charset="0"/>
            </a:endParaRPr>
          </a:p>
        </p:txBody>
      </p:sp>
      <p:sp>
        <p:nvSpPr>
          <p:cNvPr id="4" name="Text Box 1"/>
          <p:cNvSpPr txBox="1">
            <a:spLocks noChangeArrowheads="1"/>
          </p:cNvSpPr>
          <p:nvPr/>
        </p:nvSpPr>
        <p:spPr bwMode="auto">
          <a:xfrm>
            <a:off x="721906"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Factorial Design</a:t>
            </a:r>
            <a:endParaRPr lang="en-US" sz="2800" dirty="0">
              <a:solidFill>
                <a:srgbClr val="C00000"/>
              </a:solidFill>
              <a:latin typeface="+mn-lt"/>
            </a:endParaRPr>
          </a:p>
        </p:txBody>
      </p:sp>
      <p:sp>
        <p:nvSpPr>
          <p:cNvPr id="5" name="4 CuadroTexto"/>
          <p:cNvSpPr txBox="1"/>
          <p:nvPr/>
        </p:nvSpPr>
        <p:spPr>
          <a:xfrm>
            <a:off x="201706" y="1358153"/>
            <a:ext cx="8283388" cy="461665"/>
          </a:xfrm>
          <a:prstGeom prst="rect">
            <a:avLst/>
          </a:prstGeom>
          <a:noFill/>
        </p:spPr>
        <p:txBody>
          <a:bodyPr wrap="square" rtlCol="0">
            <a:spAutoFit/>
          </a:bodyPr>
          <a:lstStyle/>
          <a:p>
            <a:pPr algn="just"/>
            <a:r>
              <a:rPr lang="en-US" sz="2400" dirty="0" smtClean="0">
                <a:solidFill>
                  <a:srgbClr val="0070C0"/>
                </a:solidFill>
                <a:latin typeface="+mn-lt"/>
              </a:rPr>
              <a:t>Factorial design Example 1. Effect of </a:t>
            </a:r>
            <a:r>
              <a:rPr lang="en-US" sz="2400" dirty="0" smtClean="0">
                <a:solidFill>
                  <a:srgbClr val="0070C0"/>
                </a:solidFill>
                <a:latin typeface="+mn-lt"/>
              </a:rPr>
              <a:t>Chloramphenicol and diet.</a:t>
            </a:r>
            <a:endParaRPr lang="en-US" sz="2400" dirty="0" smtClean="0">
              <a:solidFill>
                <a:srgbClr val="0070C0"/>
              </a:solidFill>
              <a:latin typeface="+mn-lt"/>
            </a:endParaRPr>
          </a:p>
        </p:txBody>
      </p:sp>
      <p:pic>
        <p:nvPicPr>
          <p:cNvPr id="9218" name="Picture 2" descr="Un roedor "/>
          <p:cNvPicPr>
            <a:picLocks noChangeAspect="1" noChangeArrowheads="1"/>
          </p:cNvPicPr>
          <p:nvPr/>
        </p:nvPicPr>
        <p:blipFill>
          <a:blip r:embed="rId3" cstate="print"/>
          <a:srcRect/>
          <a:stretch>
            <a:fillRect/>
          </a:stretch>
        </p:blipFill>
        <p:spPr bwMode="auto">
          <a:xfrm>
            <a:off x="6408457" y="2103437"/>
            <a:ext cx="3048000" cy="3759482"/>
          </a:xfrm>
          <a:prstGeom prst="rect">
            <a:avLst/>
          </a:prstGeom>
          <a:noFill/>
        </p:spPr>
      </p:pic>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406" name="4 Rectángulo"/>
          <p:cNvSpPr>
            <a:spLocks noChangeArrowheads="1"/>
          </p:cNvSpPr>
          <p:nvPr/>
        </p:nvSpPr>
        <p:spPr bwMode="auto">
          <a:xfrm>
            <a:off x="4954560" y="1527567"/>
            <a:ext cx="4951440" cy="5027558"/>
          </a:xfrm>
          <a:prstGeom prst="rect">
            <a:avLst/>
          </a:prstGeom>
          <a:noFill/>
          <a:ln w="9525">
            <a:noFill/>
            <a:miter lim="800000"/>
            <a:headEnd/>
            <a:tailEnd/>
          </a:ln>
        </p:spPr>
        <p:txBody>
          <a:bodyPr lIns="86895" tIns="43448" rIns="86895" bIns="43448">
            <a:spAutoFit/>
          </a:bodyPr>
          <a:lstStyle/>
          <a:p>
            <a:pPr>
              <a:tabLst>
                <a:tab pos="712788" algn="l"/>
                <a:tab pos="1789113" algn="l"/>
                <a:tab pos="2689225" algn="l"/>
                <a:tab pos="3670300" algn="l"/>
              </a:tabLst>
            </a:pPr>
            <a:r>
              <a:rPr lang="en-US" sz="1600" b="1" dirty="0" smtClean="0">
                <a:solidFill>
                  <a:srgbClr val="0070C0"/>
                </a:solidFill>
                <a:latin typeface="Courier New" pitchFamily="49" charset="0"/>
                <a:cs typeface="Courier New" pitchFamily="49" charset="0"/>
              </a:rPr>
              <a:t>#	Replica	</a:t>
            </a:r>
            <a:r>
              <a:rPr lang="en-US" sz="1600" b="1" dirty="0" err="1" smtClean="0">
                <a:solidFill>
                  <a:srgbClr val="0070C0"/>
                </a:solidFill>
                <a:latin typeface="Courier New" pitchFamily="49" charset="0"/>
                <a:cs typeface="Courier New" pitchFamily="49" charset="0"/>
              </a:rPr>
              <a:t>Trx</a:t>
            </a:r>
            <a:r>
              <a:rPr lang="en-US" sz="1600" b="1" dirty="0" smtClean="0">
                <a:solidFill>
                  <a:srgbClr val="0070C0"/>
                </a:solidFill>
                <a:latin typeface="Courier New" pitchFamily="49" charset="0"/>
                <a:cs typeface="Courier New" pitchFamily="49" charset="0"/>
              </a:rPr>
              <a:t>    	</a:t>
            </a:r>
            <a:r>
              <a:rPr lang="en-US" sz="1600" b="1" dirty="0">
                <a:solidFill>
                  <a:srgbClr val="0070C0"/>
                </a:solidFill>
                <a:latin typeface="Courier New" pitchFamily="49" charset="0"/>
                <a:cs typeface="Courier New" pitchFamily="49" charset="0"/>
              </a:rPr>
              <a:t>D</a:t>
            </a:r>
            <a:r>
              <a:rPr lang="en-US" sz="1600" b="1" dirty="0" smtClean="0">
                <a:solidFill>
                  <a:srgbClr val="0070C0"/>
                </a:solidFill>
                <a:latin typeface="Courier New" pitchFamily="49" charset="0"/>
                <a:cs typeface="Courier New" pitchFamily="49" charset="0"/>
              </a:rPr>
              <a:t>iet</a:t>
            </a:r>
            <a:r>
              <a:rPr lang="en-US" sz="1600" b="1" dirty="0" smtClean="0">
                <a:solidFill>
                  <a:srgbClr val="0070C0"/>
                </a:solidFill>
                <a:latin typeface="Courier New" pitchFamily="49" charset="0"/>
                <a:cs typeface="Courier New" pitchFamily="49" charset="0"/>
              </a:rPr>
              <a:t>	WBC</a:t>
            </a:r>
            <a:endParaRPr lang="en-US" sz="1600" b="1"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        1     Control  CD1 </a:t>
            </a:r>
            <a:r>
              <a:rPr lang="en-US" sz="1500" dirty="0" smtClean="0">
                <a:solidFill>
                  <a:srgbClr val="0070C0"/>
                </a:solidFill>
                <a:latin typeface="Courier New" pitchFamily="49" charset="0"/>
                <a:cs typeface="Courier New" pitchFamily="49" charset="0"/>
              </a:rPr>
              <a:t>	3.0</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2        2     Control  CD1 </a:t>
            </a:r>
            <a:r>
              <a:rPr lang="en-US" sz="1500" dirty="0" smtClean="0">
                <a:solidFill>
                  <a:srgbClr val="0070C0"/>
                </a:solidFill>
                <a:latin typeface="Courier New" pitchFamily="49" charset="0"/>
                <a:cs typeface="Courier New" pitchFamily="49" charset="0"/>
              </a:rPr>
              <a:t>	1.7</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3        3     Control  CD1 </a:t>
            </a:r>
            <a:r>
              <a:rPr lang="en-US" sz="1500" dirty="0" smtClean="0">
                <a:solidFill>
                  <a:srgbClr val="0070C0"/>
                </a:solidFill>
                <a:latin typeface="Courier New" pitchFamily="49" charset="0"/>
                <a:cs typeface="Courier New" pitchFamily="49" charset="0"/>
              </a:rPr>
              <a:t>	1.5</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4        4     Control  CD1 </a:t>
            </a:r>
            <a:r>
              <a:rPr lang="en-US" sz="1500" dirty="0" smtClean="0">
                <a:solidFill>
                  <a:srgbClr val="0070C0"/>
                </a:solidFill>
                <a:latin typeface="Courier New" pitchFamily="49" charset="0"/>
                <a:cs typeface="Courier New" pitchFamily="49" charset="0"/>
              </a:rPr>
              <a:t>	2.0</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5        5     Control  </a:t>
            </a:r>
            <a:r>
              <a:rPr lang="en-US" sz="1500" dirty="0" smtClean="0">
                <a:solidFill>
                  <a:srgbClr val="0070C0"/>
                </a:solidFill>
                <a:latin typeface="Courier New" pitchFamily="49" charset="0"/>
                <a:cs typeface="Courier New" pitchFamily="49" charset="0"/>
              </a:rPr>
              <a:t>CD1	2.1</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6        1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a:t>
            </a:r>
            <a:r>
              <a:rPr lang="en-US" sz="1500" dirty="0">
                <a:solidFill>
                  <a:srgbClr val="0070C0"/>
                </a:solidFill>
                <a:latin typeface="Courier New" pitchFamily="49" charset="0"/>
                <a:cs typeface="Courier New" pitchFamily="49" charset="0"/>
              </a:rPr>
              <a:t>CD1 </a:t>
            </a:r>
            <a:r>
              <a:rPr lang="en-US" sz="1500" dirty="0" smtClean="0">
                <a:solidFill>
                  <a:srgbClr val="0070C0"/>
                </a:solidFill>
                <a:latin typeface="Courier New" pitchFamily="49" charset="0"/>
                <a:cs typeface="Courier New" pitchFamily="49" charset="0"/>
              </a:rPr>
              <a:t>	1.9</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7        2 </a:t>
            </a:r>
            <a:r>
              <a:rPr lang="en-US" sz="1500" dirty="0" smtClean="0">
                <a:solidFill>
                  <a:srgbClr val="0070C0"/>
                </a:solidFill>
                <a:latin typeface="Courier New" pitchFamily="49" charset="0"/>
                <a:cs typeface="Courier New" pitchFamily="49" charset="0"/>
              </a:rPr>
              <a:t>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CD1 	1.9</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8        3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a:t>
            </a:r>
            <a:r>
              <a:rPr lang="en-US" sz="1500" dirty="0">
                <a:solidFill>
                  <a:srgbClr val="0070C0"/>
                </a:solidFill>
                <a:latin typeface="Courier New" pitchFamily="49" charset="0"/>
                <a:cs typeface="Courier New" pitchFamily="49" charset="0"/>
              </a:rPr>
              <a:t>CD1 </a:t>
            </a:r>
            <a:r>
              <a:rPr lang="en-US" sz="1500" dirty="0" smtClean="0">
                <a:solidFill>
                  <a:srgbClr val="0070C0"/>
                </a:solidFill>
                <a:latin typeface="Courier New" pitchFamily="49" charset="0"/>
                <a:cs typeface="Courier New" pitchFamily="49" charset="0"/>
              </a:rPr>
              <a:t>	3.5</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9        4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a:t>
            </a:r>
            <a:r>
              <a:rPr lang="en-US" sz="1500" dirty="0">
                <a:solidFill>
                  <a:srgbClr val="0070C0"/>
                </a:solidFill>
                <a:latin typeface="Courier New" pitchFamily="49" charset="0"/>
                <a:cs typeface="Courier New" pitchFamily="49" charset="0"/>
              </a:rPr>
              <a:t>CD1 </a:t>
            </a:r>
            <a:r>
              <a:rPr lang="en-US" sz="1500" dirty="0" smtClean="0">
                <a:solidFill>
                  <a:srgbClr val="0070C0"/>
                </a:solidFill>
                <a:latin typeface="Courier New" pitchFamily="49" charset="0"/>
                <a:cs typeface="Courier New" pitchFamily="49" charset="0"/>
              </a:rPr>
              <a:t>	1.2</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10       5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a:t>
            </a:r>
            <a:r>
              <a:rPr lang="en-US" sz="1500" dirty="0">
                <a:solidFill>
                  <a:srgbClr val="0070C0"/>
                </a:solidFill>
                <a:latin typeface="Courier New" pitchFamily="49" charset="0"/>
                <a:cs typeface="Courier New" pitchFamily="49" charset="0"/>
              </a:rPr>
              <a:t>CD1 </a:t>
            </a:r>
            <a:r>
              <a:rPr lang="en-US" sz="1500" dirty="0" smtClean="0">
                <a:solidFill>
                  <a:srgbClr val="0070C0"/>
                </a:solidFill>
                <a:latin typeface="Courier New" pitchFamily="49" charset="0"/>
                <a:cs typeface="Courier New" pitchFamily="49" charset="0"/>
              </a:rPr>
              <a:t>	2.3</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11       1     Control  CBA </a:t>
            </a:r>
            <a:r>
              <a:rPr lang="en-US" sz="1500" dirty="0" smtClean="0">
                <a:solidFill>
                  <a:srgbClr val="0070C0"/>
                </a:solidFill>
                <a:latin typeface="Courier New" pitchFamily="49" charset="0"/>
                <a:cs typeface="Courier New" pitchFamily="49" charset="0"/>
              </a:rPr>
              <a:t>	1.9</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12       2     Control  CBA </a:t>
            </a:r>
            <a:r>
              <a:rPr lang="en-US" sz="1500" dirty="0" smtClean="0">
                <a:solidFill>
                  <a:srgbClr val="0070C0"/>
                </a:solidFill>
                <a:latin typeface="Courier New" pitchFamily="49" charset="0"/>
                <a:cs typeface="Courier New" pitchFamily="49" charset="0"/>
              </a:rPr>
              <a:t>	2.6</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13       3     Control  CBA </a:t>
            </a:r>
            <a:r>
              <a:rPr lang="en-US" sz="1500" dirty="0" smtClean="0">
                <a:solidFill>
                  <a:srgbClr val="0070C0"/>
                </a:solidFill>
                <a:latin typeface="Courier New" pitchFamily="49" charset="0"/>
                <a:cs typeface="Courier New" pitchFamily="49" charset="0"/>
              </a:rPr>
              <a:t>	1.4</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14       4     Control  CBA </a:t>
            </a:r>
            <a:r>
              <a:rPr lang="en-US" sz="1500" dirty="0" smtClean="0">
                <a:solidFill>
                  <a:srgbClr val="0070C0"/>
                </a:solidFill>
                <a:latin typeface="Courier New" pitchFamily="49" charset="0"/>
                <a:cs typeface="Courier New" pitchFamily="49" charset="0"/>
              </a:rPr>
              <a:t>	1.6</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15       5     Control  CBA </a:t>
            </a:r>
            <a:r>
              <a:rPr lang="en-US" sz="1500" dirty="0" smtClean="0">
                <a:solidFill>
                  <a:srgbClr val="0070C0"/>
                </a:solidFill>
                <a:latin typeface="Courier New" pitchFamily="49" charset="0"/>
                <a:cs typeface="Courier New" pitchFamily="49" charset="0"/>
              </a:rPr>
              <a:t>	1.1</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16       1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a:t>
            </a:r>
            <a:r>
              <a:rPr lang="en-US" sz="1500" dirty="0">
                <a:solidFill>
                  <a:srgbClr val="0070C0"/>
                </a:solidFill>
                <a:latin typeface="Courier New" pitchFamily="49" charset="0"/>
                <a:cs typeface="Courier New" pitchFamily="49" charset="0"/>
              </a:rPr>
              <a:t>CBA </a:t>
            </a:r>
            <a:r>
              <a:rPr lang="en-US" sz="1500" dirty="0" smtClean="0">
                <a:solidFill>
                  <a:srgbClr val="0070C0"/>
                </a:solidFill>
                <a:latin typeface="Courier New" pitchFamily="49" charset="0"/>
                <a:cs typeface="Courier New" pitchFamily="49" charset="0"/>
              </a:rPr>
              <a:t>	0.4</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17       2 </a:t>
            </a:r>
            <a:r>
              <a:rPr lang="en-US" sz="1500" dirty="0" smtClean="0">
                <a:solidFill>
                  <a:srgbClr val="0070C0"/>
                </a:solidFill>
                <a:latin typeface="Courier New" pitchFamily="49" charset="0"/>
                <a:cs typeface="Courier New" pitchFamily="49" charset="0"/>
              </a:rPr>
              <a:t>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CBA 	0.2</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18       3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a:t>
            </a:r>
            <a:r>
              <a:rPr lang="en-US" sz="1500" dirty="0">
                <a:solidFill>
                  <a:srgbClr val="0070C0"/>
                </a:solidFill>
                <a:latin typeface="Courier New" pitchFamily="49" charset="0"/>
                <a:cs typeface="Courier New" pitchFamily="49" charset="0"/>
              </a:rPr>
              <a:t>CBA </a:t>
            </a:r>
            <a:r>
              <a:rPr lang="en-US" sz="1500" dirty="0" smtClean="0">
                <a:solidFill>
                  <a:srgbClr val="0070C0"/>
                </a:solidFill>
                <a:latin typeface="Courier New" pitchFamily="49" charset="0"/>
                <a:cs typeface="Courier New" pitchFamily="49" charset="0"/>
              </a:rPr>
              <a:t>	0.1</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19       4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a:t>
            </a:r>
            <a:r>
              <a:rPr lang="en-US" sz="1500" dirty="0">
                <a:solidFill>
                  <a:srgbClr val="0070C0"/>
                </a:solidFill>
                <a:latin typeface="Courier New" pitchFamily="49" charset="0"/>
                <a:cs typeface="Courier New" pitchFamily="49" charset="0"/>
              </a:rPr>
              <a:t>CBA </a:t>
            </a:r>
            <a:r>
              <a:rPr lang="en-US" sz="1500" dirty="0" smtClean="0">
                <a:solidFill>
                  <a:srgbClr val="0070C0"/>
                </a:solidFill>
                <a:latin typeface="Courier New" pitchFamily="49" charset="0"/>
                <a:cs typeface="Courier New" pitchFamily="49" charset="0"/>
              </a:rPr>
              <a:t>	0.4</a:t>
            </a:r>
            <a:endParaRPr lang="en-US" sz="1500" dirty="0">
              <a:solidFill>
                <a:srgbClr val="0070C0"/>
              </a:solidFill>
              <a:latin typeface="Courier New" pitchFamily="49" charset="0"/>
              <a:cs typeface="Courier New" pitchFamily="49" charset="0"/>
            </a:endParaRPr>
          </a:p>
          <a:p>
            <a:r>
              <a:rPr lang="en-US" sz="1500" dirty="0">
                <a:solidFill>
                  <a:srgbClr val="0070C0"/>
                </a:solidFill>
                <a:latin typeface="Courier New" pitchFamily="49" charset="0"/>
                <a:cs typeface="Courier New" pitchFamily="49" charset="0"/>
              </a:rPr>
              <a:t>20       5        </a:t>
            </a:r>
            <a:r>
              <a:rPr lang="en-US" sz="1500" dirty="0" err="1" smtClean="0">
                <a:solidFill>
                  <a:srgbClr val="0070C0"/>
                </a:solidFill>
                <a:latin typeface="Courier New" pitchFamily="49" charset="0"/>
                <a:cs typeface="Courier New" pitchFamily="49" charset="0"/>
              </a:rPr>
              <a:t>Trx</a:t>
            </a:r>
            <a:r>
              <a:rPr lang="en-US" sz="1500" dirty="0" smtClean="0">
                <a:solidFill>
                  <a:srgbClr val="0070C0"/>
                </a:solidFill>
                <a:latin typeface="Courier New" pitchFamily="49" charset="0"/>
                <a:cs typeface="Courier New" pitchFamily="49" charset="0"/>
              </a:rPr>
              <a:t>   </a:t>
            </a:r>
            <a:r>
              <a:rPr lang="en-US" sz="1500" dirty="0">
                <a:solidFill>
                  <a:srgbClr val="0070C0"/>
                </a:solidFill>
                <a:latin typeface="Courier New" pitchFamily="49" charset="0"/>
                <a:cs typeface="Courier New" pitchFamily="49" charset="0"/>
              </a:rPr>
              <a:t>CBA </a:t>
            </a:r>
            <a:r>
              <a:rPr lang="en-US" sz="1500" dirty="0" smtClean="0">
                <a:solidFill>
                  <a:srgbClr val="0070C0"/>
                </a:solidFill>
                <a:latin typeface="Courier New" pitchFamily="49" charset="0"/>
                <a:cs typeface="Courier New" pitchFamily="49" charset="0"/>
              </a:rPr>
              <a:t>	0.3</a:t>
            </a:r>
            <a:endParaRPr lang="en-US" sz="1500" dirty="0">
              <a:solidFill>
                <a:srgbClr val="0070C0"/>
              </a:solidFill>
              <a:latin typeface="Courier New" pitchFamily="49" charset="0"/>
              <a:cs typeface="Courier New" pitchFamily="49" charset="0"/>
            </a:endParaRPr>
          </a:p>
        </p:txBody>
      </p:sp>
      <p:sp>
        <p:nvSpPr>
          <p:cNvPr id="6" name="Text Box 1"/>
          <p:cNvSpPr txBox="1">
            <a:spLocks noChangeArrowheads="1"/>
          </p:cNvSpPr>
          <p:nvPr/>
        </p:nvSpPr>
        <p:spPr bwMode="auto">
          <a:xfrm>
            <a:off x="412624"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Factorial Design</a:t>
            </a:r>
            <a:endParaRPr lang="en-US" sz="2800" dirty="0">
              <a:solidFill>
                <a:srgbClr val="C00000"/>
              </a:solidFill>
              <a:latin typeface="+mn-lt"/>
            </a:endParaRPr>
          </a:p>
        </p:txBody>
      </p:sp>
      <p:graphicFrame>
        <p:nvGraphicFramePr>
          <p:cNvPr id="5" name="4 Tabla"/>
          <p:cNvGraphicFramePr>
            <a:graphicFrameLocks noGrp="1"/>
          </p:cNvGraphicFramePr>
          <p:nvPr>
            <p:extLst>
              <p:ext uri="{D42A27DB-BD31-4B8C-83A1-F6EECF244321}">
                <p14:modId xmlns:p14="http://schemas.microsoft.com/office/powerpoint/2010/main" val="2636849062"/>
              </p:ext>
            </p:extLst>
          </p:nvPr>
        </p:nvGraphicFramePr>
        <p:xfrm>
          <a:off x="285750" y="2094411"/>
          <a:ext cx="4111438" cy="3741612"/>
        </p:xfrm>
        <a:graphic>
          <a:graphicData uri="http://schemas.openxmlformats.org/drawingml/2006/table">
            <a:tbl>
              <a:tblPr/>
              <a:tblGrid>
                <a:gridCol w="1581322"/>
                <a:gridCol w="1265058"/>
                <a:gridCol w="1265058"/>
              </a:tblGrid>
              <a:tr h="333647">
                <a:tc rowSpan="2">
                  <a:txBody>
                    <a:bodyPr/>
                    <a:lstStyle/>
                    <a:p>
                      <a:pPr algn="ctr" rtl="0" fontAlgn="b"/>
                      <a:r>
                        <a:rPr lang="es-ES" sz="1500" b="1" i="0" u="none" strike="noStrike" dirty="0" err="1">
                          <a:solidFill>
                            <a:srgbClr val="0070C0"/>
                          </a:solidFill>
                          <a:latin typeface="Calibri"/>
                        </a:rPr>
                        <a:t>Treatment</a:t>
                      </a:r>
                      <a:endParaRPr lang="es-ES" sz="1500" b="1" i="0" u="none" strike="noStrike" dirty="0">
                        <a:solidFill>
                          <a:srgbClr val="0070C0"/>
                        </a:solidFill>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ctr" fontAlgn="b"/>
                      <a:r>
                        <a:rPr lang="es-ES" sz="1600" b="1" i="0" u="none" strike="noStrike" dirty="0" err="1" smtClean="0">
                          <a:solidFill>
                            <a:srgbClr val="0070C0"/>
                          </a:solidFill>
                          <a:latin typeface="Calibri"/>
                        </a:rPr>
                        <a:t>Diet</a:t>
                      </a:r>
                      <a:endParaRPr lang="es-ES" sz="1600" b="1" i="0" u="none" strike="noStrike" dirty="0">
                        <a:solidFill>
                          <a:srgbClr val="0070C0"/>
                        </a:solidFill>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hMerge="1">
                  <a:txBody>
                    <a:bodyPr/>
                    <a:lstStyle/>
                    <a:p>
                      <a:endParaRPr lang="ca-ES"/>
                    </a:p>
                  </a:txBody>
                  <a:tcPr/>
                </a:tc>
              </a:tr>
              <a:tr h="309815">
                <a:tc vMerge="1">
                  <a:txBody>
                    <a:bodyPr/>
                    <a:lstStyle/>
                    <a:p>
                      <a:endParaRPr lang="ca-ES"/>
                    </a:p>
                  </a:txBody>
                  <a:tcPr/>
                </a:tc>
                <a:tc>
                  <a:txBody>
                    <a:bodyPr/>
                    <a:lstStyle/>
                    <a:p>
                      <a:pPr algn="ctr" rtl="0" fontAlgn="b"/>
                      <a:r>
                        <a:rPr lang="es-ES" sz="1500" b="1" i="0" u="none" strike="noStrike">
                          <a:solidFill>
                            <a:srgbClr val="0070C0"/>
                          </a:solidFill>
                          <a:latin typeface="Calibri"/>
                        </a:rPr>
                        <a:t>CD-1</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ES" sz="1500" b="1" i="0" u="none" strike="noStrike" dirty="0">
                          <a:solidFill>
                            <a:srgbClr val="0070C0"/>
                          </a:solidFill>
                          <a:latin typeface="Calibri"/>
                        </a:rPr>
                        <a:t>CBA</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9815">
                <a:tc>
                  <a:txBody>
                    <a:bodyPr/>
                    <a:lstStyle/>
                    <a:p>
                      <a:pPr algn="ctr" rtl="0" fontAlgn="b"/>
                      <a:r>
                        <a:rPr lang="es-ES" sz="1500" b="0" i="0" u="none" strike="noStrike">
                          <a:solidFill>
                            <a:srgbClr val="0070C0"/>
                          </a:solidFill>
                          <a:latin typeface="Calibri"/>
                        </a:rPr>
                        <a:t>C</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rtl="0" fontAlgn="b"/>
                      <a:r>
                        <a:rPr lang="es-ES" sz="1500" b="0" i="0" u="none" strike="noStrike" dirty="0">
                          <a:solidFill>
                            <a:srgbClr val="0070C0"/>
                          </a:solidFill>
                          <a:latin typeface="Calibri"/>
                        </a:rPr>
                        <a:t>3</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rtl="0" fontAlgn="b"/>
                      <a:r>
                        <a:rPr lang="es-ES" sz="1500" b="0" i="0" u="none" strike="noStrike">
                          <a:solidFill>
                            <a:srgbClr val="0070C0"/>
                          </a:solidFill>
                          <a:latin typeface="Calibri"/>
                        </a:rPr>
                        <a:t>1.9</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r>
              <a:tr h="309815">
                <a:tc>
                  <a:txBody>
                    <a:bodyPr/>
                    <a:lstStyle/>
                    <a:p>
                      <a:pPr algn="ctr" rtl="0" fontAlgn="b"/>
                      <a:r>
                        <a:rPr lang="es-ES" sz="1500" b="0" i="0" u="none" strike="noStrike">
                          <a:solidFill>
                            <a:srgbClr val="0070C0"/>
                          </a:solidFill>
                          <a:latin typeface="Calibri"/>
                        </a:rPr>
                        <a:t>C</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1.7</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a:solidFill>
                            <a:srgbClr val="0070C0"/>
                          </a:solidFill>
                          <a:latin typeface="Calibri"/>
                        </a:rPr>
                        <a:t>2.6</a:t>
                      </a:r>
                    </a:p>
                  </a:txBody>
                  <a:tcPr marL="9525" marR="9525" marT="9525" marB="0" anchor="b">
                    <a:lnL>
                      <a:noFill/>
                    </a:lnL>
                    <a:lnR>
                      <a:noFill/>
                    </a:lnR>
                    <a:lnT>
                      <a:noFill/>
                    </a:lnT>
                    <a:lnB>
                      <a:noFill/>
                    </a:lnB>
                  </a:tcPr>
                </a:tc>
              </a:tr>
              <a:tr h="309815">
                <a:tc>
                  <a:txBody>
                    <a:bodyPr/>
                    <a:lstStyle/>
                    <a:p>
                      <a:pPr algn="ctr" rtl="0" fontAlgn="b"/>
                      <a:r>
                        <a:rPr lang="es-ES" sz="1500" b="0" i="0" u="none" strike="noStrike">
                          <a:solidFill>
                            <a:srgbClr val="0070C0"/>
                          </a:solidFill>
                          <a:latin typeface="Calibri"/>
                        </a:rPr>
                        <a:t>C</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1.5</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a:solidFill>
                            <a:srgbClr val="0070C0"/>
                          </a:solidFill>
                          <a:latin typeface="Calibri"/>
                        </a:rPr>
                        <a:t>1.4</a:t>
                      </a:r>
                    </a:p>
                  </a:txBody>
                  <a:tcPr marL="9525" marR="9525" marT="9525" marB="0" anchor="b">
                    <a:lnL>
                      <a:noFill/>
                    </a:lnL>
                    <a:lnR>
                      <a:noFill/>
                    </a:lnR>
                    <a:lnT>
                      <a:noFill/>
                    </a:lnT>
                    <a:lnB>
                      <a:noFill/>
                    </a:lnB>
                  </a:tcPr>
                </a:tc>
              </a:tr>
              <a:tr h="309815">
                <a:tc>
                  <a:txBody>
                    <a:bodyPr/>
                    <a:lstStyle/>
                    <a:p>
                      <a:pPr algn="ctr" rtl="0" fontAlgn="b"/>
                      <a:r>
                        <a:rPr lang="es-ES" sz="1500" b="0" i="0" u="none" strike="noStrike">
                          <a:solidFill>
                            <a:srgbClr val="0070C0"/>
                          </a:solidFill>
                          <a:latin typeface="Calibri"/>
                        </a:rPr>
                        <a:t>C</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2</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a:solidFill>
                            <a:srgbClr val="0070C0"/>
                          </a:solidFill>
                          <a:latin typeface="Calibri"/>
                        </a:rPr>
                        <a:t>1.6</a:t>
                      </a:r>
                    </a:p>
                  </a:txBody>
                  <a:tcPr marL="9525" marR="9525" marT="9525" marB="0" anchor="b">
                    <a:lnL>
                      <a:noFill/>
                    </a:lnL>
                    <a:lnR>
                      <a:noFill/>
                    </a:lnR>
                    <a:lnT>
                      <a:noFill/>
                    </a:lnT>
                    <a:lnB>
                      <a:noFill/>
                    </a:lnB>
                  </a:tcPr>
                </a:tc>
              </a:tr>
              <a:tr h="309815">
                <a:tc>
                  <a:txBody>
                    <a:bodyPr/>
                    <a:lstStyle/>
                    <a:p>
                      <a:pPr algn="ctr" rtl="0" fontAlgn="b"/>
                      <a:r>
                        <a:rPr lang="es-ES" sz="1500" b="0" i="0" u="none" strike="noStrike">
                          <a:solidFill>
                            <a:srgbClr val="0070C0"/>
                          </a:solidFill>
                          <a:latin typeface="Calibri"/>
                        </a:rPr>
                        <a:t>C</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2.1</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a:solidFill>
                            <a:srgbClr val="0070C0"/>
                          </a:solidFill>
                          <a:latin typeface="Calibri"/>
                        </a:rPr>
                        <a:t>1.1</a:t>
                      </a:r>
                    </a:p>
                  </a:txBody>
                  <a:tcPr marL="9525" marR="9525" marT="9525" marB="0" anchor="b">
                    <a:lnL>
                      <a:noFill/>
                    </a:lnL>
                    <a:lnR>
                      <a:noFill/>
                    </a:lnR>
                    <a:lnT>
                      <a:noFill/>
                    </a:lnT>
                    <a:lnB>
                      <a:noFill/>
                    </a:lnB>
                  </a:tcPr>
                </a:tc>
              </a:tr>
              <a:tr h="309815">
                <a:tc>
                  <a:txBody>
                    <a:bodyPr/>
                    <a:lstStyle/>
                    <a:p>
                      <a:pPr algn="ctr" rtl="0" fontAlgn="b"/>
                      <a:r>
                        <a:rPr lang="es-ES" sz="1500" b="0" i="0" u="none" strike="noStrike">
                          <a:solidFill>
                            <a:srgbClr val="0070C0"/>
                          </a:solidFill>
                          <a:latin typeface="Calibri"/>
                        </a:rPr>
                        <a:t>T</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1.9</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a:solidFill>
                            <a:srgbClr val="0070C0"/>
                          </a:solidFill>
                          <a:latin typeface="Calibri"/>
                        </a:rPr>
                        <a:t>0.4</a:t>
                      </a:r>
                    </a:p>
                  </a:txBody>
                  <a:tcPr marL="9525" marR="9525" marT="9525" marB="0" anchor="b">
                    <a:lnL>
                      <a:noFill/>
                    </a:lnL>
                    <a:lnR>
                      <a:noFill/>
                    </a:lnR>
                    <a:lnT>
                      <a:noFill/>
                    </a:lnT>
                    <a:lnB>
                      <a:noFill/>
                    </a:lnB>
                  </a:tcPr>
                </a:tc>
              </a:tr>
              <a:tr h="309815">
                <a:tc>
                  <a:txBody>
                    <a:bodyPr/>
                    <a:lstStyle/>
                    <a:p>
                      <a:pPr algn="ctr" rtl="0" fontAlgn="b"/>
                      <a:r>
                        <a:rPr lang="es-ES" sz="1500" b="0" i="0" u="none" strike="noStrike">
                          <a:solidFill>
                            <a:srgbClr val="0070C0"/>
                          </a:solidFill>
                          <a:latin typeface="Calibri"/>
                        </a:rPr>
                        <a:t>T</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1.9</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a:solidFill>
                            <a:srgbClr val="0070C0"/>
                          </a:solidFill>
                          <a:latin typeface="Calibri"/>
                        </a:rPr>
                        <a:t>0.2</a:t>
                      </a:r>
                    </a:p>
                  </a:txBody>
                  <a:tcPr marL="9525" marR="9525" marT="9525" marB="0" anchor="b">
                    <a:lnL>
                      <a:noFill/>
                    </a:lnL>
                    <a:lnR>
                      <a:noFill/>
                    </a:lnR>
                    <a:lnT>
                      <a:noFill/>
                    </a:lnT>
                    <a:lnB>
                      <a:noFill/>
                    </a:lnB>
                  </a:tcPr>
                </a:tc>
              </a:tr>
              <a:tr h="309815">
                <a:tc>
                  <a:txBody>
                    <a:bodyPr/>
                    <a:lstStyle/>
                    <a:p>
                      <a:pPr algn="ctr" rtl="0" fontAlgn="b"/>
                      <a:r>
                        <a:rPr lang="es-ES" sz="1500" b="0" i="0" u="none" strike="noStrike">
                          <a:solidFill>
                            <a:srgbClr val="0070C0"/>
                          </a:solidFill>
                          <a:latin typeface="Calibri"/>
                        </a:rPr>
                        <a:t>T</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3.5</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a:solidFill>
                            <a:srgbClr val="0070C0"/>
                          </a:solidFill>
                          <a:latin typeface="Calibri"/>
                        </a:rPr>
                        <a:t>0.1</a:t>
                      </a:r>
                    </a:p>
                  </a:txBody>
                  <a:tcPr marL="9525" marR="9525" marT="9525" marB="0" anchor="b">
                    <a:lnL>
                      <a:noFill/>
                    </a:lnL>
                    <a:lnR>
                      <a:noFill/>
                    </a:lnR>
                    <a:lnT>
                      <a:noFill/>
                    </a:lnT>
                    <a:lnB>
                      <a:noFill/>
                    </a:lnB>
                  </a:tcPr>
                </a:tc>
              </a:tr>
              <a:tr h="309815">
                <a:tc>
                  <a:txBody>
                    <a:bodyPr/>
                    <a:lstStyle/>
                    <a:p>
                      <a:pPr algn="ctr" rtl="0" fontAlgn="b"/>
                      <a:r>
                        <a:rPr lang="es-ES" sz="1500" b="0" i="0" u="none" strike="noStrike">
                          <a:solidFill>
                            <a:srgbClr val="0070C0"/>
                          </a:solidFill>
                          <a:latin typeface="Calibri"/>
                        </a:rPr>
                        <a:t>T</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1.2</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a:solidFill>
                            <a:srgbClr val="0070C0"/>
                          </a:solidFill>
                          <a:latin typeface="Calibri"/>
                        </a:rPr>
                        <a:t>0.4</a:t>
                      </a:r>
                    </a:p>
                  </a:txBody>
                  <a:tcPr marL="9525" marR="9525" marT="9525" marB="0" anchor="b">
                    <a:lnL>
                      <a:noFill/>
                    </a:lnL>
                    <a:lnR>
                      <a:noFill/>
                    </a:lnR>
                    <a:lnT>
                      <a:noFill/>
                    </a:lnT>
                    <a:lnB>
                      <a:noFill/>
                    </a:lnB>
                  </a:tcPr>
                </a:tc>
              </a:tr>
              <a:tr h="309815">
                <a:tc>
                  <a:txBody>
                    <a:bodyPr/>
                    <a:lstStyle/>
                    <a:p>
                      <a:pPr algn="ctr" rtl="0" fontAlgn="b"/>
                      <a:r>
                        <a:rPr lang="es-ES" sz="1500" b="0" i="0" u="none" strike="noStrike">
                          <a:solidFill>
                            <a:srgbClr val="0070C0"/>
                          </a:solidFill>
                          <a:latin typeface="Calibri"/>
                        </a:rPr>
                        <a:t>T</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rtl="0" fontAlgn="b"/>
                      <a:r>
                        <a:rPr lang="es-ES" sz="1500" b="0" i="0" u="none" strike="noStrike">
                          <a:solidFill>
                            <a:srgbClr val="0070C0"/>
                          </a:solidFill>
                          <a:latin typeface="Calibri"/>
                        </a:rPr>
                        <a:t>2.3</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rtl="0" fontAlgn="b"/>
                      <a:r>
                        <a:rPr lang="es-ES" sz="1500" b="0" i="0" u="none" strike="noStrike" dirty="0">
                          <a:solidFill>
                            <a:srgbClr val="0070C0"/>
                          </a:solidFill>
                          <a:latin typeface="Calibri"/>
                        </a:rPr>
                        <a:t>0.3</a:t>
                      </a:r>
                    </a:p>
                  </a:txBody>
                  <a:tcPr marL="9525" marR="9525" marT="9525" marB="0" anchor="b">
                    <a:lnL>
                      <a:noFill/>
                    </a:lnL>
                    <a:lnR>
                      <a:noFill/>
                    </a:lnR>
                    <a:lnT>
                      <a:noFill/>
                    </a:lnT>
                    <a:lnB>
                      <a:noFill/>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
          <p:cNvSpPr txBox="1">
            <a:spLocks noChangeArrowheads="1"/>
          </p:cNvSpPr>
          <p:nvPr/>
        </p:nvSpPr>
        <p:spPr bwMode="auto">
          <a:xfrm>
            <a:off x="421860"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Factorial Design</a:t>
            </a:r>
            <a:endParaRPr lang="en-US" sz="2800" dirty="0">
              <a:solidFill>
                <a:srgbClr val="C00000"/>
              </a:solidFill>
              <a:latin typeface="+mn-lt"/>
            </a:endParaRPr>
          </a:p>
        </p:txBody>
      </p:sp>
      <p:sp>
        <p:nvSpPr>
          <p:cNvPr id="7" name="6 Rectángulo"/>
          <p:cNvSpPr/>
          <p:nvPr/>
        </p:nvSpPr>
        <p:spPr>
          <a:xfrm>
            <a:off x="632012" y="1676522"/>
            <a:ext cx="8444753" cy="4401205"/>
          </a:xfrm>
          <a:prstGeom prst="rect">
            <a:avLst/>
          </a:prstGeom>
        </p:spPr>
        <p:txBody>
          <a:bodyPr wrap="square">
            <a:spAutoFit/>
          </a:bodyPr>
          <a:lstStyle/>
          <a:p>
            <a:pPr algn="just"/>
            <a:r>
              <a:rPr lang="en-US" sz="2000" dirty="0" smtClean="0">
                <a:solidFill>
                  <a:srgbClr val="0070C0"/>
                </a:solidFill>
                <a:latin typeface="+mn-lt"/>
              </a:rPr>
              <a:t>A study was performed to study the effect of a drug and diet on systolic blood pressure.</a:t>
            </a:r>
          </a:p>
          <a:p>
            <a:pPr marL="712788" lvl="1" indent="-255588" algn="just"/>
            <a:r>
              <a:rPr lang="en-US" sz="2000" dirty="0" smtClean="0">
                <a:solidFill>
                  <a:srgbClr val="0070C0"/>
                </a:solidFill>
                <a:latin typeface="+mn-lt"/>
              </a:rPr>
              <a:t>• 20 individuals with high blood pressure were randomly assigned to one of four treatment conditions.</a:t>
            </a:r>
          </a:p>
          <a:p>
            <a:pPr marL="1169988" lvl="2" indent="-255588" algn="just"/>
            <a:r>
              <a:rPr lang="en-US" sz="2000" dirty="0" smtClean="0">
                <a:solidFill>
                  <a:srgbClr val="0070C0"/>
                </a:solidFill>
                <a:latin typeface="+mn-lt"/>
              </a:rPr>
              <a:t>• Control group (Neither drug nor diet modification)</a:t>
            </a:r>
          </a:p>
          <a:p>
            <a:pPr marL="1169988" lvl="2" indent="-255588" algn="just"/>
            <a:r>
              <a:rPr lang="en-US" sz="2000" dirty="0" smtClean="0">
                <a:solidFill>
                  <a:srgbClr val="0070C0"/>
                </a:solidFill>
                <a:latin typeface="+mn-lt"/>
              </a:rPr>
              <a:t>• Diet modification only</a:t>
            </a:r>
          </a:p>
          <a:p>
            <a:pPr marL="1169988" lvl="2" indent="-255588" algn="just"/>
            <a:r>
              <a:rPr lang="en-US" sz="2000" dirty="0" smtClean="0">
                <a:solidFill>
                  <a:srgbClr val="0070C0"/>
                </a:solidFill>
                <a:latin typeface="+mn-lt"/>
              </a:rPr>
              <a:t>• Drug only</a:t>
            </a:r>
          </a:p>
          <a:p>
            <a:pPr marL="1169988" lvl="2" indent="-255588" algn="just"/>
            <a:r>
              <a:rPr lang="en-US" sz="2000" dirty="0" smtClean="0">
                <a:solidFill>
                  <a:srgbClr val="0070C0"/>
                </a:solidFill>
                <a:latin typeface="+mn-lt"/>
              </a:rPr>
              <a:t>• Both drug and diet modification</a:t>
            </a:r>
          </a:p>
          <a:p>
            <a:pPr marL="712788" lvl="1" indent="-255588" algn="just"/>
            <a:r>
              <a:rPr lang="en-US" sz="2000" dirty="0" smtClean="0">
                <a:solidFill>
                  <a:srgbClr val="0070C0"/>
                </a:solidFill>
                <a:latin typeface="+mn-lt"/>
              </a:rPr>
              <a:t>• At the end of the treatment period, SBP was assessed.</a:t>
            </a:r>
          </a:p>
          <a:p>
            <a:pPr marL="712788" lvl="1" indent="-255588" algn="just"/>
            <a:endParaRPr lang="en-US" sz="2000" dirty="0" smtClean="0">
              <a:solidFill>
                <a:srgbClr val="0070C0"/>
              </a:solidFill>
              <a:latin typeface="+mn-lt"/>
            </a:endParaRPr>
          </a:p>
          <a:p>
            <a:pPr marL="0" lvl="1" algn="just"/>
            <a:r>
              <a:rPr lang="en-US" sz="2000" dirty="0" smtClean="0">
                <a:solidFill>
                  <a:srgbClr val="0070C0"/>
                </a:solidFill>
                <a:latin typeface="+mn-lt"/>
              </a:rPr>
              <a:t>This is a factorial design where each of two treatments (drug, diet) can be randomly assigned to each individual.</a:t>
            </a:r>
          </a:p>
          <a:p>
            <a:pPr marL="712788" lvl="1" indent="-255588" algn="just"/>
            <a:r>
              <a:rPr lang="en-US" sz="2000" dirty="0" smtClean="0">
                <a:solidFill>
                  <a:srgbClr val="0070C0"/>
                </a:solidFill>
                <a:latin typeface="+mn-lt"/>
              </a:rPr>
              <a:t>• Having 20 individuals there can be replicates of each treatment combination and so interaction between drug and diet can be estimated.</a:t>
            </a:r>
            <a:endParaRPr lang="en-US" sz="2000" dirty="0">
              <a:solidFill>
                <a:srgbClr val="0070C0"/>
              </a:solidFill>
              <a:latin typeface="+mn-lt"/>
            </a:endParaRPr>
          </a:p>
        </p:txBody>
      </p:sp>
      <p:sp>
        <p:nvSpPr>
          <p:cNvPr id="8" name="7 CuadroTexto"/>
          <p:cNvSpPr txBox="1"/>
          <p:nvPr/>
        </p:nvSpPr>
        <p:spPr>
          <a:xfrm>
            <a:off x="376518" y="1143000"/>
            <a:ext cx="8283388" cy="461665"/>
          </a:xfrm>
          <a:prstGeom prst="rect">
            <a:avLst/>
          </a:prstGeom>
          <a:noFill/>
        </p:spPr>
        <p:txBody>
          <a:bodyPr wrap="square" rtlCol="0">
            <a:spAutoFit/>
          </a:bodyPr>
          <a:lstStyle/>
          <a:p>
            <a:pPr algn="just"/>
            <a:r>
              <a:rPr lang="en-US" sz="2400" dirty="0" smtClean="0">
                <a:solidFill>
                  <a:srgbClr val="0070C0"/>
                </a:solidFill>
                <a:latin typeface="+mn-lt"/>
              </a:rPr>
              <a:t>Factorial design Example </a:t>
            </a:r>
            <a:r>
              <a:rPr lang="en-US" sz="2400" dirty="0" smtClean="0">
                <a:solidFill>
                  <a:srgbClr val="0070C0"/>
                </a:solidFill>
                <a:latin typeface="+mn-lt"/>
              </a:rPr>
              <a:t> </a:t>
            </a:r>
            <a:endParaRPr lang="en-US" sz="2400" dirty="0" smtClean="0">
              <a:solidFill>
                <a:srgbClr val="0070C0"/>
              </a:solidFill>
              <a:latin typeface="+mn-lt"/>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
          <p:cNvSpPr txBox="1">
            <a:spLocks noChangeArrowheads="1"/>
          </p:cNvSpPr>
          <p:nvPr/>
        </p:nvSpPr>
        <p:spPr bwMode="auto">
          <a:xfrm>
            <a:off x="412624"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Factorial Design</a:t>
            </a:r>
            <a:endParaRPr lang="en-US" sz="2800" dirty="0">
              <a:solidFill>
                <a:srgbClr val="C00000"/>
              </a:solidFill>
              <a:latin typeface="+mn-lt"/>
            </a:endParaRPr>
          </a:p>
        </p:txBody>
      </p:sp>
      <p:graphicFrame>
        <p:nvGraphicFramePr>
          <p:cNvPr id="7" name="6 Tabla"/>
          <p:cNvGraphicFramePr>
            <a:graphicFrameLocks noGrp="1"/>
          </p:cNvGraphicFramePr>
          <p:nvPr/>
        </p:nvGraphicFramePr>
        <p:xfrm>
          <a:off x="6774641" y="1388503"/>
          <a:ext cx="2530722" cy="5307792"/>
        </p:xfrm>
        <a:graphic>
          <a:graphicData uri="http://schemas.openxmlformats.org/drawingml/2006/table">
            <a:tbl>
              <a:tblPr/>
              <a:tblGrid>
                <a:gridCol w="843574"/>
                <a:gridCol w="843574"/>
                <a:gridCol w="843574"/>
              </a:tblGrid>
              <a:tr h="249544">
                <a:tc>
                  <a:txBody>
                    <a:bodyPr/>
                    <a:lstStyle/>
                    <a:p>
                      <a:pPr algn="ctr" fontAlgn="b"/>
                      <a:r>
                        <a:rPr lang="es-ES" sz="1600" b="1" i="0" u="none" strike="noStrike">
                          <a:solidFill>
                            <a:srgbClr val="0070C0"/>
                          </a:solidFill>
                          <a:latin typeface="Calibri"/>
                        </a:rPr>
                        <a:t>SBP</a:t>
                      </a:r>
                    </a:p>
                  </a:txBody>
                  <a:tcPr marL="8912" marR="8912" marT="8912"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ES" sz="1600" b="1" i="0" u="none" strike="noStrike">
                          <a:solidFill>
                            <a:srgbClr val="0070C0"/>
                          </a:solidFill>
                          <a:latin typeface="Calibri"/>
                        </a:rPr>
                        <a:t>Diet</a:t>
                      </a:r>
                    </a:p>
                  </a:txBody>
                  <a:tcPr marL="8912" marR="8912" marT="8912"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ES" sz="1600" b="1" i="0" u="none" strike="noStrike">
                          <a:solidFill>
                            <a:srgbClr val="0070C0"/>
                          </a:solidFill>
                          <a:latin typeface="Calibri"/>
                        </a:rPr>
                        <a:t>Drug</a:t>
                      </a:r>
                    </a:p>
                  </a:txBody>
                  <a:tcPr marL="8912" marR="8912" marT="8912" marB="0" anchor="b">
                    <a:lnL>
                      <a:noFill/>
                    </a:lnL>
                    <a:lnR>
                      <a:noFill/>
                    </a:lnR>
                    <a:lnT>
                      <a:noFill/>
                    </a:lnT>
                    <a:lnB w="6350" cap="flat" cmpd="sng" algn="ctr">
                      <a:solidFill>
                        <a:srgbClr val="000000"/>
                      </a:solidFill>
                      <a:prstDash val="solid"/>
                      <a:round/>
                      <a:headEnd type="none" w="med" len="med"/>
                      <a:tailEnd type="none" w="med" len="med"/>
                    </a:lnB>
                  </a:tcPr>
                </a:tc>
              </a:tr>
              <a:tr h="231719">
                <a:tc>
                  <a:txBody>
                    <a:bodyPr/>
                    <a:lstStyle/>
                    <a:p>
                      <a:pPr algn="ctr" fontAlgn="b"/>
                      <a:r>
                        <a:rPr lang="es-ES" sz="1600" b="0" i="0" u="none" strike="noStrike">
                          <a:solidFill>
                            <a:srgbClr val="0070C0"/>
                          </a:solidFill>
                          <a:latin typeface="Calibri"/>
                        </a:rPr>
                        <a:t>185</a:t>
                      </a:r>
                    </a:p>
                  </a:txBody>
                  <a:tcPr marL="8912" marR="8912" marT="891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w="6350" cap="flat" cmpd="sng" algn="ctr">
                      <a:solidFill>
                        <a:srgbClr val="000000"/>
                      </a:solidFill>
                      <a:prstDash val="solid"/>
                      <a:round/>
                      <a:headEnd type="none" w="med" len="med"/>
                      <a:tailEnd type="none" w="med" len="med"/>
                    </a:lnT>
                    <a:lnB>
                      <a:noFill/>
                    </a:lnB>
                  </a:tcPr>
                </a:tc>
              </a:tr>
              <a:tr h="231719">
                <a:tc>
                  <a:txBody>
                    <a:bodyPr/>
                    <a:lstStyle/>
                    <a:p>
                      <a:pPr algn="ctr" fontAlgn="b"/>
                      <a:r>
                        <a:rPr lang="es-ES" sz="1600" b="0" i="0" u="none" strike="noStrike">
                          <a:solidFill>
                            <a:srgbClr val="0070C0"/>
                          </a:solidFill>
                          <a:latin typeface="Calibri"/>
                        </a:rPr>
                        <a:t>190</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195</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200</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180</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171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176</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181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166</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161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231719">
                <a:tc>
                  <a:txBody>
                    <a:bodyPr/>
                    <a:lstStyle/>
                    <a:p>
                      <a:pPr algn="ctr" fontAlgn="b"/>
                      <a:r>
                        <a:rPr lang="es-ES" sz="1600" b="0" i="0" u="none" strike="noStrike">
                          <a:solidFill>
                            <a:srgbClr val="0070C0"/>
                          </a:solidFill>
                          <a:latin typeface="Calibri"/>
                        </a:rPr>
                        <a:t>188</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183</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198</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178</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193</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1</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153</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163</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173</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178</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r>
              <a:tr h="178246">
                <a:tc>
                  <a:txBody>
                    <a:bodyPr/>
                    <a:lstStyle/>
                    <a:p>
                      <a:pPr algn="ctr" fontAlgn="b"/>
                      <a:r>
                        <a:rPr lang="es-ES" sz="1600" b="0" i="0" u="none" strike="noStrike">
                          <a:solidFill>
                            <a:srgbClr val="0070C0"/>
                          </a:solidFill>
                          <a:latin typeface="Calibri"/>
                        </a:rPr>
                        <a:t>168</a:t>
                      </a:r>
                    </a:p>
                  </a:txBody>
                  <a:tcPr marL="8912" marR="8912" marT="8912" marB="0" anchor="b">
                    <a:lnL>
                      <a:noFill/>
                    </a:lnL>
                    <a:lnR>
                      <a:noFill/>
                    </a:lnR>
                    <a:lnT>
                      <a:noFill/>
                    </a:lnT>
                    <a:lnB>
                      <a:noFill/>
                    </a:lnB>
                  </a:tcPr>
                </a:tc>
                <a:tc>
                  <a:txBody>
                    <a:bodyPr/>
                    <a:lstStyle/>
                    <a:p>
                      <a:pPr algn="ctr" fontAlgn="b"/>
                      <a:r>
                        <a:rPr lang="es-ES" sz="1600" b="0" i="0" u="none" strike="noStrike">
                          <a:solidFill>
                            <a:srgbClr val="0070C0"/>
                          </a:solidFill>
                          <a:latin typeface="Calibri"/>
                        </a:rPr>
                        <a:t>2</a:t>
                      </a:r>
                    </a:p>
                  </a:txBody>
                  <a:tcPr marL="8912" marR="8912" marT="8912" marB="0" anchor="b">
                    <a:lnL>
                      <a:noFill/>
                    </a:lnL>
                    <a:lnR>
                      <a:noFill/>
                    </a:lnR>
                    <a:lnT>
                      <a:noFill/>
                    </a:lnT>
                    <a:lnB>
                      <a:noFill/>
                    </a:lnB>
                  </a:tcPr>
                </a:tc>
                <a:tc>
                  <a:txBody>
                    <a:bodyPr/>
                    <a:lstStyle/>
                    <a:p>
                      <a:pPr algn="ctr" fontAlgn="b"/>
                      <a:r>
                        <a:rPr lang="es-ES" sz="1600" b="0" i="0" u="none" strike="noStrike" dirty="0">
                          <a:solidFill>
                            <a:srgbClr val="0070C0"/>
                          </a:solidFill>
                          <a:latin typeface="Calibri"/>
                        </a:rPr>
                        <a:t>2</a:t>
                      </a:r>
                    </a:p>
                  </a:txBody>
                  <a:tcPr marL="8912" marR="8912" marT="8912" marB="0" anchor="b">
                    <a:lnL>
                      <a:noFill/>
                    </a:lnL>
                    <a:lnR>
                      <a:noFill/>
                    </a:lnR>
                    <a:lnT>
                      <a:noFill/>
                    </a:lnT>
                    <a:lnB>
                      <a:noFill/>
                    </a:lnB>
                  </a:tcPr>
                </a:tc>
              </a:tr>
            </a:tbl>
          </a:graphicData>
        </a:graphic>
      </p:graphicFrame>
      <p:graphicFrame>
        <p:nvGraphicFramePr>
          <p:cNvPr id="8" name="7 Tabla"/>
          <p:cNvGraphicFramePr>
            <a:graphicFrameLocks noGrp="1"/>
          </p:cNvGraphicFramePr>
          <p:nvPr/>
        </p:nvGraphicFramePr>
        <p:xfrm>
          <a:off x="945776" y="2179016"/>
          <a:ext cx="3680013" cy="3122295"/>
        </p:xfrm>
        <a:graphic>
          <a:graphicData uri="http://schemas.openxmlformats.org/drawingml/2006/table">
            <a:tbl>
              <a:tblPr/>
              <a:tblGrid>
                <a:gridCol w="1226671"/>
                <a:gridCol w="1226671"/>
                <a:gridCol w="1226671"/>
              </a:tblGrid>
              <a:tr h="190500">
                <a:tc>
                  <a:txBody>
                    <a:bodyPr/>
                    <a:lstStyle/>
                    <a:p>
                      <a:pPr algn="ctr" fontAlgn="b"/>
                      <a:r>
                        <a:rPr lang="es-ES" sz="1800" b="1" i="0" u="none" strike="noStrike">
                          <a:solidFill>
                            <a:srgbClr val="0070C0"/>
                          </a:solidFill>
                          <a:latin typeface="Calibri"/>
                        </a:rPr>
                        <a:t>Drug/Diet</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s-ES" sz="1800" b="1" i="0" u="none" strike="noStrike">
                          <a:solidFill>
                            <a:srgbClr val="0070C0"/>
                          </a:solidFill>
                          <a:latin typeface="Calibri"/>
                        </a:rPr>
                        <a:t>No Diet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800" b="1" i="0" u="none" strike="noStrike">
                          <a:solidFill>
                            <a:srgbClr val="0070C0"/>
                          </a:solidFill>
                          <a:latin typeface="Calibri"/>
                        </a:rPr>
                        <a:t>Diet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fontAlgn="b"/>
                      <a:r>
                        <a:rPr lang="es-ES" sz="1800" b="0" i="0" u="none" strike="noStrike">
                          <a:solidFill>
                            <a:srgbClr val="0070C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s-ES" sz="1800" b="0" i="0" u="none" strike="noStrike">
                          <a:solidFill>
                            <a:srgbClr val="0070C0"/>
                          </a:solidFill>
                          <a:latin typeface="Calibri"/>
                        </a:rPr>
                        <a:t>185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s-ES" sz="1800" b="0" i="0" u="none" strike="noStrike">
                          <a:solidFill>
                            <a:srgbClr val="0070C0"/>
                          </a:solidFill>
                          <a:latin typeface="Calibri"/>
                        </a:rPr>
                        <a:t>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90500">
                <a:tc>
                  <a:txBody>
                    <a:bodyPr/>
                    <a:lstStyle/>
                    <a:p>
                      <a:pPr algn="ctr" fontAlgn="b"/>
                      <a:r>
                        <a:rPr lang="es-ES" sz="1800" b="0" i="0" u="none" strike="noStrike">
                          <a:solidFill>
                            <a:srgbClr val="0070C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90500">
                <a:tc>
                  <a:txBody>
                    <a:bodyPr/>
                    <a:lstStyle/>
                    <a:p>
                      <a:pPr algn="ctr" fontAlgn="b"/>
                      <a:r>
                        <a:rPr lang="es-ES" sz="1800" b="1" i="0" u="none" strike="noStrike">
                          <a:solidFill>
                            <a:srgbClr val="0070C0"/>
                          </a:solidFill>
                          <a:latin typeface="Calibri"/>
                        </a:rPr>
                        <a:t>No Drug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195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90500">
                <a:tc>
                  <a:txBody>
                    <a:bodyPr/>
                    <a:lstStyle/>
                    <a:p>
                      <a:pPr algn="ctr" fontAlgn="b"/>
                      <a:r>
                        <a:rPr lang="es-ES" sz="1800" b="0" i="0" u="none" strike="noStrike">
                          <a:solidFill>
                            <a:srgbClr val="0070C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200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90500">
                <a:tc>
                  <a:txBody>
                    <a:bodyPr/>
                    <a:lstStyle/>
                    <a:p>
                      <a:pPr algn="ctr" fontAlgn="b"/>
                      <a:r>
                        <a:rPr lang="es-ES" sz="1800" b="0" i="0" u="none" strike="noStrike">
                          <a:solidFill>
                            <a:srgbClr val="0070C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s-ES" sz="1800" b="0" i="0" u="none" strike="noStrike">
                          <a:solidFill>
                            <a:srgbClr val="0070C0"/>
                          </a:solidFill>
                          <a:latin typeface="Calibri"/>
                        </a:rPr>
                        <a:t>180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s-ES" sz="1800" b="0" i="0" u="none" strike="noStrike">
                          <a:solidFill>
                            <a:srgbClr val="0070C0"/>
                          </a:solidFill>
                          <a:latin typeface="Calibri"/>
                        </a:rPr>
                        <a:t>193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r h="190500">
                <a:tc>
                  <a:txBody>
                    <a:bodyPr/>
                    <a:lstStyle/>
                    <a:p>
                      <a:pPr algn="ctr" fontAlgn="b"/>
                      <a:r>
                        <a:rPr lang="es-ES" sz="1800" b="0" i="0" u="none" strike="noStrike">
                          <a:solidFill>
                            <a:srgbClr val="0070C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s-ES" sz="1800" b="0" i="0" u="none" strike="noStrike">
                          <a:solidFill>
                            <a:srgbClr val="0070C0"/>
                          </a:solidFill>
                          <a:latin typeface="Calibri"/>
                        </a:rPr>
                        <a:t>171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s-ES" sz="1800" b="0" i="0" u="none" strike="noStrike">
                          <a:solidFill>
                            <a:srgbClr val="0070C0"/>
                          </a:solidFill>
                          <a:latin typeface="Calibri"/>
                        </a:rPr>
                        <a:t>153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90500">
                <a:tc>
                  <a:txBody>
                    <a:bodyPr/>
                    <a:lstStyle/>
                    <a:p>
                      <a:pPr algn="ctr" fontAlgn="b"/>
                      <a:r>
                        <a:rPr lang="es-ES" sz="1800" b="0" i="0" u="none" strike="noStrike">
                          <a:solidFill>
                            <a:srgbClr val="0070C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90500">
                <a:tc>
                  <a:txBody>
                    <a:bodyPr/>
                    <a:lstStyle/>
                    <a:p>
                      <a:pPr algn="ctr" fontAlgn="b"/>
                      <a:r>
                        <a:rPr lang="es-ES" sz="1800" b="1" i="0" u="none" strike="noStrike">
                          <a:solidFill>
                            <a:srgbClr val="0070C0"/>
                          </a:solidFill>
                          <a:latin typeface="Calibri"/>
                        </a:rPr>
                        <a:t>Drug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90500">
                <a:tc>
                  <a:txBody>
                    <a:bodyPr/>
                    <a:lstStyle/>
                    <a:p>
                      <a:pPr algn="ctr" fontAlgn="b"/>
                      <a:r>
                        <a:rPr lang="es-ES" sz="1800" b="0" i="0" u="none" strike="noStrike">
                          <a:solidFill>
                            <a:srgbClr val="0070C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s-ES" sz="1800" b="0" i="0" u="none" strike="noStrike">
                          <a:solidFill>
                            <a:srgbClr val="0070C0"/>
                          </a:solidFill>
                          <a:latin typeface="Calibri"/>
                        </a:rPr>
                        <a:t>178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90500">
                <a:tc>
                  <a:txBody>
                    <a:bodyPr/>
                    <a:lstStyle/>
                    <a:p>
                      <a:pPr algn="ctr" fontAlgn="b"/>
                      <a:r>
                        <a:rPr lang="es-ES" sz="1800" b="0" i="0" u="none" strike="noStrike">
                          <a:solidFill>
                            <a:srgbClr val="0070C0"/>
                          </a:solidFill>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s-ES" sz="1800" b="0" i="0" u="none" strike="noStrike">
                          <a:solidFill>
                            <a:srgbClr val="0070C0"/>
                          </a:solidFill>
                          <a:latin typeface="Calibri"/>
                        </a:rPr>
                        <a:t>161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s-ES" sz="1800" b="0" i="0" u="none" strike="noStrike" dirty="0">
                          <a:solidFill>
                            <a:srgbClr val="0070C0"/>
                          </a:solidFill>
                          <a:latin typeface="Calibri"/>
                        </a:rPr>
                        <a:t>168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
          <p:cNvSpPr txBox="1">
            <a:spLocks noChangeArrowheads="1"/>
          </p:cNvSpPr>
          <p:nvPr/>
        </p:nvSpPr>
        <p:spPr bwMode="auto">
          <a:xfrm>
            <a:off x="412624"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4"/>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Repeated measures</a:t>
            </a:r>
            <a:endParaRPr lang="en-US" sz="2800" dirty="0">
              <a:solidFill>
                <a:srgbClr val="C00000"/>
              </a:solidFill>
              <a:latin typeface="+mn-lt"/>
            </a:endParaRPr>
          </a:p>
        </p:txBody>
      </p:sp>
      <p:sp>
        <p:nvSpPr>
          <p:cNvPr id="6" name="5 Rectángulo"/>
          <p:cNvSpPr/>
          <p:nvPr/>
        </p:nvSpPr>
        <p:spPr>
          <a:xfrm>
            <a:off x="634253" y="1369859"/>
            <a:ext cx="8455958" cy="4955203"/>
          </a:xfrm>
          <a:prstGeom prst="rect">
            <a:avLst/>
          </a:prstGeom>
        </p:spPr>
        <p:txBody>
          <a:bodyPr wrap="square">
            <a:spAutoFit/>
          </a:bodyPr>
          <a:lstStyle/>
          <a:p>
            <a:r>
              <a:rPr lang="en-US" sz="2800" dirty="0" smtClean="0">
                <a:solidFill>
                  <a:srgbClr val="993489"/>
                </a:solidFill>
                <a:latin typeface="+mn-lt"/>
              </a:rPr>
              <a:t>Repeated measures</a:t>
            </a:r>
          </a:p>
          <a:p>
            <a:endParaRPr lang="en-US" sz="2400" dirty="0" smtClean="0">
              <a:latin typeface="+mn-lt"/>
            </a:endParaRPr>
          </a:p>
          <a:p>
            <a:r>
              <a:rPr lang="en-US" sz="2400" dirty="0" smtClean="0">
                <a:solidFill>
                  <a:schemeClr val="bg2">
                    <a:lumMod val="50000"/>
                  </a:schemeClr>
                </a:solidFill>
                <a:latin typeface="+mn-lt"/>
              </a:rPr>
              <a:t>When more than one measure is taken on each experimental unit one has a within subjects design:</a:t>
            </a:r>
          </a:p>
          <a:p>
            <a:endParaRPr lang="en-US" sz="2400" dirty="0" smtClean="0">
              <a:solidFill>
                <a:schemeClr val="bg2">
                  <a:lumMod val="50000"/>
                </a:schemeClr>
              </a:solidFill>
              <a:latin typeface="+mn-lt"/>
            </a:endParaRPr>
          </a:p>
          <a:p>
            <a:pPr lvl="1">
              <a:buFont typeface="Arial" pitchFamily="34" charset="0"/>
              <a:buChar char="•"/>
            </a:pPr>
            <a:r>
              <a:rPr lang="en-US" sz="2400" dirty="0" smtClean="0">
                <a:solidFill>
                  <a:schemeClr val="bg2">
                    <a:lumMod val="50000"/>
                  </a:schemeClr>
                </a:solidFill>
                <a:latin typeface="+mn-lt"/>
              </a:rPr>
              <a:t>Measures on the same individual are correlated</a:t>
            </a:r>
          </a:p>
          <a:p>
            <a:pPr lvl="1">
              <a:buFont typeface="Arial" pitchFamily="34" charset="0"/>
              <a:buChar char="•"/>
            </a:pPr>
            <a:endParaRPr lang="en-US" sz="2400" dirty="0" smtClean="0">
              <a:solidFill>
                <a:schemeClr val="bg2">
                  <a:lumMod val="50000"/>
                </a:schemeClr>
              </a:solidFill>
              <a:latin typeface="+mn-lt"/>
            </a:endParaRPr>
          </a:p>
          <a:p>
            <a:pPr lvl="1">
              <a:buFont typeface="Arial" pitchFamily="34" charset="0"/>
              <a:buChar char="•"/>
            </a:pPr>
            <a:r>
              <a:rPr lang="en-US" sz="2400" dirty="0" smtClean="0">
                <a:solidFill>
                  <a:schemeClr val="bg2">
                    <a:lumMod val="50000"/>
                  </a:schemeClr>
                </a:solidFill>
                <a:latin typeface="+mn-lt"/>
              </a:rPr>
              <a:t>New source of variability to be accounted for:</a:t>
            </a:r>
          </a:p>
          <a:p>
            <a:pPr lvl="3"/>
            <a:r>
              <a:rPr lang="en-US" sz="2400" dirty="0" smtClean="0">
                <a:solidFill>
                  <a:schemeClr val="bg2">
                    <a:lumMod val="50000"/>
                  </a:schemeClr>
                </a:solidFill>
                <a:effectLst>
                  <a:outerShdw blurRad="38100" dist="38100" dir="2700000" algn="tl">
                    <a:srgbClr val="000000">
                      <a:alpha val="43137"/>
                    </a:srgbClr>
                  </a:outerShdw>
                </a:effectLst>
                <a:latin typeface="+mn-lt"/>
              </a:rPr>
              <a:t>variability within subjects</a:t>
            </a:r>
          </a:p>
          <a:p>
            <a:pPr lvl="3"/>
            <a:endParaRPr lang="en-US" sz="2400" dirty="0" smtClean="0">
              <a:solidFill>
                <a:schemeClr val="bg2">
                  <a:lumMod val="50000"/>
                </a:schemeClr>
              </a:solidFill>
              <a:latin typeface="+mn-lt"/>
            </a:endParaRPr>
          </a:p>
          <a:p>
            <a:pPr lvl="1">
              <a:buFont typeface="Arial" pitchFamily="34" charset="0"/>
              <a:buChar char="•"/>
            </a:pPr>
            <a:r>
              <a:rPr lang="en-US" sz="2400" dirty="0" smtClean="0">
                <a:solidFill>
                  <a:schemeClr val="bg2">
                    <a:lumMod val="50000"/>
                  </a:schemeClr>
                </a:solidFill>
                <a:latin typeface="+mn-lt"/>
              </a:rPr>
              <a:t>Same possibilities as with other designs</a:t>
            </a:r>
          </a:p>
          <a:p>
            <a:pPr lvl="1">
              <a:buFont typeface="Arial" pitchFamily="34" charset="0"/>
              <a:buChar char="•"/>
            </a:pPr>
            <a:endParaRPr lang="en-US" sz="2400" dirty="0" smtClean="0">
              <a:solidFill>
                <a:schemeClr val="bg2">
                  <a:lumMod val="50000"/>
                </a:schemeClr>
              </a:solidFill>
              <a:latin typeface="+mn-lt"/>
            </a:endParaRPr>
          </a:p>
          <a:p>
            <a:pPr lvl="1">
              <a:buFont typeface="Arial" pitchFamily="34" charset="0"/>
              <a:buChar char="•"/>
            </a:pPr>
            <a:r>
              <a:rPr lang="en-US" sz="2400" dirty="0" smtClean="0">
                <a:solidFill>
                  <a:schemeClr val="bg2">
                    <a:lumMod val="50000"/>
                  </a:schemeClr>
                </a:solidFill>
                <a:latin typeface="+mn-lt"/>
              </a:rPr>
              <a:t>With an extra source of variation (“time”)</a:t>
            </a:r>
            <a:endParaRPr lang="en-US" sz="2400" dirty="0">
              <a:solidFill>
                <a:schemeClr val="bg2">
                  <a:lumMod val="50000"/>
                </a:schemeClr>
              </a:solidFill>
              <a:latin typeface="+mn-lt"/>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
          <p:cNvSpPr txBox="1">
            <a:spLocks noChangeArrowheads="1"/>
          </p:cNvSpPr>
          <p:nvPr/>
        </p:nvSpPr>
        <p:spPr bwMode="auto">
          <a:xfrm>
            <a:off x="412624" y="0"/>
            <a:ext cx="7937280" cy="976423"/>
          </a:xfrm>
          <a:prstGeom prst="rect">
            <a:avLst/>
          </a:prstGeom>
          <a:noFill/>
          <a:ln w="9525">
            <a:noFill/>
            <a:round/>
            <a:headEnd/>
            <a:tailEnd/>
          </a:ln>
        </p:spPr>
        <p:txBody>
          <a:bodyPr lIns="95790" tIns="47895" rIns="95790" bIns="47895" anchor="ctr"/>
          <a:lstStyle/>
          <a:p>
            <a:pPr marL="514350" lvl="0" indent="-514350">
              <a:buFont typeface="+mj-lt"/>
              <a:buAutoNum type="arabicPeriod" startAt="3"/>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GB" sz="2800" b="1" kern="0" dirty="0" smtClean="0">
                <a:solidFill>
                  <a:srgbClr val="C00000"/>
                </a:solidFill>
                <a:latin typeface="+mn-lt"/>
              </a:rPr>
              <a:t>Experimental Design types</a:t>
            </a:r>
          </a:p>
          <a:p>
            <a:pPr marL="971550" lvl="1" indent="-514350">
              <a:buFont typeface="+mj-lt"/>
              <a:buAutoNum type="arabicPeriod" startAt="4"/>
              <a:tabLst>
                <a:tab pos="0" algn="l"/>
                <a:tab pos="425426" algn="l"/>
                <a:tab pos="852360" algn="l"/>
                <a:tab pos="1279294" algn="l"/>
                <a:tab pos="1706228" algn="l"/>
                <a:tab pos="2133162" algn="l"/>
                <a:tab pos="2560097" algn="l"/>
                <a:tab pos="2987030" algn="l"/>
                <a:tab pos="3413965" algn="l"/>
                <a:tab pos="3840899" algn="l"/>
                <a:tab pos="4267833" algn="l"/>
                <a:tab pos="4694767" algn="l"/>
                <a:tab pos="5121702" algn="l"/>
                <a:tab pos="5548635" algn="l"/>
                <a:tab pos="5975570" algn="l"/>
                <a:tab pos="6402504" algn="l"/>
                <a:tab pos="6829438" algn="l"/>
                <a:tab pos="7256372" algn="l"/>
                <a:tab pos="7683307" algn="l"/>
                <a:tab pos="8110240" algn="l"/>
                <a:tab pos="8537175" algn="l"/>
              </a:tabLst>
            </a:pPr>
            <a:r>
              <a:rPr lang="en-US" sz="2800" dirty="0" smtClean="0">
                <a:solidFill>
                  <a:srgbClr val="C00000"/>
                </a:solidFill>
                <a:latin typeface="+mn-lt"/>
              </a:rPr>
              <a:t>Repeated measures</a:t>
            </a:r>
            <a:endParaRPr lang="en-US" sz="2800" dirty="0">
              <a:solidFill>
                <a:srgbClr val="C00000"/>
              </a:solidFill>
              <a:latin typeface="+mn-lt"/>
            </a:endParaRPr>
          </a:p>
        </p:txBody>
      </p:sp>
      <p:sp>
        <p:nvSpPr>
          <p:cNvPr id="6" name="5 Rectángulo"/>
          <p:cNvSpPr/>
          <p:nvPr/>
        </p:nvSpPr>
        <p:spPr>
          <a:xfrm>
            <a:off x="0" y="1181600"/>
            <a:ext cx="8455958" cy="523220"/>
          </a:xfrm>
          <a:prstGeom prst="rect">
            <a:avLst/>
          </a:prstGeom>
        </p:spPr>
        <p:txBody>
          <a:bodyPr wrap="square">
            <a:spAutoFit/>
          </a:bodyPr>
          <a:lstStyle/>
          <a:p>
            <a:r>
              <a:rPr lang="en-US" sz="2800" dirty="0" smtClean="0">
                <a:solidFill>
                  <a:srgbClr val="0070C0"/>
                </a:solidFill>
                <a:latin typeface="+mn-lt"/>
              </a:rPr>
              <a:t>Repeated measures Example:</a:t>
            </a:r>
          </a:p>
        </p:txBody>
      </p:sp>
      <p:pic>
        <p:nvPicPr>
          <p:cNvPr id="75778" name="Picture 2"/>
          <p:cNvPicPr>
            <a:picLocks noChangeAspect="1" noChangeArrowheads="1"/>
          </p:cNvPicPr>
          <p:nvPr/>
        </p:nvPicPr>
        <p:blipFill>
          <a:blip r:embed="rId2" cstate="print"/>
          <a:srcRect/>
          <a:stretch>
            <a:fillRect/>
          </a:stretch>
        </p:blipFill>
        <p:spPr bwMode="auto">
          <a:xfrm>
            <a:off x="5330920" y="1451976"/>
            <a:ext cx="4297175" cy="5231212"/>
          </a:xfrm>
          <a:prstGeom prst="rect">
            <a:avLst/>
          </a:prstGeom>
          <a:noFill/>
          <a:ln w="9525">
            <a:noFill/>
            <a:miter lim="800000"/>
            <a:headEnd/>
            <a:tailEnd/>
          </a:ln>
        </p:spPr>
      </p:pic>
      <p:sp>
        <p:nvSpPr>
          <p:cNvPr id="7" name="6 Rectángulo"/>
          <p:cNvSpPr/>
          <p:nvPr/>
        </p:nvSpPr>
        <p:spPr>
          <a:xfrm>
            <a:off x="177053" y="1976334"/>
            <a:ext cx="5067300" cy="2723823"/>
          </a:xfrm>
          <a:prstGeom prst="rect">
            <a:avLst/>
          </a:prstGeom>
        </p:spPr>
        <p:txBody>
          <a:bodyPr wrap="square">
            <a:spAutoFit/>
          </a:bodyPr>
          <a:lstStyle/>
          <a:p>
            <a:pPr algn="just"/>
            <a:r>
              <a:rPr lang="en-US" sz="1900" dirty="0" smtClean="0">
                <a:solidFill>
                  <a:srgbClr val="0070C0"/>
                </a:solidFill>
                <a:latin typeface="+mn-lt"/>
              </a:rPr>
              <a:t>• A study on plasma inorganic phosphate after oral glucose tolerance test (OGTT) was performed on 33 individuals.</a:t>
            </a:r>
          </a:p>
          <a:p>
            <a:pPr algn="just"/>
            <a:endParaRPr lang="en-US" sz="1900" dirty="0" smtClean="0">
              <a:solidFill>
                <a:srgbClr val="0070C0"/>
              </a:solidFill>
              <a:latin typeface="+mn-lt"/>
            </a:endParaRPr>
          </a:p>
          <a:p>
            <a:pPr lvl="1" algn="just">
              <a:tabLst>
                <a:tab pos="444500" algn="l"/>
              </a:tabLst>
            </a:pPr>
            <a:r>
              <a:rPr lang="en-US" sz="1900" dirty="0" smtClean="0">
                <a:solidFill>
                  <a:srgbClr val="0070C0"/>
                </a:solidFill>
                <a:latin typeface="+mn-lt"/>
              </a:rPr>
              <a:t>– Two groups: Control (1) and obese (2)</a:t>
            </a:r>
          </a:p>
          <a:p>
            <a:pPr algn="just"/>
            <a:endParaRPr lang="en-US" sz="1900" dirty="0" smtClean="0">
              <a:solidFill>
                <a:srgbClr val="0070C0"/>
              </a:solidFill>
              <a:latin typeface="+mn-lt"/>
            </a:endParaRPr>
          </a:p>
          <a:p>
            <a:pPr marL="538163" lvl="1" indent="-80963" algn="just">
              <a:tabLst>
                <a:tab pos="981075" algn="l"/>
              </a:tabLst>
            </a:pPr>
            <a:r>
              <a:rPr lang="en-US" sz="1900" dirty="0" smtClean="0">
                <a:solidFill>
                  <a:srgbClr val="0070C0"/>
                </a:solidFill>
                <a:latin typeface="+mn-lt"/>
              </a:rPr>
              <a:t>–Phosphate levels were measured before test (time=0) and 0.5, 1.5, 2, 3, 4 and 5 hours after test.</a:t>
            </a:r>
            <a:endParaRPr lang="en-US" sz="1900" dirty="0">
              <a:solidFill>
                <a:srgbClr val="0070C0"/>
              </a:solidFill>
              <a:latin typeface="+mn-lt"/>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Marcador de texto"/>
          <p:cNvSpPr>
            <a:spLocks noGrp="1"/>
          </p:cNvSpPr>
          <p:nvPr>
            <p:ph type="body" sz="quarter" idx="10"/>
          </p:nvPr>
        </p:nvSpPr>
        <p:spPr bwMode="auto">
          <a:xfrm>
            <a:off x="3903663" y="579438"/>
            <a:ext cx="6002337" cy="5349875"/>
          </a:xfrm>
          <a:noFill/>
          <a:ln>
            <a:miter lim="800000"/>
            <a:headEnd/>
            <a:tailEnd/>
          </a:ln>
        </p:spPr>
        <p:txBody>
          <a:bodyPr vert="horz" wrap="square" lIns="91440" tIns="45720" rIns="91440" bIns="45720" numCol="1" anchor="t" anchorCtr="0" compatLnSpc="1">
            <a:prstTxWarp prst="textNoShape">
              <a:avLst/>
            </a:prstTxWarp>
          </a:bodyPr>
          <a:lstStyle/>
          <a:p>
            <a:pPr marL="358775" indent="-358775">
              <a:buFont typeface="Calibri" pitchFamily="34" charset="0"/>
              <a:buAutoNum type="arabicPeriod"/>
            </a:pPr>
            <a:r>
              <a:rPr lang="en-GB" dirty="0" smtClean="0">
                <a:solidFill>
                  <a:srgbClr val="FF0000"/>
                </a:solidFill>
                <a:ea typeface="ＭＳ Ｐゴシック" pitchFamily="34" charset="-128"/>
              </a:rPr>
              <a:t>Basic ideas of experimental design</a:t>
            </a:r>
          </a:p>
          <a:p>
            <a:pPr marL="358775" indent="-358775">
              <a:buFont typeface="Calibri" pitchFamily="34" charset="0"/>
              <a:buAutoNum type="arabicPeriod"/>
            </a:pPr>
            <a:r>
              <a:rPr lang="en-GB" dirty="0" smtClean="0">
                <a:solidFill>
                  <a:srgbClr val="FF0000"/>
                </a:solidFill>
                <a:ea typeface="ＭＳ Ｐゴシック" pitchFamily="34" charset="-128"/>
              </a:rPr>
              <a:t>Experimental Design Principles</a:t>
            </a:r>
          </a:p>
          <a:p>
            <a:pPr marL="798875" lvl="1" indent="-358775">
              <a:buFont typeface="Calibri" pitchFamily="34" charset="0"/>
              <a:buAutoNum type="arabicPeriod"/>
            </a:pPr>
            <a:r>
              <a:rPr lang="en-GB" dirty="0" smtClean="0">
                <a:solidFill>
                  <a:srgbClr val="FF0000"/>
                </a:solidFill>
                <a:ea typeface="ＭＳ Ｐゴシック" pitchFamily="34" charset="-128"/>
              </a:rPr>
              <a:t>Randomize</a:t>
            </a:r>
          </a:p>
          <a:p>
            <a:pPr marL="798875" lvl="1" indent="-358775">
              <a:buFont typeface="Calibri" pitchFamily="34" charset="0"/>
              <a:buAutoNum type="arabicPeriod"/>
            </a:pPr>
            <a:r>
              <a:rPr lang="en-GB" dirty="0" smtClean="0">
                <a:solidFill>
                  <a:srgbClr val="FF0000"/>
                </a:solidFill>
                <a:ea typeface="ＭＳ Ｐゴシック" pitchFamily="34" charset="-128"/>
              </a:rPr>
              <a:t>Replicate</a:t>
            </a:r>
          </a:p>
          <a:p>
            <a:pPr marL="798875" lvl="1" indent="-358775">
              <a:buFont typeface="Calibri" pitchFamily="34" charset="0"/>
              <a:buAutoNum type="arabicPeriod"/>
            </a:pPr>
            <a:r>
              <a:rPr lang="en-GB" dirty="0" smtClean="0">
                <a:solidFill>
                  <a:srgbClr val="FF0000"/>
                </a:solidFill>
                <a:ea typeface="ＭＳ Ｐゴシック" pitchFamily="34" charset="-128"/>
              </a:rPr>
              <a:t>Local control</a:t>
            </a:r>
          </a:p>
          <a:p>
            <a:pPr marL="358775" indent="-358775">
              <a:buFont typeface="Calibri" pitchFamily="34" charset="0"/>
              <a:buAutoNum type="arabicPeriod"/>
            </a:pPr>
            <a:r>
              <a:rPr lang="en-GB" dirty="0" smtClean="0">
                <a:solidFill>
                  <a:srgbClr val="FF0000"/>
                </a:solidFill>
                <a:ea typeface="ＭＳ Ｐゴシック" pitchFamily="34" charset="-128"/>
              </a:rPr>
              <a:t>Experimental Design types</a:t>
            </a:r>
          </a:p>
          <a:p>
            <a:pPr marL="798875" lvl="1" indent="-358775">
              <a:buFont typeface="Calibri" pitchFamily="34" charset="0"/>
              <a:buAutoNum type="arabicPeriod"/>
            </a:pPr>
            <a:r>
              <a:rPr lang="en-GB" dirty="0" smtClean="0">
                <a:solidFill>
                  <a:srgbClr val="FF0000"/>
                </a:solidFill>
                <a:ea typeface="ＭＳ Ｐゴシック" pitchFamily="34" charset="-128"/>
              </a:rPr>
              <a:t>Completely Randomized Design (CRD)</a:t>
            </a:r>
          </a:p>
          <a:p>
            <a:pPr marL="798875" lvl="1" indent="-358775">
              <a:buFont typeface="Calibri" pitchFamily="34" charset="0"/>
              <a:buAutoNum type="arabicPeriod"/>
            </a:pPr>
            <a:r>
              <a:rPr lang="en-GB" dirty="0" smtClean="0">
                <a:solidFill>
                  <a:srgbClr val="FF0000"/>
                </a:solidFill>
                <a:ea typeface="ＭＳ Ｐゴシック" pitchFamily="34" charset="-128"/>
              </a:rPr>
              <a:t>Randomized Block Design (RBD)</a:t>
            </a:r>
          </a:p>
          <a:p>
            <a:pPr marL="798875" lvl="1" indent="-358775">
              <a:buFont typeface="Calibri" pitchFamily="34" charset="0"/>
              <a:buAutoNum type="arabicPeriod"/>
            </a:pPr>
            <a:r>
              <a:rPr lang="en-GB" dirty="0" smtClean="0">
                <a:solidFill>
                  <a:srgbClr val="FF0000"/>
                </a:solidFill>
                <a:ea typeface="ＭＳ Ｐゴシック" pitchFamily="34" charset="-128"/>
              </a:rPr>
              <a:t>Factorial Experiments</a:t>
            </a:r>
          </a:p>
          <a:p>
            <a:pPr marL="798875" lvl="1" indent="-358775">
              <a:buFont typeface="Calibri" pitchFamily="34" charset="0"/>
              <a:buAutoNum type="arabicPeriod"/>
            </a:pPr>
            <a:r>
              <a:rPr lang="en-GB" dirty="0" smtClean="0">
                <a:solidFill>
                  <a:srgbClr val="FF0000"/>
                </a:solidFill>
                <a:ea typeface="ＭＳ Ｐゴシック" pitchFamily="34" charset="-128"/>
              </a:rPr>
              <a:t>Repeated Measures (Within Subjects Designs)</a:t>
            </a:r>
          </a:p>
          <a:p>
            <a:pPr marL="358775" indent="-358775">
              <a:buFont typeface="Calibri" pitchFamily="34" charset="0"/>
              <a:buAutoNum type="arabicPeriod"/>
            </a:pPr>
            <a:r>
              <a:rPr lang="en-GB" dirty="0" smtClean="0">
                <a:solidFill>
                  <a:srgbClr val="FF0000"/>
                </a:solidFill>
                <a:ea typeface="ＭＳ Ｐゴシック" pitchFamily="34" charset="-128"/>
              </a:rPr>
              <a:t>Some references</a:t>
            </a:r>
          </a:p>
          <a:p>
            <a:pPr marL="358775" indent="-358775">
              <a:buFont typeface="Calibri" pitchFamily="34" charset="0"/>
              <a:buAutoNum type="arabicPeriod"/>
            </a:pPr>
            <a:r>
              <a:rPr lang="en-GB" dirty="0" smtClean="0">
                <a:ea typeface="ＭＳ Ｐゴシック" pitchFamily="34" charset="-128"/>
              </a:rPr>
              <a:t>Exercises</a:t>
            </a:r>
          </a:p>
          <a:p>
            <a:pPr marL="798875" lvl="1" indent="-358775">
              <a:buFont typeface="Calibri" pitchFamily="34" charset="0"/>
              <a:buAutoNum type="arabicPeriod"/>
            </a:pPr>
            <a:endParaRPr lang="en-GB" dirty="0" smtClean="0">
              <a:ea typeface="ＭＳ Ｐゴシック" pitchFamily="34" charset="-128"/>
            </a:endParaRPr>
          </a:p>
          <a:p>
            <a:pPr marL="358775" indent="-358775">
              <a:buFont typeface="Calibri" pitchFamily="34" charset="0"/>
              <a:buAutoNum type="arabicPeriod"/>
            </a:pPr>
            <a:endParaRPr lang="en-GB" dirty="0" smtClean="0">
              <a:ea typeface="ＭＳ Ｐゴシック" pitchFamily="34" charset="-128"/>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texto"/>
          <p:cNvSpPr>
            <a:spLocks noGrp="1"/>
          </p:cNvSpPr>
          <p:nvPr>
            <p:ph type="body" sz="quarter" idx="14"/>
          </p:nvPr>
        </p:nvSpPr>
        <p:spPr>
          <a:xfrm>
            <a:off x="546468" y="1348509"/>
            <a:ext cx="9359531" cy="4562765"/>
          </a:xfrm>
        </p:spPr>
        <p:txBody>
          <a:bodyPr>
            <a:normAutofit fontScale="92500"/>
          </a:bodyPr>
          <a:lstStyle/>
          <a:p>
            <a:pPr marL="0" indent="0">
              <a:buNone/>
            </a:pPr>
            <a:r>
              <a:rPr lang="en-US" sz="2800" dirty="0"/>
              <a:t>Some </a:t>
            </a:r>
            <a:r>
              <a:rPr lang="en-US" sz="2800" dirty="0" smtClean="0"/>
              <a:t>links</a:t>
            </a:r>
            <a:r>
              <a:rPr lang="en-US" sz="2800" dirty="0"/>
              <a:t>...</a:t>
            </a:r>
          </a:p>
          <a:p>
            <a:pPr marL="0" indent="0">
              <a:buNone/>
            </a:pPr>
            <a:r>
              <a:rPr lang="ca-ES" dirty="0" smtClean="0">
                <a:hlinkClick r:id="rId2"/>
              </a:rPr>
              <a:t>http</a:t>
            </a:r>
            <a:r>
              <a:rPr lang="ca-ES" dirty="0">
                <a:hlinkClick r:id="rId2"/>
              </a:rPr>
              <a:t>://www.3rs-reduction.co.uk/html/main_menu.html</a:t>
            </a:r>
            <a:r>
              <a:rPr lang="ca-ES" dirty="0"/>
              <a:t> (</a:t>
            </a:r>
            <a:r>
              <a:rPr lang="en-US" dirty="0"/>
              <a:t>An interactive short course on experimental design for research scientists working with laboratory animals</a:t>
            </a:r>
            <a:r>
              <a:rPr lang="en-US" dirty="0">
                <a:solidFill>
                  <a:srgbClr val="000000"/>
                </a:solidFill>
              </a:rPr>
              <a:t>)</a:t>
            </a:r>
          </a:p>
          <a:p>
            <a:pPr marL="0" indent="0">
              <a:buNone/>
            </a:pPr>
            <a:r>
              <a:rPr lang="ca-ES" dirty="0">
                <a:hlinkClick r:id="rId3"/>
              </a:rPr>
              <a:t>http://www.tfrec.wsu.edu/anova/index.html</a:t>
            </a:r>
            <a:r>
              <a:rPr lang="ca-ES" dirty="0"/>
              <a:t> (A </a:t>
            </a:r>
            <a:r>
              <a:rPr lang="ca-ES" dirty="0" err="1"/>
              <a:t>field</a:t>
            </a:r>
            <a:r>
              <a:rPr lang="ca-ES" dirty="0"/>
              <a:t> </a:t>
            </a:r>
            <a:r>
              <a:rPr lang="ca-ES" dirty="0" err="1"/>
              <a:t>guide</a:t>
            </a:r>
            <a:r>
              <a:rPr lang="ca-ES" dirty="0"/>
              <a:t> to Experimental </a:t>
            </a:r>
            <a:r>
              <a:rPr lang="ca-ES" dirty="0" err="1"/>
              <a:t>Designs</a:t>
            </a:r>
            <a:r>
              <a:rPr lang="ca-ES" dirty="0"/>
              <a:t>)</a:t>
            </a:r>
          </a:p>
          <a:p>
            <a:pPr marL="0" indent="0">
              <a:buNone/>
            </a:pPr>
            <a:r>
              <a:rPr lang="ca-ES" dirty="0">
                <a:hlinkClick r:id="rId4"/>
              </a:rPr>
              <a:t>http://www.stats.gla.ac.uk/steps/glossary/anova.html</a:t>
            </a:r>
            <a:r>
              <a:rPr lang="ca-ES" dirty="0"/>
              <a:t> (Experimental </a:t>
            </a:r>
            <a:r>
              <a:rPr lang="ca-ES" dirty="0" err="1"/>
              <a:t>Designs</a:t>
            </a:r>
            <a:r>
              <a:rPr lang="ca-ES" dirty="0"/>
              <a:t> </a:t>
            </a:r>
            <a:r>
              <a:rPr lang="ca-ES" dirty="0" smtClean="0"/>
              <a:t>&amp; ANOVA</a:t>
            </a:r>
            <a:r>
              <a:rPr lang="ca-ES" dirty="0"/>
              <a:t>)</a:t>
            </a:r>
          </a:p>
          <a:p>
            <a:pPr marL="0" indent="0">
              <a:buNone/>
            </a:pPr>
            <a:endParaRPr lang="en-US" sz="2800" dirty="0" smtClean="0"/>
          </a:p>
          <a:p>
            <a:pPr marL="0" indent="0">
              <a:buNone/>
            </a:pPr>
            <a:r>
              <a:rPr lang="en-US" sz="2800" dirty="0" smtClean="0"/>
              <a:t>Some </a:t>
            </a:r>
            <a:r>
              <a:rPr lang="en-US" sz="2800" dirty="0"/>
              <a:t>books...</a:t>
            </a:r>
          </a:p>
          <a:p>
            <a:r>
              <a:rPr lang="ca-ES" b="1" i="1" dirty="0"/>
              <a:t>Experimental </a:t>
            </a:r>
            <a:r>
              <a:rPr lang="ca-ES" b="1" i="1" dirty="0" err="1"/>
              <a:t>design</a:t>
            </a:r>
            <a:r>
              <a:rPr lang="ca-ES" b="1" i="1" dirty="0"/>
              <a:t> for </a:t>
            </a:r>
            <a:r>
              <a:rPr lang="ca-ES" b="1" i="1" dirty="0" err="1"/>
              <a:t>the</a:t>
            </a:r>
            <a:r>
              <a:rPr lang="ca-ES" b="1" i="1" dirty="0"/>
              <a:t> </a:t>
            </a:r>
            <a:r>
              <a:rPr lang="ca-ES" b="1" i="1" dirty="0" err="1"/>
              <a:t>life</a:t>
            </a:r>
            <a:r>
              <a:rPr lang="ca-ES" b="1" i="1" dirty="0"/>
              <a:t> </a:t>
            </a:r>
            <a:r>
              <a:rPr lang="ca-ES" b="1" i="1" dirty="0" err="1"/>
              <a:t>sciences</a:t>
            </a:r>
            <a:r>
              <a:rPr lang="ca-ES" b="1" i="1" dirty="0"/>
              <a:t> </a:t>
            </a:r>
            <a:r>
              <a:rPr lang="ca-ES" sz="1800" dirty="0"/>
              <a:t>(</a:t>
            </a:r>
            <a:r>
              <a:rPr lang="ca-ES" sz="1800" dirty="0" err="1"/>
              <a:t>Graeme</a:t>
            </a:r>
            <a:r>
              <a:rPr lang="ca-ES" sz="1800" dirty="0"/>
              <a:t> D. </a:t>
            </a:r>
            <a:r>
              <a:rPr lang="ca-ES" sz="1800" dirty="0" err="1"/>
              <a:t>Ruxton</a:t>
            </a:r>
            <a:r>
              <a:rPr lang="ca-ES" sz="1800" dirty="0"/>
              <a:t>, Nick </a:t>
            </a:r>
            <a:r>
              <a:rPr lang="ca-ES" sz="1800" dirty="0" err="1"/>
              <a:t>Colegrave</a:t>
            </a:r>
            <a:r>
              <a:rPr lang="ca-ES" sz="1800" dirty="0" smtClean="0"/>
              <a:t>)</a:t>
            </a:r>
          </a:p>
          <a:p>
            <a:pPr lvl="1"/>
            <a:r>
              <a:rPr lang="ca-ES" i="1" dirty="0" err="1" smtClean="0"/>
              <a:t>Excellent</a:t>
            </a:r>
            <a:r>
              <a:rPr lang="ca-ES" i="1" dirty="0" smtClean="0"/>
              <a:t> </a:t>
            </a:r>
            <a:r>
              <a:rPr lang="ca-ES" i="1" dirty="0" err="1" smtClean="0"/>
              <a:t>book</a:t>
            </a:r>
            <a:r>
              <a:rPr lang="ca-ES" i="1" dirty="0" smtClean="0"/>
              <a:t>, </a:t>
            </a:r>
            <a:r>
              <a:rPr lang="ca-ES" i="1" dirty="0" err="1" smtClean="0"/>
              <a:t>not</a:t>
            </a:r>
            <a:r>
              <a:rPr lang="ca-ES" i="1" dirty="0" smtClean="0"/>
              <a:t> </a:t>
            </a:r>
            <a:r>
              <a:rPr lang="ca-ES" i="1" dirty="0" err="1" smtClean="0"/>
              <a:t>very</a:t>
            </a:r>
            <a:r>
              <a:rPr lang="ca-ES" i="1" dirty="0" smtClean="0"/>
              <a:t> </a:t>
            </a:r>
            <a:r>
              <a:rPr lang="ca-ES" i="1" dirty="0" err="1" smtClean="0"/>
              <a:t>mathematical</a:t>
            </a:r>
            <a:r>
              <a:rPr lang="ca-ES" i="1" dirty="0" smtClean="0"/>
              <a:t> (“</a:t>
            </a:r>
            <a:r>
              <a:rPr lang="ca-ES" i="1" dirty="0" err="1" smtClean="0"/>
              <a:t>qualitative</a:t>
            </a:r>
            <a:r>
              <a:rPr lang="ca-ES" i="1" dirty="0" smtClean="0"/>
              <a:t> </a:t>
            </a:r>
            <a:r>
              <a:rPr lang="ca-ES" i="1" dirty="0" err="1" smtClean="0"/>
              <a:t>approach</a:t>
            </a:r>
            <a:r>
              <a:rPr lang="ca-ES" i="1" dirty="0" smtClean="0"/>
              <a:t>”, modern &amp; </a:t>
            </a:r>
            <a:r>
              <a:rPr lang="ca-ES" i="1" dirty="0" err="1" smtClean="0"/>
              <a:t>detailed</a:t>
            </a:r>
            <a:r>
              <a:rPr lang="ca-ES" i="1" dirty="0" smtClean="0"/>
              <a:t>) </a:t>
            </a:r>
            <a:endParaRPr lang="ca-ES" i="1" dirty="0"/>
          </a:p>
          <a:p>
            <a:r>
              <a:rPr lang="ca-ES" b="1" i="1" dirty="0" smtClean="0"/>
              <a:t>A </a:t>
            </a:r>
            <a:r>
              <a:rPr lang="ca-ES" b="1" i="1" dirty="0" err="1" smtClean="0"/>
              <a:t>first</a:t>
            </a:r>
            <a:r>
              <a:rPr lang="ca-ES" b="1" i="1" dirty="0" smtClean="0"/>
              <a:t> </a:t>
            </a:r>
            <a:r>
              <a:rPr lang="ca-ES" b="1" i="1" dirty="0" err="1" smtClean="0"/>
              <a:t>course</a:t>
            </a:r>
            <a:r>
              <a:rPr lang="ca-ES" b="1" i="1" dirty="0" smtClean="0"/>
              <a:t> in </a:t>
            </a:r>
            <a:r>
              <a:rPr lang="ca-ES" b="1" i="1" dirty="0" err="1" smtClean="0"/>
              <a:t>design</a:t>
            </a:r>
            <a:r>
              <a:rPr lang="ca-ES" b="1" i="1" dirty="0" smtClean="0"/>
              <a:t> and </a:t>
            </a:r>
            <a:r>
              <a:rPr lang="ca-ES" b="1" i="1" dirty="0" err="1" smtClean="0"/>
              <a:t>analysis</a:t>
            </a:r>
            <a:r>
              <a:rPr lang="ca-ES" b="1" i="1" dirty="0" smtClean="0"/>
              <a:t> of experiments</a:t>
            </a:r>
            <a:r>
              <a:rPr lang="ca-ES" b="1" dirty="0" smtClean="0"/>
              <a:t> </a:t>
            </a:r>
            <a:r>
              <a:rPr lang="ca-ES" sz="2000" dirty="0" smtClean="0"/>
              <a:t>(</a:t>
            </a:r>
            <a:r>
              <a:rPr lang="ca-ES" sz="1800" dirty="0" err="1" smtClean="0"/>
              <a:t>Gary</a:t>
            </a:r>
            <a:r>
              <a:rPr lang="ca-ES" sz="1800" dirty="0" smtClean="0"/>
              <a:t> W. </a:t>
            </a:r>
            <a:r>
              <a:rPr lang="ca-ES" sz="1800" dirty="0" err="1" smtClean="0"/>
              <a:t>Oehlert</a:t>
            </a:r>
            <a:r>
              <a:rPr lang="ca-ES" sz="2000" dirty="0" smtClean="0"/>
              <a:t>)</a:t>
            </a:r>
          </a:p>
          <a:p>
            <a:pPr lvl="1"/>
            <a:r>
              <a:rPr lang="ca-ES" sz="1800" i="1" dirty="0" err="1" smtClean="0"/>
              <a:t>Very</a:t>
            </a:r>
            <a:r>
              <a:rPr lang="ca-ES" sz="1800" i="1" dirty="0" smtClean="0"/>
              <a:t> </a:t>
            </a:r>
            <a:r>
              <a:rPr lang="ca-ES" sz="1800" i="1" dirty="0" err="1" smtClean="0"/>
              <a:t>good</a:t>
            </a:r>
            <a:r>
              <a:rPr lang="ca-ES" sz="1800" i="1" dirty="0" smtClean="0"/>
              <a:t> </a:t>
            </a:r>
            <a:r>
              <a:rPr lang="ca-ES" sz="1800" i="1" dirty="0" err="1" smtClean="0"/>
              <a:t>book</a:t>
            </a:r>
            <a:r>
              <a:rPr lang="ca-ES" sz="1800" i="1" dirty="0" smtClean="0"/>
              <a:t>. </a:t>
            </a:r>
            <a:r>
              <a:rPr lang="ca-ES" sz="1800" i="1" dirty="0" err="1" smtClean="0"/>
              <a:t>More</a:t>
            </a:r>
            <a:r>
              <a:rPr lang="ca-ES" sz="1800" i="1" dirty="0" smtClean="0"/>
              <a:t> </a:t>
            </a:r>
            <a:r>
              <a:rPr lang="ca-ES" sz="1800" i="1" dirty="0" err="1" smtClean="0"/>
              <a:t>mathematic</a:t>
            </a:r>
            <a:r>
              <a:rPr lang="ca-ES" sz="1800" i="1" dirty="0" smtClean="0"/>
              <a:t> (</a:t>
            </a:r>
            <a:r>
              <a:rPr lang="ca-ES" sz="1800" i="1" dirty="0" err="1" smtClean="0"/>
              <a:t>assumes</a:t>
            </a:r>
            <a:r>
              <a:rPr lang="ca-ES" sz="1800" i="1" dirty="0" smtClean="0"/>
              <a:t> basic </a:t>
            </a:r>
            <a:r>
              <a:rPr lang="ca-ES" sz="1800" i="1" dirty="0" err="1" smtClean="0"/>
              <a:t>knowledge</a:t>
            </a:r>
            <a:r>
              <a:rPr lang="ca-ES" sz="1800" i="1" dirty="0" smtClean="0"/>
              <a:t> of </a:t>
            </a:r>
            <a:r>
              <a:rPr lang="ca-ES" sz="1800" i="1" dirty="0" err="1" smtClean="0"/>
              <a:t>statistical</a:t>
            </a:r>
            <a:r>
              <a:rPr lang="ca-ES" sz="1800" i="1" dirty="0" smtClean="0"/>
              <a:t> </a:t>
            </a:r>
            <a:r>
              <a:rPr lang="ca-ES" sz="1800" i="1" dirty="0" err="1" smtClean="0"/>
              <a:t>inference</a:t>
            </a:r>
            <a:r>
              <a:rPr lang="ca-ES" sz="1800" i="1" dirty="0" smtClean="0"/>
              <a:t>)</a:t>
            </a:r>
          </a:p>
          <a:p>
            <a:pPr lvl="1"/>
            <a:r>
              <a:rPr lang="ca-ES" sz="1800" i="1" dirty="0" err="1" smtClean="0"/>
              <a:t>Nice</a:t>
            </a:r>
            <a:r>
              <a:rPr lang="ca-ES" sz="1800" i="1" dirty="0" smtClean="0"/>
              <a:t> web </a:t>
            </a:r>
            <a:r>
              <a:rPr lang="ca-ES" sz="1800" i="1" dirty="0" err="1" smtClean="0"/>
              <a:t>site</a:t>
            </a:r>
            <a:r>
              <a:rPr lang="ca-ES" sz="1800" i="1" dirty="0"/>
              <a:t>: http://users.stat.umn.edu/~</a:t>
            </a:r>
            <a:r>
              <a:rPr lang="ca-ES" sz="1800" i="1" dirty="0" smtClean="0"/>
              <a:t>gary/Book.html</a:t>
            </a:r>
          </a:p>
          <a:p>
            <a:pPr lvl="1"/>
            <a:endParaRPr lang="ca-ES" sz="1800" i="1" dirty="0" smtClean="0"/>
          </a:p>
        </p:txBody>
      </p:sp>
      <p:sp>
        <p:nvSpPr>
          <p:cNvPr id="6" name="5 Título"/>
          <p:cNvSpPr>
            <a:spLocks noGrp="1"/>
          </p:cNvSpPr>
          <p:nvPr>
            <p:ph type="title"/>
          </p:nvPr>
        </p:nvSpPr>
        <p:spPr>
          <a:xfrm>
            <a:off x="495300" y="274638"/>
            <a:ext cx="8915400" cy="1073871"/>
          </a:xfrm>
        </p:spPr>
        <p:txBody>
          <a:bodyPr/>
          <a:lstStyle/>
          <a:p>
            <a:pPr>
              <a:buFont typeface="+mj-lt"/>
              <a:buAutoNum type="arabicPeriod" startAt="4"/>
            </a:pPr>
            <a:r>
              <a:rPr lang="en-US" dirty="0" smtClean="0"/>
              <a:t>Some references...</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posición de imagen"/>
          <p:cNvSpPr>
            <a:spLocks noGrp="1"/>
          </p:cNvSpPr>
          <p:nvPr>
            <p:ph type="pic" idx="1"/>
          </p:nvPr>
        </p:nvSpPr>
        <p:spPr/>
      </p:sp>
      <p:sp>
        <p:nvSpPr>
          <p:cNvPr id="3" name="2 Marcador de texto"/>
          <p:cNvSpPr>
            <a:spLocks noGrp="1"/>
          </p:cNvSpPr>
          <p:nvPr>
            <p:ph type="body" sz="quarter" idx="11"/>
          </p:nvPr>
        </p:nvSpPr>
        <p:spPr>
          <a:xfrm>
            <a:off x="5304283" y="5163129"/>
            <a:ext cx="4403135" cy="1117598"/>
          </a:xfrm>
        </p:spPr>
        <p:txBody>
          <a:bodyPr>
            <a:noAutofit/>
          </a:bodyPr>
          <a:lstStyle/>
          <a:p>
            <a:r>
              <a:rPr lang="en-US" sz="1600" dirty="0" smtClean="0">
                <a:solidFill>
                  <a:schemeClr val="tx1"/>
                </a:solidFill>
              </a:rPr>
              <a:t>Sir  Ronald A. Fisher</a:t>
            </a:r>
            <a:br>
              <a:rPr lang="en-US" sz="1600" dirty="0" smtClean="0">
                <a:solidFill>
                  <a:schemeClr val="tx1"/>
                </a:solidFill>
              </a:rPr>
            </a:br>
            <a:r>
              <a:rPr lang="en-US" sz="1600" dirty="0" smtClean="0">
                <a:solidFill>
                  <a:schemeClr val="tx1"/>
                </a:solidFill>
              </a:rPr>
              <a:t/>
            </a:r>
            <a:br>
              <a:rPr lang="en-US" sz="1600" dirty="0" smtClean="0">
                <a:solidFill>
                  <a:schemeClr val="tx1"/>
                </a:solidFill>
              </a:rPr>
            </a:br>
            <a:r>
              <a:rPr lang="en-US" sz="1600" dirty="0">
                <a:solidFill>
                  <a:srgbClr val="C00000"/>
                </a:solidFill>
              </a:rPr>
              <a:t>Father of modern Mathematical Statistics and Developer of Experimental Design and ANOVA</a:t>
            </a:r>
          </a:p>
          <a:p>
            <a:endParaRPr lang="en-US" sz="1600" dirty="0" smtClean="0">
              <a:solidFill>
                <a:schemeClr val="tx1"/>
              </a:solidFill>
            </a:endParaRPr>
          </a:p>
          <a:p>
            <a:endParaRPr lang="ca-ES" sz="2400" dirty="0"/>
          </a:p>
        </p:txBody>
      </p:sp>
      <p:sp>
        <p:nvSpPr>
          <p:cNvPr id="6" name="Text Box 1"/>
          <p:cNvSpPr txBox="1">
            <a:spLocks noGrp="1" noChangeArrowheads="1"/>
          </p:cNvSpPr>
          <p:nvPr>
            <p:ph type="body" sz="quarter" idx="12"/>
          </p:nvPr>
        </p:nvSpPr>
        <p:spPr bwMode="auto">
          <a:xfrm>
            <a:off x="5328316" y="1492624"/>
            <a:ext cx="4125432" cy="3568903"/>
          </a:xfrm>
          <a:prstGeom prst="rect">
            <a:avLst/>
          </a:prstGeom>
          <a:noFill/>
          <a:ln w="9360">
            <a:noFill/>
            <a:miter lim="800000"/>
            <a:headEnd/>
            <a:tailEnd/>
          </a:ln>
        </p:spPr>
        <p:txBody>
          <a:bodyPr>
            <a:normAutofit/>
          </a:bodyPr>
          <a:lstStyle/>
          <a:p>
            <a:pPr marL="0" indent="0" algn="just">
              <a:lnSpc>
                <a:spcPct val="90000"/>
              </a:lnSpc>
              <a:spcBef>
                <a:spcPts val="700"/>
              </a:spcBef>
              <a:buClrTx/>
              <a:buFontTx/>
              <a:buNone/>
              <a:tabLst>
                <a:tab pos="0" algn="l"/>
                <a:tab pos="1003300" algn="l"/>
                <a:tab pos="1452563" algn="l"/>
                <a:tab pos="1901825" algn="l"/>
                <a:tab pos="2351088" algn="l"/>
                <a:tab pos="2800350" algn="l"/>
                <a:tab pos="3249613" algn="l"/>
                <a:tab pos="3698875" algn="l"/>
                <a:tab pos="4148138" algn="l"/>
                <a:tab pos="4597400" algn="l"/>
                <a:tab pos="5046663" algn="l"/>
                <a:tab pos="5495925" algn="l"/>
                <a:tab pos="5945188" algn="l"/>
                <a:tab pos="6394450" algn="l"/>
                <a:tab pos="6843713" algn="l"/>
                <a:tab pos="7292975" algn="l"/>
                <a:tab pos="7742238" algn="l"/>
                <a:tab pos="8191500" algn="l"/>
                <a:tab pos="8640763" algn="l"/>
                <a:tab pos="8686800" algn="l"/>
              </a:tabLst>
            </a:pPr>
            <a:r>
              <a:rPr lang="en-US" sz="2800" i="1" dirty="0" smtClean="0">
                <a:solidFill>
                  <a:srgbClr val="C00000"/>
                </a:solidFill>
              </a:rPr>
              <a:t>To </a:t>
            </a:r>
            <a:r>
              <a:rPr lang="en-US" sz="2800" i="1" dirty="0">
                <a:solidFill>
                  <a:srgbClr val="C00000"/>
                </a:solidFill>
              </a:rPr>
              <a:t>consult the statistician after an experiment is </a:t>
            </a:r>
            <a:r>
              <a:rPr lang="en-US" sz="2800" i="1" dirty="0" smtClean="0">
                <a:solidFill>
                  <a:srgbClr val="C00000"/>
                </a:solidFill>
              </a:rPr>
              <a:t>finished, </a:t>
            </a:r>
            <a:r>
              <a:rPr lang="en-US" sz="2800" i="1" dirty="0">
                <a:solidFill>
                  <a:srgbClr val="C00000"/>
                </a:solidFill>
              </a:rPr>
              <a:t>is often merely to ask him to conduct a post mortem examination. </a:t>
            </a:r>
          </a:p>
          <a:p>
            <a:pPr marL="0" indent="0" algn="just">
              <a:lnSpc>
                <a:spcPct val="90000"/>
              </a:lnSpc>
              <a:spcBef>
                <a:spcPts val="700"/>
              </a:spcBef>
              <a:buClrTx/>
              <a:buFontTx/>
              <a:buNone/>
              <a:tabLst>
                <a:tab pos="0" algn="l"/>
                <a:tab pos="104775" algn="l"/>
                <a:tab pos="1003300" algn="l"/>
                <a:tab pos="1452563" algn="l"/>
                <a:tab pos="1901825" algn="l"/>
                <a:tab pos="2351088" algn="l"/>
                <a:tab pos="2800350" algn="l"/>
                <a:tab pos="3249613" algn="l"/>
                <a:tab pos="3698875" algn="l"/>
                <a:tab pos="4148138" algn="l"/>
                <a:tab pos="4597400" algn="l"/>
                <a:tab pos="5046663" algn="l"/>
                <a:tab pos="5495925" algn="l"/>
                <a:tab pos="5945188" algn="l"/>
                <a:tab pos="6394450" algn="l"/>
                <a:tab pos="6843713" algn="l"/>
                <a:tab pos="7292975" algn="l"/>
                <a:tab pos="7742238" algn="l"/>
                <a:tab pos="8191500" algn="l"/>
                <a:tab pos="8640763" algn="l"/>
                <a:tab pos="8686800" algn="l"/>
              </a:tabLst>
            </a:pPr>
            <a:r>
              <a:rPr lang="en-US" sz="2800" i="1" dirty="0" smtClean="0">
                <a:solidFill>
                  <a:srgbClr val="C00000"/>
                </a:solidFill>
              </a:rPr>
              <a:t>He </a:t>
            </a:r>
            <a:r>
              <a:rPr lang="en-US" sz="2800" i="1" dirty="0">
                <a:solidFill>
                  <a:srgbClr val="C00000"/>
                </a:solidFill>
              </a:rPr>
              <a:t>can perhaps say</a:t>
            </a:r>
            <a:r>
              <a:rPr lang="en-US" sz="2800" dirty="0">
                <a:solidFill>
                  <a:srgbClr val="C00000"/>
                </a:solidFill>
              </a:rPr>
              <a:t> </a:t>
            </a:r>
            <a:r>
              <a:rPr lang="en-US" sz="2800" i="1" dirty="0">
                <a:solidFill>
                  <a:srgbClr val="C00000"/>
                </a:solidFill>
              </a:rPr>
              <a:t>what the experiment died of. </a:t>
            </a:r>
          </a:p>
        </p:txBody>
      </p:sp>
      <p:sp>
        <p:nvSpPr>
          <p:cNvPr id="5" name="4 Título"/>
          <p:cNvSpPr>
            <a:spLocks noGrp="1"/>
          </p:cNvSpPr>
          <p:nvPr>
            <p:ph type="title"/>
          </p:nvPr>
        </p:nvSpPr>
        <p:spPr/>
        <p:txBody>
          <a:bodyPr>
            <a:normAutofit/>
          </a:bodyPr>
          <a:lstStyle/>
          <a:p>
            <a:pPr algn="l">
              <a:buNone/>
            </a:pPr>
            <a:r>
              <a:rPr lang="en-US" sz="3200" i="1" dirty="0" smtClean="0"/>
              <a:t>So, should we account for Experimental Design?</a:t>
            </a:r>
            <a:endParaRPr lang="ca-ES" sz="3200" i="1" dirty="0"/>
          </a:p>
        </p:txBody>
      </p:sp>
      <p:pic>
        <p:nvPicPr>
          <p:cNvPr id="7" name="Picture 2"/>
          <p:cNvPicPr>
            <a:picLocks noChangeAspect="1" noChangeArrowheads="1"/>
          </p:cNvPicPr>
          <p:nvPr/>
        </p:nvPicPr>
        <p:blipFill>
          <a:blip r:embed="rId2" cstate="print"/>
          <a:srcRect/>
          <a:stretch>
            <a:fillRect/>
          </a:stretch>
        </p:blipFill>
        <p:spPr bwMode="auto">
          <a:xfrm>
            <a:off x="521074" y="1492624"/>
            <a:ext cx="4588807" cy="4928021"/>
          </a:xfrm>
          <a:prstGeom prst="rect">
            <a:avLst/>
          </a:prstGeom>
          <a:noFill/>
          <a:ln w="9525">
            <a:noFill/>
            <a:round/>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texto"/>
          <p:cNvSpPr>
            <a:spLocks noGrp="1"/>
          </p:cNvSpPr>
          <p:nvPr>
            <p:ph type="body" sz="quarter" idx="12"/>
          </p:nvPr>
        </p:nvSpPr>
        <p:spPr>
          <a:xfrm>
            <a:off x="542925" y="1477818"/>
            <a:ext cx="8942820" cy="4901717"/>
          </a:xfrm>
        </p:spPr>
        <p:txBody>
          <a:bodyPr>
            <a:normAutofit/>
          </a:bodyPr>
          <a:lstStyle/>
          <a:p>
            <a:pPr>
              <a:spcBef>
                <a:spcPts val="700"/>
              </a:spcBef>
              <a:tabLst>
                <a:tab pos="0" algn="l"/>
                <a:tab pos="104775" algn="l"/>
                <a:tab pos="554038" algn="l"/>
                <a:tab pos="1003300" algn="l"/>
                <a:tab pos="1452563" algn="l"/>
                <a:tab pos="1901825" algn="l"/>
                <a:tab pos="2351088" algn="l"/>
                <a:tab pos="2800350" algn="l"/>
                <a:tab pos="3249613" algn="l"/>
                <a:tab pos="3698875" algn="l"/>
                <a:tab pos="4148138" algn="l"/>
                <a:tab pos="4597400" algn="l"/>
                <a:tab pos="5046663" algn="l"/>
                <a:tab pos="5495925" algn="l"/>
                <a:tab pos="5945188" algn="l"/>
                <a:tab pos="6394450" algn="l"/>
                <a:tab pos="6843713" algn="l"/>
                <a:tab pos="7292975" algn="l"/>
                <a:tab pos="7742238" algn="l"/>
                <a:tab pos="8191500" algn="l"/>
                <a:tab pos="8640763" algn="l"/>
                <a:tab pos="8686800" algn="l"/>
              </a:tabLst>
            </a:pPr>
            <a:r>
              <a:rPr lang="en-US" sz="2800" dirty="0" smtClean="0"/>
              <a:t>Good experimental design is essential to perform good experiments.</a:t>
            </a:r>
          </a:p>
          <a:p>
            <a:pPr>
              <a:spcBef>
                <a:spcPts val="700"/>
              </a:spcBef>
              <a:tabLst>
                <a:tab pos="0" algn="l"/>
                <a:tab pos="104775" algn="l"/>
                <a:tab pos="554038" algn="l"/>
                <a:tab pos="1003300" algn="l"/>
                <a:tab pos="1452563" algn="l"/>
                <a:tab pos="1901825" algn="l"/>
                <a:tab pos="2351088" algn="l"/>
                <a:tab pos="2800350" algn="l"/>
                <a:tab pos="3249613" algn="l"/>
                <a:tab pos="3698875" algn="l"/>
                <a:tab pos="4148138" algn="l"/>
                <a:tab pos="4597400" algn="l"/>
                <a:tab pos="5046663" algn="l"/>
                <a:tab pos="5495925" algn="l"/>
                <a:tab pos="5945188" algn="l"/>
                <a:tab pos="6394450" algn="l"/>
                <a:tab pos="6843713" algn="l"/>
                <a:tab pos="7292975" algn="l"/>
                <a:tab pos="7742238" algn="l"/>
                <a:tab pos="8191500" algn="l"/>
                <a:tab pos="8640763" algn="l"/>
                <a:tab pos="8686800" algn="l"/>
              </a:tabLst>
            </a:pPr>
            <a:r>
              <a:rPr lang="en-US" sz="2800" dirty="0" smtClean="0"/>
              <a:t>Experimental design means </a:t>
            </a:r>
            <a:r>
              <a:rPr lang="en-US" sz="2800" i="1" dirty="0" smtClean="0"/>
              <a:t>planning ahead</a:t>
            </a:r>
          </a:p>
          <a:p>
            <a:pPr marL="400050" lvl="2" indent="0">
              <a:spcBef>
                <a:spcPts val="600"/>
              </a:spcBef>
              <a:buNone/>
              <a:tabLst>
                <a:tab pos="0" algn="l"/>
                <a:tab pos="104775" algn="l"/>
                <a:tab pos="554038" algn="l"/>
                <a:tab pos="1003300" algn="l"/>
                <a:tab pos="1452563" algn="l"/>
                <a:tab pos="1901825" algn="l"/>
                <a:tab pos="2351088" algn="l"/>
                <a:tab pos="2800350" algn="l"/>
                <a:tab pos="3249613" algn="l"/>
                <a:tab pos="3698875" algn="l"/>
                <a:tab pos="4148138" algn="l"/>
                <a:tab pos="4597400" algn="l"/>
                <a:tab pos="5046663" algn="l"/>
                <a:tab pos="5495925" algn="l"/>
                <a:tab pos="5945188" algn="l"/>
                <a:tab pos="6394450" algn="l"/>
                <a:tab pos="6843713" algn="l"/>
                <a:tab pos="7292975" algn="l"/>
                <a:tab pos="7742238" algn="l"/>
                <a:tab pos="8191500" algn="l"/>
                <a:tab pos="8640763" algn="l"/>
                <a:tab pos="8686800" algn="l"/>
              </a:tabLst>
            </a:pPr>
            <a:r>
              <a:rPr lang="en-US" sz="2800" dirty="0" smtClean="0">
                <a:solidFill>
                  <a:schemeClr val="bg2">
                    <a:lumMod val="50000"/>
                  </a:schemeClr>
                </a:solidFill>
              </a:rPr>
              <a:t>	Should be done before the experiment starts</a:t>
            </a:r>
          </a:p>
          <a:p>
            <a:pPr marL="857250" lvl="3" indent="0">
              <a:spcBef>
                <a:spcPts val="600"/>
              </a:spcBef>
              <a:buNone/>
              <a:tabLst>
                <a:tab pos="0" algn="l"/>
                <a:tab pos="104775" algn="l"/>
                <a:tab pos="554038" algn="l"/>
                <a:tab pos="1003300" algn="l"/>
                <a:tab pos="1452563" algn="l"/>
                <a:tab pos="1901825" algn="l"/>
                <a:tab pos="2351088" algn="l"/>
                <a:tab pos="2800350" algn="l"/>
                <a:tab pos="3249613" algn="l"/>
                <a:tab pos="3698875" algn="l"/>
                <a:tab pos="4148138" algn="l"/>
                <a:tab pos="4597400" algn="l"/>
                <a:tab pos="5046663" algn="l"/>
                <a:tab pos="5495925" algn="l"/>
                <a:tab pos="5945188" algn="l"/>
                <a:tab pos="6394450" algn="l"/>
                <a:tab pos="6843713" algn="l"/>
                <a:tab pos="7292975" algn="l"/>
                <a:tab pos="7742238" algn="l"/>
                <a:tab pos="8191500" algn="l"/>
                <a:tab pos="8640763" algn="l"/>
                <a:tab pos="8686800" algn="l"/>
              </a:tabLst>
            </a:pPr>
            <a:r>
              <a:rPr lang="en-US" sz="2800" dirty="0" smtClean="0">
                <a:solidFill>
                  <a:schemeClr val="bg2">
                    <a:lumMod val="50000"/>
                  </a:schemeClr>
                </a:solidFill>
              </a:rPr>
              <a:t>Should consider all the steps: from sampling to data analysis</a:t>
            </a:r>
          </a:p>
          <a:p>
            <a:pPr marL="342900" lvl="1" indent="-342900">
              <a:spcBef>
                <a:spcPts val="700"/>
              </a:spcBef>
              <a:buFont typeface="Arial" panose="020B0604020202020204" pitchFamily="34" charset="0"/>
              <a:buChar char="•"/>
              <a:tabLst>
                <a:tab pos="0" algn="l"/>
                <a:tab pos="104775" algn="l"/>
                <a:tab pos="554038" algn="l"/>
                <a:tab pos="1003300" algn="l"/>
                <a:tab pos="1452563" algn="l"/>
                <a:tab pos="1901825" algn="l"/>
                <a:tab pos="2351088" algn="l"/>
                <a:tab pos="2800350" algn="l"/>
                <a:tab pos="3249613" algn="l"/>
                <a:tab pos="3698875" algn="l"/>
                <a:tab pos="4148138" algn="l"/>
                <a:tab pos="4597400" algn="l"/>
                <a:tab pos="5046663" algn="l"/>
                <a:tab pos="5495925" algn="l"/>
                <a:tab pos="5945188" algn="l"/>
                <a:tab pos="6394450" algn="l"/>
                <a:tab pos="6843713" algn="l"/>
                <a:tab pos="7292975" algn="l"/>
                <a:tab pos="7742238" algn="l"/>
                <a:tab pos="8191500" algn="l"/>
                <a:tab pos="8640763" algn="l"/>
                <a:tab pos="8686800" algn="l"/>
              </a:tabLst>
            </a:pPr>
            <a:r>
              <a:rPr lang="en-US" sz="2800" dirty="0" smtClean="0"/>
              <a:t>Call </a:t>
            </a:r>
            <a:r>
              <a:rPr lang="en-US" sz="2800" dirty="0"/>
              <a:t>your favorite biostatistician before the experiment </a:t>
            </a:r>
            <a:r>
              <a:rPr lang="en-US" sz="2800" dirty="0" smtClean="0"/>
              <a:t>begins, </a:t>
            </a:r>
            <a:r>
              <a:rPr lang="en-US" sz="2800" b="1" i="1" dirty="0" smtClean="0"/>
              <a:t>not to bring her the data you have collected!</a:t>
            </a:r>
            <a:endParaRPr lang="en-US" sz="2800" b="1" i="1" dirty="0"/>
          </a:p>
          <a:p>
            <a:pPr marL="0" lvl="1" indent="0">
              <a:spcBef>
                <a:spcPts val="600"/>
              </a:spcBef>
              <a:buNone/>
              <a:tabLst>
                <a:tab pos="0" algn="l"/>
                <a:tab pos="104775" algn="l"/>
                <a:tab pos="554038" algn="l"/>
                <a:tab pos="1003300" algn="l"/>
                <a:tab pos="1452563" algn="l"/>
                <a:tab pos="1901825" algn="l"/>
                <a:tab pos="2351088" algn="l"/>
                <a:tab pos="2800350" algn="l"/>
                <a:tab pos="3249613" algn="l"/>
                <a:tab pos="3698875" algn="l"/>
                <a:tab pos="4148138" algn="l"/>
                <a:tab pos="4597400" algn="l"/>
                <a:tab pos="5046663" algn="l"/>
                <a:tab pos="5495925" algn="l"/>
                <a:tab pos="5945188" algn="l"/>
                <a:tab pos="6394450" algn="l"/>
                <a:tab pos="6843713" algn="l"/>
                <a:tab pos="7292975" algn="l"/>
                <a:tab pos="7742238" algn="l"/>
                <a:tab pos="8191500" algn="l"/>
                <a:tab pos="8640763" algn="l"/>
                <a:tab pos="8686800" algn="l"/>
              </a:tabLst>
            </a:pPr>
            <a:endParaRPr lang="en-US" sz="2800" dirty="0" smtClean="0">
              <a:solidFill>
                <a:srgbClr val="000000"/>
              </a:solidFill>
            </a:endParaRPr>
          </a:p>
          <a:p>
            <a:endParaRPr lang="ca-ES" sz="2400" dirty="0"/>
          </a:p>
        </p:txBody>
      </p:sp>
      <p:sp>
        <p:nvSpPr>
          <p:cNvPr id="4" name="3 Título"/>
          <p:cNvSpPr>
            <a:spLocks noGrp="1"/>
          </p:cNvSpPr>
          <p:nvPr>
            <p:ph type="title"/>
          </p:nvPr>
        </p:nvSpPr>
        <p:spPr>
          <a:xfrm>
            <a:off x="495300" y="274638"/>
            <a:ext cx="8915400" cy="1027689"/>
          </a:xfrm>
        </p:spPr>
        <p:txBody>
          <a:bodyPr>
            <a:normAutofit/>
          </a:bodyPr>
          <a:lstStyle/>
          <a:p>
            <a:pPr>
              <a:buNone/>
            </a:pPr>
            <a:r>
              <a:rPr lang="en-US" sz="3600" dirty="0" smtClean="0"/>
              <a:t>Take home message</a:t>
            </a:r>
            <a:endParaRPr lang="ca-ES" sz="36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Marcador de texto"/>
          <p:cNvSpPr>
            <a:spLocks noGrp="1"/>
          </p:cNvSpPr>
          <p:nvPr>
            <p:ph type="body" sz="quarter" idx="10"/>
          </p:nvPr>
        </p:nvSpPr>
        <p:spPr bwMode="auto">
          <a:xfrm>
            <a:off x="3903663" y="579438"/>
            <a:ext cx="6002337" cy="5349875"/>
          </a:xfrm>
          <a:noFill/>
          <a:ln>
            <a:miter lim="800000"/>
            <a:headEnd/>
            <a:tailEnd/>
          </a:ln>
        </p:spPr>
        <p:txBody>
          <a:bodyPr vert="horz" wrap="square" lIns="91440" tIns="45720" rIns="91440" bIns="45720" numCol="1" anchor="t" anchorCtr="0" compatLnSpc="1">
            <a:prstTxWarp prst="textNoShape">
              <a:avLst/>
            </a:prstTxWarp>
          </a:bodyPr>
          <a:lstStyle/>
          <a:p>
            <a:pPr marL="358775" indent="-358775">
              <a:buFont typeface="Calibri" pitchFamily="34" charset="0"/>
              <a:buAutoNum type="arabicPeriod"/>
            </a:pPr>
            <a:r>
              <a:rPr lang="en-GB" dirty="0" smtClean="0">
                <a:solidFill>
                  <a:srgbClr val="FF0000"/>
                </a:solidFill>
                <a:ea typeface="ＭＳ Ｐゴシック" pitchFamily="34" charset="-128"/>
              </a:rPr>
              <a:t>Basic ideas of experimental design</a:t>
            </a:r>
          </a:p>
          <a:p>
            <a:pPr marL="358775" indent="-358775">
              <a:buFont typeface="Calibri" pitchFamily="34" charset="0"/>
              <a:buAutoNum type="arabicPeriod"/>
            </a:pPr>
            <a:r>
              <a:rPr lang="en-GB" dirty="0" smtClean="0">
                <a:solidFill>
                  <a:srgbClr val="FF0000"/>
                </a:solidFill>
                <a:ea typeface="ＭＳ Ｐゴシック" pitchFamily="34" charset="-128"/>
              </a:rPr>
              <a:t>Experimental Design Types</a:t>
            </a:r>
          </a:p>
          <a:p>
            <a:pPr marL="798875" lvl="1" indent="-358775">
              <a:buFont typeface="Calibri" pitchFamily="34" charset="0"/>
              <a:buAutoNum type="arabicPeriod"/>
            </a:pPr>
            <a:r>
              <a:rPr lang="en-GB" dirty="0" smtClean="0">
                <a:solidFill>
                  <a:srgbClr val="FF0000"/>
                </a:solidFill>
                <a:ea typeface="ＭＳ Ｐゴシック" pitchFamily="34" charset="-128"/>
              </a:rPr>
              <a:t>Randomize</a:t>
            </a:r>
          </a:p>
          <a:p>
            <a:pPr marL="798875" lvl="1" indent="-358775">
              <a:buFont typeface="Calibri" pitchFamily="34" charset="0"/>
              <a:buAutoNum type="arabicPeriod"/>
            </a:pPr>
            <a:r>
              <a:rPr lang="en-GB" dirty="0" smtClean="0">
                <a:solidFill>
                  <a:srgbClr val="FF0000"/>
                </a:solidFill>
                <a:ea typeface="ＭＳ Ｐゴシック" pitchFamily="34" charset="-128"/>
              </a:rPr>
              <a:t>Replicate</a:t>
            </a:r>
          </a:p>
          <a:p>
            <a:pPr marL="798875" lvl="1" indent="-358775">
              <a:buFont typeface="Calibri" pitchFamily="34" charset="0"/>
              <a:buAutoNum type="arabicPeriod"/>
            </a:pPr>
            <a:r>
              <a:rPr lang="en-GB" dirty="0" smtClean="0">
                <a:solidFill>
                  <a:srgbClr val="FF0000"/>
                </a:solidFill>
                <a:ea typeface="ＭＳ Ｐゴシック" pitchFamily="34" charset="-128"/>
              </a:rPr>
              <a:t>Local control</a:t>
            </a:r>
          </a:p>
          <a:p>
            <a:pPr marL="358775" indent="-358775">
              <a:buFont typeface="Calibri" pitchFamily="34" charset="0"/>
              <a:buAutoNum type="arabicPeriod"/>
            </a:pPr>
            <a:r>
              <a:rPr lang="en-GB" dirty="0" smtClean="0">
                <a:solidFill>
                  <a:srgbClr val="FF0000"/>
                </a:solidFill>
                <a:ea typeface="ＭＳ Ｐゴシック" pitchFamily="34" charset="-128"/>
              </a:rPr>
              <a:t>Experimental Design types</a:t>
            </a:r>
          </a:p>
          <a:p>
            <a:pPr marL="798875" lvl="1" indent="-358775">
              <a:buFont typeface="Calibri" pitchFamily="34" charset="0"/>
              <a:buAutoNum type="arabicPeriod"/>
            </a:pPr>
            <a:r>
              <a:rPr lang="en-GB" dirty="0" smtClean="0">
                <a:solidFill>
                  <a:srgbClr val="FF0000"/>
                </a:solidFill>
                <a:ea typeface="ＭＳ Ｐゴシック" pitchFamily="34" charset="-128"/>
              </a:rPr>
              <a:t>Completely Randomized Design (CRD)</a:t>
            </a:r>
          </a:p>
          <a:p>
            <a:pPr marL="798875" lvl="1" indent="-358775">
              <a:buFont typeface="Calibri" pitchFamily="34" charset="0"/>
              <a:buAutoNum type="arabicPeriod"/>
            </a:pPr>
            <a:r>
              <a:rPr lang="en-GB" dirty="0" smtClean="0">
                <a:solidFill>
                  <a:srgbClr val="FF0000"/>
                </a:solidFill>
                <a:ea typeface="ＭＳ Ｐゴシック" pitchFamily="34" charset="-128"/>
              </a:rPr>
              <a:t>Randomized Block Design (RBD)</a:t>
            </a:r>
          </a:p>
          <a:p>
            <a:pPr marL="798875" lvl="1" indent="-358775">
              <a:buFont typeface="Calibri" pitchFamily="34" charset="0"/>
              <a:buAutoNum type="arabicPeriod"/>
            </a:pPr>
            <a:r>
              <a:rPr lang="en-GB" dirty="0" smtClean="0">
                <a:solidFill>
                  <a:srgbClr val="FF0000"/>
                </a:solidFill>
                <a:ea typeface="ＭＳ Ｐゴシック" pitchFamily="34" charset="-128"/>
              </a:rPr>
              <a:t>Factorial Experiments</a:t>
            </a:r>
          </a:p>
          <a:p>
            <a:pPr marL="798875" lvl="1" indent="-358775">
              <a:buFont typeface="Calibri" pitchFamily="34" charset="0"/>
              <a:buAutoNum type="arabicPeriod"/>
            </a:pPr>
            <a:r>
              <a:rPr lang="en-GB" dirty="0" smtClean="0">
                <a:solidFill>
                  <a:srgbClr val="FF0000"/>
                </a:solidFill>
                <a:ea typeface="ＭＳ Ｐゴシック" pitchFamily="34" charset="-128"/>
              </a:rPr>
              <a:t>Repeated Measures (Within Subjects Designs)</a:t>
            </a:r>
          </a:p>
          <a:p>
            <a:pPr marL="358775" indent="-358775">
              <a:buFont typeface="Calibri" pitchFamily="34" charset="0"/>
              <a:buAutoNum type="arabicPeriod"/>
            </a:pPr>
            <a:r>
              <a:rPr lang="en-GB" dirty="0" smtClean="0">
                <a:solidFill>
                  <a:srgbClr val="FF0000"/>
                </a:solidFill>
                <a:ea typeface="ＭＳ Ｐゴシック" pitchFamily="34" charset="-128"/>
              </a:rPr>
              <a:t>Some references</a:t>
            </a:r>
          </a:p>
          <a:p>
            <a:pPr marL="358775" indent="-358775">
              <a:buFont typeface="Calibri" pitchFamily="34" charset="0"/>
              <a:buAutoNum type="arabicPeriod"/>
            </a:pPr>
            <a:r>
              <a:rPr lang="en-GB" dirty="0" smtClean="0">
                <a:solidFill>
                  <a:srgbClr val="FF0000"/>
                </a:solidFill>
                <a:ea typeface="ＭＳ Ｐゴシック" pitchFamily="34" charset="-128"/>
              </a:rPr>
              <a:t>Exercises</a:t>
            </a:r>
          </a:p>
          <a:p>
            <a:pPr marL="798875" lvl="1" indent="-358775">
              <a:buFont typeface="Calibri" pitchFamily="34" charset="0"/>
              <a:buAutoNum type="arabicPeriod"/>
            </a:pPr>
            <a:endParaRPr lang="en-GB" dirty="0" smtClean="0">
              <a:ea typeface="ＭＳ Ｐゴシック" pitchFamily="34" charset="-128"/>
            </a:endParaRPr>
          </a:p>
          <a:p>
            <a:pPr marL="358775" indent="-358775">
              <a:buFont typeface="Calibri" pitchFamily="34" charset="0"/>
              <a:buAutoNum type="arabicPeriod"/>
            </a:pPr>
            <a:endParaRPr lang="en-GB" dirty="0" smtClean="0">
              <a:ea typeface="ＭＳ Ｐゴシック" pitchFamily="34" charset="-128"/>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a:xfrm>
            <a:off x="318351" y="1290775"/>
            <a:ext cx="8751075" cy="424638"/>
          </a:xfrm>
        </p:spPr>
        <p:txBody>
          <a:bodyPr>
            <a:normAutofit fontScale="92500" lnSpcReduction="20000"/>
          </a:bodyPr>
          <a:lstStyle/>
          <a:p>
            <a:r>
              <a:rPr lang="en-US" sz="2800" smtClean="0"/>
              <a:t>Exercise 1.</a:t>
            </a:r>
            <a:endParaRPr lang="en-US" sz="2800"/>
          </a:p>
        </p:txBody>
      </p:sp>
      <p:sp>
        <p:nvSpPr>
          <p:cNvPr id="7" name="6 Marcador de texto"/>
          <p:cNvSpPr>
            <a:spLocks noGrp="1"/>
          </p:cNvSpPr>
          <p:nvPr>
            <p:ph type="body" sz="quarter" idx="12"/>
          </p:nvPr>
        </p:nvSpPr>
        <p:spPr>
          <a:xfrm>
            <a:off x="344963" y="1783532"/>
            <a:ext cx="8739298" cy="1707363"/>
          </a:xfrm>
        </p:spPr>
        <p:txBody>
          <a:bodyPr/>
          <a:lstStyle/>
          <a:p>
            <a:pPr marL="0" indent="0" algn="just">
              <a:buNone/>
            </a:pPr>
            <a:r>
              <a:rPr lang="en-GB" sz="1800" dirty="0" smtClean="0"/>
              <a:t>High cholesterol level in people may be reduced by exercise or by drug treatment. A pharmaceutical company has developed a new cholesterol-reducing drug. Researchers would like to compare its effect to the effects of the cholesterol-reducing drug that is currently on the market. Volunteers who have a history of high cholesterol and who are currently not on medication will be recruited to participate in the study.</a:t>
            </a:r>
            <a:endParaRPr lang="en-GB" sz="1800" dirty="0"/>
          </a:p>
        </p:txBody>
      </p:sp>
      <p:sp>
        <p:nvSpPr>
          <p:cNvPr id="5" name="4 Título"/>
          <p:cNvSpPr>
            <a:spLocks noGrp="1"/>
          </p:cNvSpPr>
          <p:nvPr>
            <p:ph type="title"/>
          </p:nvPr>
        </p:nvSpPr>
        <p:spPr/>
        <p:txBody>
          <a:bodyPr/>
          <a:lstStyle/>
          <a:p>
            <a:pPr>
              <a:buFont typeface="+mj-lt"/>
              <a:buAutoNum type="arabicPeriod" startAt="5"/>
            </a:pPr>
            <a:r>
              <a:rPr lang="en-GB" dirty="0" smtClean="0"/>
              <a:t>Exercises</a:t>
            </a:r>
            <a:endParaRPr lang="en-GB" dirty="0"/>
          </a:p>
        </p:txBody>
      </p:sp>
      <p:sp>
        <p:nvSpPr>
          <p:cNvPr id="8" name="7 Rectángulo"/>
          <p:cNvSpPr/>
          <p:nvPr/>
        </p:nvSpPr>
        <p:spPr>
          <a:xfrm>
            <a:off x="508000" y="3490895"/>
            <a:ext cx="8551159" cy="1631216"/>
          </a:xfrm>
          <a:prstGeom prst="rect">
            <a:avLst/>
          </a:prstGeom>
        </p:spPr>
        <p:txBody>
          <a:bodyPr wrap="square">
            <a:spAutoFit/>
          </a:bodyPr>
          <a:lstStyle/>
          <a:p>
            <a:pPr marL="263525" indent="-263525"/>
            <a:r>
              <a:rPr lang="en-GB" sz="2000" dirty="0" smtClean="0">
                <a:solidFill>
                  <a:schemeClr val="bg2">
                    <a:lumMod val="50000"/>
                  </a:schemeClr>
                </a:solidFill>
                <a:latin typeface="+mn-lt"/>
              </a:rPr>
              <a:t>A. Explain how you would carry out a completely randomized experiment for the study.</a:t>
            </a:r>
          </a:p>
          <a:p>
            <a:pPr marL="263525" indent="-263525"/>
            <a:r>
              <a:rPr lang="en-GB" sz="2000" dirty="0" smtClean="0">
                <a:solidFill>
                  <a:schemeClr val="bg2">
                    <a:lumMod val="50000"/>
                  </a:schemeClr>
                </a:solidFill>
                <a:latin typeface="+mn-lt"/>
              </a:rPr>
              <a:t>B. Describe an experimental design that would improve the design in part A by incorporating blocking.</a:t>
            </a:r>
          </a:p>
          <a:p>
            <a:r>
              <a:rPr lang="en-GB" sz="2000" dirty="0" smtClean="0">
                <a:solidFill>
                  <a:schemeClr val="bg2">
                    <a:lumMod val="50000"/>
                  </a:schemeClr>
                </a:solidFill>
                <a:latin typeface="+mn-lt"/>
              </a:rPr>
              <a:t>C. Can the experiment in part B be carried out in a double blind manner? Explain.</a:t>
            </a:r>
            <a:endParaRPr lang="en-GB" sz="2000" dirty="0">
              <a:solidFill>
                <a:schemeClr val="bg2">
                  <a:lumMod val="50000"/>
                </a:schemeClr>
              </a:solidFill>
              <a:latin typeface="+mn-lt"/>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a:xfrm>
            <a:off x="318351" y="1290775"/>
            <a:ext cx="8751075" cy="424638"/>
          </a:xfrm>
        </p:spPr>
        <p:txBody>
          <a:bodyPr>
            <a:normAutofit fontScale="92500" lnSpcReduction="20000"/>
          </a:bodyPr>
          <a:lstStyle/>
          <a:p>
            <a:r>
              <a:rPr lang="en-US" sz="2800" dirty="0" smtClean="0"/>
              <a:t>Exercise 1. Solution</a:t>
            </a:r>
            <a:endParaRPr lang="en-US" sz="2800" dirty="0"/>
          </a:p>
        </p:txBody>
      </p:sp>
      <p:sp>
        <p:nvSpPr>
          <p:cNvPr id="5" name="4 Título"/>
          <p:cNvSpPr>
            <a:spLocks noGrp="1"/>
          </p:cNvSpPr>
          <p:nvPr>
            <p:ph type="title"/>
          </p:nvPr>
        </p:nvSpPr>
        <p:spPr/>
        <p:txBody>
          <a:bodyPr/>
          <a:lstStyle/>
          <a:p>
            <a:pPr>
              <a:buFont typeface="+mj-lt"/>
              <a:buAutoNum type="arabicPeriod" startAt="5"/>
            </a:pPr>
            <a:r>
              <a:rPr lang="en-GB" dirty="0" smtClean="0"/>
              <a:t>Exercises</a:t>
            </a:r>
            <a:endParaRPr lang="en-GB" dirty="0"/>
          </a:p>
        </p:txBody>
      </p:sp>
      <p:pic>
        <p:nvPicPr>
          <p:cNvPr id="1026" name="Picture 2"/>
          <p:cNvPicPr>
            <a:picLocks noChangeAspect="1" noChangeArrowheads="1"/>
          </p:cNvPicPr>
          <p:nvPr/>
        </p:nvPicPr>
        <p:blipFill>
          <a:blip r:embed="rId2" cstate="print"/>
          <a:srcRect/>
          <a:stretch>
            <a:fillRect/>
          </a:stretch>
        </p:blipFill>
        <p:spPr bwMode="auto">
          <a:xfrm>
            <a:off x="441783" y="1886932"/>
            <a:ext cx="8324850" cy="28956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a:xfrm>
            <a:off x="318351" y="1290775"/>
            <a:ext cx="8751075" cy="424638"/>
          </a:xfrm>
        </p:spPr>
        <p:txBody>
          <a:bodyPr>
            <a:normAutofit fontScale="92500" lnSpcReduction="20000"/>
          </a:bodyPr>
          <a:lstStyle/>
          <a:p>
            <a:r>
              <a:rPr lang="en-US" sz="2800" dirty="0" smtClean="0"/>
              <a:t>Exercise 1. Solution</a:t>
            </a:r>
            <a:endParaRPr lang="en-US" sz="2800" dirty="0"/>
          </a:p>
        </p:txBody>
      </p:sp>
      <p:sp>
        <p:nvSpPr>
          <p:cNvPr id="5" name="4 Título"/>
          <p:cNvSpPr>
            <a:spLocks noGrp="1"/>
          </p:cNvSpPr>
          <p:nvPr>
            <p:ph type="title"/>
          </p:nvPr>
        </p:nvSpPr>
        <p:spPr/>
        <p:txBody>
          <a:bodyPr/>
          <a:lstStyle/>
          <a:p>
            <a:pPr>
              <a:buFont typeface="+mj-lt"/>
              <a:buAutoNum type="arabicPeriod" startAt="5"/>
            </a:pPr>
            <a:r>
              <a:rPr lang="en-GB" dirty="0" smtClean="0"/>
              <a:t>Exercises</a:t>
            </a:r>
            <a:endParaRPr lang="en-GB" dirty="0"/>
          </a:p>
        </p:txBody>
      </p:sp>
      <p:pic>
        <p:nvPicPr>
          <p:cNvPr id="2051" name="Picture 3"/>
          <p:cNvPicPr>
            <a:picLocks noChangeAspect="1" noChangeArrowheads="1"/>
          </p:cNvPicPr>
          <p:nvPr/>
        </p:nvPicPr>
        <p:blipFill>
          <a:blip r:embed="rId2" cstate="print"/>
          <a:srcRect/>
          <a:stretch>
            <a:fillRect/>
          </a:stretch>
        </p:blipFill>
        <p:spPr bwMode="auto">
          <a:xfrm>
            <a:off x="471242" y="1963917"/>
            <a:ext cx="8096250" cy="44196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a:xfrm>
            <a:off x="318351" y="1290775"/>
            <a:ext cx="8751075" cy="424638"/>
          </a:xfrm>
        </p:spPr>
        <p:txBody>
          <a:bodyPr>
            <a:normAutofit fontScale="92500" lnSpcReduction="20000"/>
          </a:bodyPr>
          <a:lstStyle/>
          <a:p>
            <a:r>
              <a:rPr lang="en-US" sz="2800" dirty="0" smtClean="0"/>
              <a:t>Exercise 1. Solution</a:t>
            </a:r>
            <a:endParaRPr lang="en-US" sz="2800" dirty="0"/>
          </a:p>
        </p:txBody>
      </p:sp>
      <p:sp>
        <p:nvSpPr>
          <p:cNvPr id="5" name="4 Título"/>
          <p:cNvSpPr>
            <a:spLocks noGrp="1"/>
          </p:cNvSpPr>
          <p:nvPr>
            <p:ph type="title"/>
          </p:nvPr>
        </p:nvSpPr>
        <p:spPr/>
        <p:txBody>
          <a:bodyPr/>
          <a:lstStyle/>
          <a:p>
            <a:pPr>
              <a:buFont typeface="+mj-lt"/>
              <a:buAutoNum type="arabicPeriod" startAt="5"/>
            </a:pPr>
            <a:r>
              <a:rPr lang="en-GB" dirty="0" smtClean="0"/>
              <a:t>Exercises</a:t>
            </a:r>
            <a:endParaRPr lang="en-GB" dirty="0"/>
          </a:p>
        </p:txBody>
      </p:sp>
      <p:pic>
        <p:nvPicPr>
          <p:cNvPr id="3074" name="Picture 2"/>
          <p:cNvPicPr>
            <a:picLocks noChangeAspect="1" noChangeArrowheads="1"/>
          </p:cNvPicPr>
          <p:nvPr/>
        </p:nvPicPr>
        <p:blipFill>
          <a:blip r:embed="rId2" cstate="print"/>
          <a:srcRect/>
          <a:stretch>
            <a:fillRect/>
          </a:stretch>
        </p:blipFill>
        <p:spPr bwMode="auto">
          <a:xfrm>
            <a:off x="474139" y="1990234"/>
            <a:ext cx="8448675" cy="11430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a:xfrm>
            <a:off x="271217" y="1290775"/>
            <a:ext cx="8751075" cy="424638"/>
          </a:xfrm>
        </p:spPr>
        <p:txBody>
          <a:bodyPr>
            <a:normAutofit fontScale="92500" lnSpcReduction="20000"/>
          </a:bodyPr>
          <a:lstStyle/>
          <a:p>
            <a:r>
              <a:rPr lang="en-US" sz="2800" dirty="0" smtClean="0"/>
              <a:t>Exercise 2.</a:t>
            </a:r>
            <a:endParaRPr lang="en-US" sz="2800" dirty="0"/>
          </a:p>
        </p:txBody>
      </p:sp>
      <p:sp>
        <p:nvSpPr>
          <p:cNvPr id="7" name="6 Marcador de texto"/>
          <p:cNvSpPr>
            <a:spLocks noGrp="1"/>
          </p:cNvSpPr>
          <p:nvPr>
            <p:ph type="body" sz="quarter" idx="12"/>
          </p:nvPr>
        </p:nvSpPr>
        <p:spPr>
          <a:xfrm>
            <a:off x="344962" y="1783532"/>
            <a:ext cx="9094601" cy="4321704"/>
          </a:xfrm>
        </p:spPr>
        <p:txBody>
          <a:bodyPr>
            <a:normAutofit/>
          </a:bodyPr>
          <a:lstStyle/>
          <a:p>
            <a:pPr algn="just"/>
            <a:r>
              <a:rPr lang="en-GB" sz="1800" dirty="0" smtClean="0"/>
              <a:t>A preliminary study conducted at a medical </a:t>
            </a:r>
            <a:r>
              <a:rPr lang="en-GB" sz="1800" dirty="0" err="1" smtClean="0"/>
              <a:t>center</a:t>
            </a:r>
            <a:r>
              <a:rPr lang="en-GB" sz="1800" dirty="0" smtClean="0"/>
              <a:t> in St. Louis has shown that treatment with magnets reduces the self-reported level of pain in polio patients. During each session, a patient rested on an examining table in the doctor's office while the magnets, embedded in soft pads, were strapped to the body at the site of pain. Sessions continued for several weeks, after which pain reduction was measured.</a:t>
            </a:r>
          </a:p>
          <a:p>
            <a:pPr algn="just"/>
            <a:r>
              <a:rPr lang="en-GB" sz="1800" dirty="0" smtClean="0"/>
              <a:t>A new study is being designed to investigate whether magnets also reduce pain in patients suffering from herniated disks in the lower back. One hundred male patients are available for the-new study.</a:t>
            </a:r>
          </a:p>
          <a:p>
            <a:pPr algn="just"/>
            <a:endParaRPr lang="en-GB" sz="1800" dirty="0" smtClean="0"/>
          </a:p>
          <a:p>
            <a:pPr marL="533400" lvl="1" indent="-342900" algn="just">
              <a:buFont typeface="+mj-lt"/>
              <a:buAutoNum type="arabicPeriod"/>
            </a:pPr>
            <a:r>
              <a:rPr lang="en-GB" sz="1600" dirty="0" smtClean="0"/>
              <a:t>Describe an appropriate design for the new study. Your discussion should briefly address treatments used, methods of treatment assignment, and what variables would be measured. Do not describe how the data would be analyzed.</a:t>
            </a:r>
          </a:p>
          <a:p>
            <a:pPr marL="533400" lvl="1" indent="-342900" algn="just">
              <a:buFont typeface="+mj-lt"/>
              <a:buAutoNum type="arabicPeriod"/>
            </a:pPr>
            <a:r>
              <a:rPr lang="en-GB" sz="1600" dirty="0" smtClean="0"/>
              <a:t>Would you modify the design above if, instead of 100 male patients, there were 50 male and 50 female patients available for the study? If so, how would you modify your design? If not, why not?</a:t>
            </a:r>
            <a:endParaRPr lang="en-GB" sz="1600" dirty="0"/>
          </a:p>
        </p:txBody>
      </p:sp>
      <p:sp>
        <p:nvSpPr>
          <p:cNvPr id="5" name="4 Título"/>
          <p:cNvSpPr>
            <a:spLocks noGrp="1"/>
          </p:cNvSpPr>
          <p:nvPr>
            <p:ph type="title"/>
          </p:nvPr>
        </p:nvSpPr>
        <p:spPr/>
        <p:txBody>
          <a:bodyPr/>
          <a:lstStyle/>
          <a:p>
            <a:pPr>
              <a:buFont typeface="+mj-lt"/>
              <a:buAutoNum type="arabicPeriod" startAt="5"/>
            </a:pPr>
            <a:r>
              <a:rPr lang="en-GB" dirty="0" smtClean="0"/>
              <a:t>Exercises</a:t>
            </a:r>
            <a:endParaRPr lang="en-GB"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1 Marcador de texto"/>
          <p:cNvSpPr>
            <a:spLocks noGrp="1"/>
          </p:cNvSpPr>
          <p:nvPr>
            <p:ph type="body" sz="quarter" idx="11"/>
          </p:nvPr>
        </p:nvSpPr>
        <p:spPr>
          <a:xfrm>
            <a:off x="271217" y="1290775"/>
            <a:ext cx="8751075" cy="424638"/>
          </a:xfrm>
        </p:spPr>
        <p:txBody>
          <a:bodyPr>
            <a:normAutofit fontScale="92500" lnSpcReduction="20000"/>
          </a:bodyPr>
          <a:lstStyle/>
          <a:p>
            <a:r>
              <a:rPr lang="en-US" sz="2800" dirty="0" smtClean="0"/>
              <a:t>Exercise 2. Solutions</a:t>
            </a:r>
            <a:endParaRPr lang="en-US" sz="2800" dirty="0"/>
          </a:p>
        </p:txBody>
      </p:sp>
      <p:sp>
        <p:nvSpPr>
          <p:cNvPr id="7" name="6 Marcador de texto"/>
          <p:cNvSpPr>
            <a:spLocks noGrp="1"/>
          </p:cNvSpPr>
          <p:nvPr>
            <p:ph type="body" sz="quarter" idx="12"/>
          </p:nvPr>
        </p:nvSpPr>
        <p:spPr>
          <a:xfrm>
            <a:off x="344963" y="1783532"/>
            <a:ext cx="8739298" cy="2100311"/>
          </a:xfrm>
        </p:spPr>
        <p:txBody>
          <a:bodyPr/>
          <a:lstStyle/>
          <a:p>
            <a:pPr marL="0" indent="0" algn="just"/>
            <a:endParaRPr lang="en-GB" sz="1600" dirty="0" smtClean="0"/>
          </a:p>
          <a:p>
            <a:pPr marL="0" indent="0" algn="just"/>
            <a:endParaRPr lang="en-GB" sz="1600" dirty="0" smtClean="0"/>
          </a:p>
          <a:p>
            <a:pPr marL="0" indent="0" algn="just"/>
            <a:endParaRPr lang="en-GB" sz="1600" dirty="0" smtClean="0"/>
          </a:p>
          <a:p>
            <a:pPr marL="0" indent="0" algn="just"/>
            <a:r>
              <a:rPr lang="en-GB" sz="1600" dirty="0" smtClean="0"/>
              <a:t>100 male patients</a:t>
            </a:r>
            <a:endParaRPr lang="en-GB" sz="1600" dirty="0"/>
          </a:p>
        </p:txBody>
      </p:sp>
      <p:sp>
        <p:nvSpPr>
          <p:cNvPr id="5" name="4 Título"/>
          <p:cNvSpPr>
            <a:spLocks noGrp="1"/>
          </p:cNvSpPr>
          <p:nvPr>
            <p:ph type="title"/>
          </p:nvPr>
        </p:nvSpPr>
        <p:spPr/>
        <p:txBody>
          <a:bodyPr/>
          <a:lstStyle/>
          <a:p>
            <a:pPr>
              <a:buFont typeface="+mj-lt"/>
              <a:buAutoNum type="arabicPeriod" startAt="5"/>
            </a:pPr>
            <a:r>
              <a:rPr lang="en-GB" dirty="0" smtClean="0"/>
              <a:t>Exercises</a:t>
            </a:r>
            <a:endParaRPr lang="en-GB" dirty="0"/>
          </a:p>
        </p:txBody>
      </p:sp>
      <p:cxnSp>
        <p:nvCxnSpPr>
          <p:cNvPr id="8" name="7 Conector recto de flecha"/>
          <p:cNvCxnSpPr/>
          <p:nvPr/>
        </p:nvCxnSpPr>
        <p:spPr bwMode="auto">
          <a:xfrm>
            <a:off x="1989056" y="2828041"/>
            <a:ext cx="1319752" cy="18854"/>
          </a:xfrm>
          <a:prstGeom prst="straightConnector1">
            <a:avLst/>
          </a:prstGeom>
          <a:noFill/>
          <a:ln w="9525" cap="flat" cmpd="sng" algn="ctr">
            <a:solidFill>
              <a:schemeClr val="tx1"/>
            </a:solidFill>
            <a:prstDash val="solid"/>
            <a:round/>
            <a:headEnd type="none" w="med" len="med"/>
            <a:tailEnd type="arrow"/>
          </a:ln>
          <a:effectLst/>
        </p:spPr>
      </p:cxnSp>
      <p:cxnSp>
        <p:nvCxnSpPr>
          <p:cNvPr id="9" name="8 Conector recto de flecha"/>
          <p:cNvCxnSpPr/>
          <p:nvPr/>
        </p:nvCxnSpPr>
        <p:spPr bwMode="auto">
          <a:xfrm flipV="1">
            <a:off x="3404648" y="2450969"/>
            <a:ext cx="507476" cy="322082"/>
          </a:xfrm>
          <a:prstGeom prst="straightConnector1">
            <a:avLst/>
          </a:prstGeom>
          <a:noFill/>
          <a:ln w="9525" cap="flat" cmpd="sng" algn="ctr">
            <a:solidFill>
              <a:schemeClr val="tx1"/>
            </a:solidFill>
            <a:prstDash val="solid"/>
            <a:round/>
            <a:headEnd type="none" w="med" len="med"/>
            <a:tailEnd type="arrow"/>
          </a:ln>
          <a:effectLst/>
        </p:spPr>
      </p:cxnSp>
      <p:cxnSp>
        <p:nvCxnSpPr>
          <p:cNvPr id="11" name="10 Conector recto de flecha"/>
          <p:cNvCxnSpPr/>
          <p:nvPr/>
        </p:nvCxnSpPr>
        <p:spPr bwMode="auto">
          <a:xfrm>
            <a:off x="3387365" y="2887744"/>
            <a:ext cx="449344" cy="411637"/>
          </a:xfrm>
          <a:prstGeom prst="straightConnector1">
            <a:avLst/>
          </a:prstGeom>
          <a:noFill/>
          <a:ln w="9525" cap="flat" cmpd="sng" algn="ctr">
            <a:solidFill>
              <a:schemeClr val="tx1"/>
            </a:solidFill>
            <a:prstDash val="solid"/>
            <a:round/>
            <a:headEnd type="none" w="med" len="med"/>
            <a:tailEnd type="arrow"/>
          </a:ln>
          <a:effectLst/>
        </p:spPr>
      </p:cxnSp>
      <p:sp>
        <p:nvSpPr>
          <p:cNvPr id="14" name="13 CuadroTexto"/>
          <p:cNvSpPr txBox="1"/>
          <p:nvPr/>
        </p:nvSpPr>
        <p:spPr>
          <a:xfrm>
            <a:off x="377072" y="3684849"/>
            <a:ext cx="980387" cy="430887"/>
          </a:xfrm>
          <a:prstGeom prst="rect">
            <a:avLst/>
          </a:prstGeom>
          <a:noFill/>
        </p:spPr>
        <p:txBody>
          <a:bodyPr wrap="square" rtlCol="0">
            <a:spAutoFit/>
          </a:bodyPr>
          <a:lstStyle/>
          <a:p>
            <a:pPr algn="just"/>
            <a:r>
              <a:rPr lang="en-GB" sz="2200" dirty="0" smtClean="0">
                <a:solidFill>
                  <a:schemeClr val="bg2">
                    <a:lumMod val="50000"/>
                  </a:schemeClr>
                </a:solidFill>
              </a:rPr>
              <a:t>B)</a:t>
            </a:r>
          </a:p>
        </p:txBody>
      </p:sp>
      <p:sp>
        <p:nvSpPr>
          <p:cNvPr id="15" name="14 CuadroTexto"/>
          <p:cNvSpPr txBox="1"/>
          <p:nvPr/>
        </p:nvSpPr>
        <p:spPr>
          <a:xfrm>
            <a:off x="1932494" y="2526383"/>
            <a:ext cx="1545997" cy="276999"/>
          </a:xfrm>
          <a:prstGeom prst="rect">
            <a:avLst/>
          </a:prstGeom>
          <a:noFill/>
        </p:spPr>
        <p:txBody>
          <a:bodyPr wrap="square" rtlCol="0">
            <a:spAutoFit/>
          </a:bodyPr>
          <a:lstStyle/>
          <a:p>
            <a:pPr algn="just"/>
            <a:r>
              <a:rPr lang="en-GB" sz="1200" dirty="0" smtClean="0">
                <a:solidFill>
                  <a:schemeClr val="bg2">
                    <a:lumMod val="50000"/>
                  </a:schemeClr>
                </a:solidFill>
                <a:latin typeface="+mn-lt"/>
              </a:rPr>
              <a:t>Random assignment</a:t>
            </a:r>
          </a:p>
        </p:txBody>
      </p:sp>
      <p:sp>
        <p:nvSpPr>
          <p:cNvPr id="16" name="15 CuadroTexto"/>
          <p:cNvSpPr txBox="1"/>
          <p:nvPr/>
        </p:nvSpPr>
        <p:spPr>
          <a:xfrm>
            <a:off x="3883842" y="2243580"/>
            <a:ext cx="3355943" cy="338554"/>
          </a:xfrm>
          <a:prstGeom prst="rect">
            <a:avLst/>
          </a:prstGeom>
          <a:noFill/>
        </p:spPr>
        <p:txBody>
          <a:bodyPr wrap="square" rtlCol="0">
            <a:spAutoFit/>
          </a:bodyPr>
          <a:lstStyle/>
          <a:p>
            <a:pPr algn="just"/>
            <a:r>
              <a:rPr lang="en-GB" sz="1600" dirty="0" smtClean="0">
                <a:solidFill>
                  <a:schemeClr val="bg2">
                    <a:lumMod val="50000"/>
                  </a:schemeClr>
                </a:solidFill>
                <a:latin typeface="+mn-lt"/>
              </a:rPr>
              <a:t>50 male patients: magnets in pads</a:t>
            </a:r>
          </a:p>
        </p:txBody>
      </p:sp>
      <p:sp>
        <p:nvSpPr>
          <p:cNvPr id="17" name="16 CuadroTexto"/>
          <p:cNvSpPr txBox="1"/>
          <p:nvPr/>
        </p:nvSpPr>
        <p:spPr>
          <a:xfrm>
            <a:off x="3894840" y="3131271"/>
            <a:ext cx="3355943" cy="338554"/>
          </a:xfrm>
          <a:prstGeom prst="rect">
            <a:avLst/>
          </a:prstGeom>
          <a:noFill/>
        </p:spPr>
        <p:txBody>
          <a:bodyPr wrap="square" rtlCol="0">
            <a:spAutoFit/>
          </a:bodyPr>
          <a:lstStyle/>
          <a:p>
            <a:pPr algn="just"/>
            <a:r>
              <a:rPr lang="en-GB" sz="1600" dirty="0" smtClean="0">
                <a:solidFill>
                  <a:schemeClr val="bg2">
                    <a:lumMod val="50000"/>
                  </a:schemeClr>
                </a:solidFill>
                <a:latin typeface="+mn-lt"/>
              </a:rPr>
              <a:t>50 male patients: no magnets in pads</a:t>
            </a:r>
          </a:p>
        </p:txBody>
      </p:sp>
      <p:sp>
        <p:nvSpPr>
          <p:cNvPr id="18" name="17 CuadroTexto"/>
          <p:cNvSpPr txBox="1"/>
          <p:nvPr/>
        </p:nvSpPr>
        <p:spPr>
          <a:xfrm>
            <a:off x="7577579" y="2573518"/>
            <a:ext cx="2111605" cy="523220"/>
          </a:xfrm>
          <a:prstGeom prst="rect">
            <a:avLst/>
          </a:prstGeom>
          <a:noFill/>
        </p:spPr>
        <p:txBody>
          <a:bodyPr wrap="square" rtlCol="0">
            <a:spAutoFit/>
          </a:bodyPr>
          <a:lstStyle/>
          <a:p>
            <a:pPr algn="just"/>
            <a:r>
              <a:rPr lang="en-GB" sz="1400" dirty="0" smtClean="0">
                <a:solidFill>
                  <a:schemeClr val="bg2">
                    <a:lumMod val="50000"/>
                  </a:schemeClr>
                </a:solidFill>
                <a:latin typeface="+mn-lt"/>
              </a:rPr>
              <a:t>Measure and compare self-reported level of pain</a:t>
            </a:r>
          </a:p>
        </p:txBody>
      </p:sp>
      <p:cxnSp>
        <p:nvCxnSpPr>
          <p:cNvPr id="19" name="18 Conector recto de flecha"/>
          <p:cNvCxnSpPr/>
          <p:nvPr/>
        </p:nvCxnSpPr>
        <p:spPr bwMode="auto">
          <a:xfrm flipV="1">
            <a:off x="7120380" y="2980442"/>
            <a:ext cx="507476" cy="322082"/>
          </a:xfrm>
          <a:prstGeom prst="straightConnector1">
            <a:avLst/>
          </a:prstGeom>
          <a:noFill/>
          <a:ln w="9525" cap="flat" cmpd="sng" algn="ctr">
            <a:solidFill>
              <a:schemeClr val="tx1"/>
            </a:solidFill>
            <a:prstDash val="solid"/>
            <a:round/>
            <a:headEnd type="none" w="med" len="med"/>
            <a:tailEnd type="arrow"/>
          </a:ln>
          <a:effectLst/>
        </p:spPr>
      </p:cxnSp>
      <p:cxnSp>
        <p:nvCxnSpPr>
          <p:cNvPr id="20" name="19 Conector recto de flecha"/>
          <p:cNvCxnSpPr>
            <a:endCxn id="18" idx="1"/>
          </p:cNvCxnSpPr>
          <p:nvPr/>
        </p:nvCxnSpPr>
        <p:spPr bwMode="auto">
          <a:xfrm>
            <a:off x="7065390" y="2399121"/>
            <a:ext cx="512189" cy="436007"/>
          </a:xfrm>
          <a:prstGeom prst="straightConnector1">
            <a:avLst/>
          </a:prstGeom>
          <a:noFill/>
          <a:ln w="9525" cap="flat" cmpd="sng" algn="ctr">
            <a:solidFill>
              <a:schemeClr val="tx1"/>
            </a:solidFill>
            <a:prstDash val="solid"/>
            <a:round/>
            <a:headEnd type="none" w="med" len="med"/>
            <a:tailEnd type="arrow"/>
          </a:ln>
          <a:effectLst/>
        </p:spPr>
      </p:cxnSp>
      <p:sp>
        <p:nvSpPr>
          <p:cNvPr id="22" name="21 CuadroTexto"/>
          <p:cNvSpPr txBox="1"/>
          <p:nvPr/>
        </p:nvSpPr>
        <p:spPr>
          <a:xfrm>
            <a:off x="378643" y="1877505"/>
            <a:ext cx="980387" cy="430887"/>
          </a:xfrm>
          <a:prstGeom prst="rect">
            <a:avLst/>
          </a:prstGeom>
          <a:noFill/>
        </p:spPr>
        <p:txBody>
          <a:bodyPr wrap="square" rtlCol="0">
            <a:spAutoFit/>
          </a:bodyPr>
          <a:lstStyle/>
          <a:p>
            <a:pPr algn="just"/>
            <a:r>
              <a:rPr lang="en-GB" sz="2200" dirty="0" smtClean="0">
                <a:solidFill>
                  <a:schemeClr val="bg2">
                    <a:lumMod val="50000"/>
                  </a:schemeClr>
                </a:solidFill>
              </a:rPr>
              <a:t>A)</a:t>
            </a:r>
          </a:p>
        </p:txBody>
      </p:sp>
      <p:sp>
        <p:nvSpPr>
          <p:cNvPr id="23" name="6 Marcador de texto"/>
          <p:cNvSpPr txBox="1">
            <a:spLocks/>
          </p:cNvSpPr>
          <p:nvPr/>
        </p:nvSpPr>
        <p:spPr>
          <a:xfrm>
            <a:off x="459656" y="4150200"/>
            <a:ext cx="8739298" cy="2100311"/>
          </a:xfrm>
          <a:prstGeom prst="rect">
            <a:avLst/>
          </a:prstGeom>
        </p:spPr>
        <p:txBody>
          <a:bodyPr/>
          <a:lstStyle/>
          <a:p>
            <a:pPr marL="0" marR="0" lvl="0" indent="0" algn="just" defTabSz="914400" rtl="0" eaLnBrk="0" fontAlgn="base" latinLnBrk="0" hangingPunct="0">
              <a:lnSpc>
                <a:spcPct val="100000"/>
              </a:lnSpc>
              <a:spcBef>
                <a:spcPct val="20000"/>
              </a:spcBef>
              <a:spcAft>
                <a:spcPct val="0"/>
              </a:spcAft>
              <a:buClrTx/>
              <a:buSzTx/>
              <a:buFontTx/>
              <a:buNone/>
              <a:tabLst/>
              <a:defRPr/>
            </a:pPr>
            <a:endParaRPr kumimoji="0" lang="en-GB" sz="1600" b="0" i="0" u="none" strike="noStrike" kern="0" cap="none" spc="0" normalizeH="0" baseline="0" noProof="0" dirty="0" smtClean="0">
              <a:ln>
                <a:noFill/>
              </a:ln>
              <a:solidFill>
                <a:schemeClr val="bg2">
                  <a:lumMod val="50000"/>
                </a:schemeClr>
              </a:solidFill>
              <a:effectLst/>
              <a:uLnTx/>
              <a:uFillTx/>
              <a:latin typeface="+mn-lt"/>
              <a:ea typeface="+mn-ea"/>
              <a:cs typeface="+mn-cs"/>
            </a:endParaRPr>
          </a:p>
          <a:p>
            <a:pPr marL="0" marR="0" lvl="0" indent="0" algn="just" defTabSz="914400" rtl="0" eaLnBrk="0" fontAlgn="base" latinLnBrk="0" hangingPunct="0">
              <a:lnSpc>
                <a:spcPct val="100000"/>
              </a:lnSpc>
              <a:spcBef>
                <a:spcPct val="20000"/>
              </a:spcBef>
              <a:spcAft>
                <a:spcPct val="0"/>
              </a:spcAft>
              <a:buClrTx/>
              <a:buSzTx/>
              <a:buFontTx/>
              <a:buNone/>
              <a:tabLst/>
              <a:defRPr/>
            </a:pPr>
            <a:endParaRPr kumimoji="0" lang="en-GB" sz="1600" b="0" i="0" u="none" strike="noStrike" kern="0" cap="none" spc="0" normalizeH="0" baseline="0" noProof="0" dirty="0" smtClean="0">
              <a:ln>
                <a:noFill/>
              </a:ln>
              <a:solidFill>
                <a:schemeClr val="bg2">
                  <a:lumMod val="50000"/>
                </a:schemeClr>
              </a:solidFill>
              <a:effectLst/>
              <a:uLnTx/>
              <a:uFillTx/>
              <a:latin typeface="+mn-lt"/>
              <a:ea typeface="+mn-ea"/>
              <a:cs typeface="+mn-cs"/>
            </a:endParaRPr>
          </a:p>
          <a:p>
            <a:pPr marL="0" marR="0" lvl="0" indent="0" algn="just" defTabSz="914400" rtl="0" eaLnBrk="0" fontAlgn="base" latinLnBrk="0" hangingPunct="0">
              <a:lnSpc>
                <a:spcPct val="100000"/>
              </a:lnSpc>
              <a:spcBef>
                <a:spcPct val="20000"/>
              </a:spcBef>
              <a:spcAft>
                <a:spcPct val="0"/>
              </a:spcAft>
              <a:buClrTx/>
              <a:buSzTx/>
              <a:buFontTx/>
              <a:buNone/>
              <a:tabLst/>
              <a:defRPr/>
            </a:pPr>
            <a:endParaRPr kumimoji="0" lang="en-GB" sz="1600" b="0" i="0" u="none" strike="noStrike" kern="0" cap="none" spc="0" normalizeH="0" baseline="0" noProof="0" dirty="0" smtClean="0">
              <a:ln>
                <a:noFill/>
              </a:ln>
              <a:solidFill>
                <a:schemeClr val="bg2">
                  <a:lumMod val="50000"/>
                </a:schemeClr>
              </a:solidFill>
              <a:effectLst/>
              <a:uLnTx/>
              <a:uFillTx/>
              <a:latin typeface="+mn-lt"/>
              <a:ea typeface="+mn-ea"/>
              <a:cs typeface="+mn-cs"/>
            </a:endParaRPr>
          </a:p>
          <a:p>
            <a:pPr marL="0" marR="0" lvl="0" indent="0" algn="just" defTabSz="914400" rtl="0" eaLnBrk="0" fontAlgn="base" latinLnBrk="0" hangingPunct="0">
              <a:lnSpc>
                <a:spcPct val="100000"/>
              </a:lnSpc>
              <a:spcBef>
                <a:spcPct val="20000"/>
              </a:spcBef>
              <a:spcAft>
                <a:spcPct val="0"/>
              </a:spcAft>
              <a:buClrTx/>
              <a:buSzTx/>
              <a:buFontTx/>
              <a:buNone/>
              <a:tabLst/>
              <a:defRPr/>
            </a:pPr>
            <a:r>
              <a:rPr kumimoji="0" lang="en-GB" sz="1600" b="0" i="0" u="none" strike="noStrike" kern="0" cap="none" spc="0" normalizeH="0" baseline="0" noProof="0" dirty="0" smtClean="0">
                <a:ln>
                  <a:noFill/>
                </a:ln>
                <a:solidFill>
                  <a:schemeClr val="bg2">
                    <a:lumMod val="50000"/>
                  </a:schemeClr>
                </a:solidFill>
                <a:effectLst/>
                <a:uLnTx/>
                <a:uFillTx/>
                <a:latin typeface="+mn-lt"/>
                <a:ea typeface="+mn-ea"/>
                <a:cs typeface="+mn-cs"/>
              </a:rPr>
              <a:t>100 patients</a:t>
            </a:r>
            <a:endParaRPr kumimoji="0" lang="en-GB" sz="1600" b="0" i="0" u="none" strike="noStrike" kern="0" cap="none" spc="0" normalizeH="0" baseline="0" noProof="0" dirty="0">
              <a:ln>
                <a:noFill/>
              </a:ln>
              <a:solidFill>
                <a:schemeClr val="bg2">
                  <a:lumMod val="50000"/>
                </a:schemeClr>
              </a:solidFill>
              <a:effectLst/>
              <a:uLnTx/>
              <a:uFillTx/>
              <a:latin typeface="+mn-lt"/>
              <a:ea typeface="+mn-ea"/>
              <a:cs typeface="+mn-cs"/>
            </a:endParaRPr>
          </a:p>
        </p:txBody>
      </p:sp>
      <p:cxnSp>
        <p:nvCxnSpPr>
          <p:cNvPr id="24" name="23 Conector recto de flecha"/>
          <p:cNvCxnSpPr/>
          <p:nvPr/>
        </p:nvCxnSpPr>
        <p:spPr bwMode="auto">
          <a:xfrm rot="5400000" flipH="1" flipV="1">
            <a:off x="1640265" y="4856915"/>
            <a:ext cx="267092" cy="241954"/>
          </a:xfrm>
          <a:prstGeom prst="straightConnector1">
            <a:avLst/>
          </a:prstGeom>
          <a:noFill/>
          <a:ln w="9525" cap="flat" cmpd="sng" algn="ctr">
            <a:solidFill>
              <a:schemeClr val="tx1"/>
            </a:solidFill>
            <a:prstDash val="solid"/>
            <a:round/>
            <a:headEnd type="none" w="med" len="med"/>
            <a:tailEnd type="arrow"/>
          </a:ln>
          <a:effectLst/>
        </p:spPr>
      </p:cxnSp>
      <p:cxnSp>
        <p:nvCxnSpPr>
          <p:cNvPr id="25" name="24 Conector recto de flecha"/>
          <p:cNvCxnSpPr/>
          <p:nvPr/>
        </p:nvCxnSpPr>
        <p:spPr bwMode="auto">
          <a:xfrm>
            <a:off x="1626124" y="5244984"/>
            <a:ext cx="240383" cy="183824"/>
          </a:xfrm>
          <a:prstGeom prst="straightConnector1">
            <a:avLst/>
          </a:prstGeom>
          <a:noFill/>
          <a:ln w="9525" cap="flat" cmpd="sng" algn="ctr">
            <a:solidFill>
              <a:schemeClr val="tx1"/>
            </a:solidFill>
            <a:prstDash val="solid"/>
            <a:round/>
            <a:headEnd type="none" w="med" len="med"/>
            <a:tailEnd type="arrow"/>
          </a:ln>
          <a:effectLst/>
        </p:spPr>
      </p:cxnSp>
      <p:sp>
        <p:nvSpPr>
          <p:cNvPr id="28" name="27 CuadroTexto"/>
          <p:cNvSpPr txBox="1"/>
          <p:nvPr/>
        </p:nvSpPr>
        <p:spPr>
          <a:xfrm>
            <a:off x="1896358" y="4412285"/>
            <a:ext cx="1836658" cy="584775"/>
          </a:xfrm>
          <a:prstGeom prst="rect">
            <a:avLst/>
          </a:prstGeom>
          <a:noFill/>
        </p:spPr>
        <p:txBody>
          <a:bodyPr wrap="square" rtlCol="0">
            <a:spAutoFit/>
          </a:bodyPr>
          <a:lstStyle/>
          <a:p>
            <a:pPr algn="just"/>
            <a:r>
              <a:rPr lang="en-GB" sz="1600" dirty="0" smtClean="0">
                <a:solidFill>
                  <a:schemeClr val="bg2">
                    <a:lumMod val="50000"/>
                  </a:schemeClr>
                </a:solidFill>
                <a:latin typeface="+mn-lt"/>
              </a:rPr>
              <a:t>50 male patients: </a:t>
            </a:r>
          </a:p>
          <a:p>
            <a:pPr algn="just"/>
            <a:r>
              <a:rPr lang="en-GB" sz="1600" dirty="0" smtClean="0">
                <a:solidFill>
                  <a:schemeClr val="bg2">
                    <a:lumMod val="50000"/>
                  </a:schemeClr>
                </a:solidFill>
                <a:latin typeface="+mn-lt"/>
              </a:rPr>
              <a:t>random assignment</a:t>
            </a:r>
          </a:p>
        </p:txBody>
      </p:sp>
      <p:sp>
        <p:nvSpPr>
          <p:cNvPr id="29" name="28 CuadroTexto"/>
          <p:cNvSpPr txBox="1"/>
          <p:nvPr/>
        </p:nvSpPr>
        <p:spPr>
          <a:xfrm>
            <a:off x="1784807" y="5450804"/>
            <a:ext cx="3355943" cy="584775"/>
          </a:xfrm>
          <a:prstGeom prst="rect">
            <a:avLst/>
          </a:prstGeom>
          <a:noFill/>
        </p:spPr>
        <p:txBody>
          <a:bodyPr wrap="square" rtlCol="0">
            <a:spAutoFit/>
          </a:bodyPr>
          <a:lstStyle/>
          <a:p>
            <a:pPr algn="just"/>
            <a:r>
              <a:rPr lang="en-GB" sz="1600" dirty="0" smtClean="0">
                <a:solidFill>
                  <a:schemeClr val="bg2">
                    <a:lumMod val="50000"/>
                  </a:schemeClr>
                </a:solidFill>
                <a:latin typeface="+mn-lt"/>
              </a:rPr>
              <a:t>50 female patients:</a:t>
            </a:r>
          </a:p>
          <a:p>
            <a:pPr algn="just"/>
            <a:r>
              <a:rPr lang="en-GB" sz="1600" dirty="0" smtClean="0">
                <a:solidFill>
                  <a:schemeClr val="bg2">
                    <a:lumMod val="50000"/>
                  </a:schemeClr>
                </a:solidFill>
                <a:latin typeface="+mn-lt"/>
              </a:rPr>
              <a:t> random assignment</a:t>
            </a:r>
          </a:p>
        </p:txBody>
      </p:sp>
      <p:cxnSp>
        <p:nvCxnSpPr>
          <p:cNvPr id="30" name="29 Conector recto de flecha"/>
          <p:cNvCxnSpPr/>
          <p:nvPr/>
        </p:nvCxnSpPr>
        <p:spPr bwMode="auto">
          <a:xfrm flipV="1">
            <a:off x="3630891" y="4223748"/>
            <a:ext cx="507476" cy="322082"/>
          </a:xfrm>
          <a:prstGeom prst="straightConnector1">
            <a:avLst/>
          </a:prstGeom>
          <a:noFill/>
          <a:ln w="9525" cap="flat" cmpd="sng" algn="ctr">
            <a:solidFill>
              <a:schemeClr val="tx1"/>
            </a:solidFill>
            <a:prstDash val="solid"/>
            <a:round/>
            <a:headEnd type="none" w="med" len="med"/>
            <a:tailEnd type="arrow"/>
          </a:ln>
          <a:effectLst/>
        </p:spPr>
      </p:cxnSp>
      <p:cxnSp>
        <p:nvCxnSpPr>
          <p:cNvPr id="31" name="30 Conector recto de flecha"/>
          <p:cNvCxnSpPr/>
          <p:nvPr/>
        </p:nvCxnSpPr>
        <p:spPr bwMode="auto">
          <a:xfrm>
            <a:off x="3632461" y="4698231"/>
            <a:ext cx="477626" cy="193249"/>
          </a:xfrm>
          <a:prstGeom prst="straightConnector1">
            <a:avLst/>
          </a:prstGeom>
          <a:noFill/>
          <a:ln w="9525" cap="flat" cmpd="sng" algn="ctr">
            <a:solidFill>
              <a:schemeClr val="tx1"/>
            </a:solidFill>
            <a:prstDash val="solid"/>
            <a:round/>
            <a:headEnd type="none" w="med" len="med"/>
            <a:tailEnd type="arrow"/>
          </a:ln>
          <a:effectLst/>
        </p:spPr>
      </p:cxnSp>
      <p:sp>
        <p:nvSpPr>
          <p:cNvPr id="32" name="31 CuadroTexto"/>
          <p:cNvSpPr txBox="1"/>
          <p:nvPr/>
        </p:nvSpPr>
        <p:spPr>
          <a:xfrm>
            <a:off x="4157219" y="3950371"/>
            <a:ext cx="3355943" cy="338554"/>
          </a:xfrm>
          <a:prstGeom prst="rect">
            <a:avLst/>
          </a:prstGeom>
          <a:noFill/>
        </p:spPr>
        <p:txBody>
          <a:bodyPr wrap="square" rtlCol="0">
            <a:spAutoFit/>
          </a:bodyPr>
          <a:lstStyle/>
          <a:p>
            <a:pPr algn="just"/>
            <a:r>
              <a:rPr lang="en-GB" sz="1600" dirty="0" smtClean="0">
                <a:solidFill>
                  <a:schemeClr val="bg2">
                    <a:lumMod val="50000"/>
                  </a:schemeClr>
                </a:solidFill>
                <a:latin typeface="+mn-lt"/>
              </a:rPr>
              <a:t>25 male patients: magnets in pads</a:t>
            </a:r>
          </a:p>
        </p:txBody>
      </p:sp>
      <p:sp>
        <p:nvSpPr>
          <p:cNvPr id="33" name="32 CuadroTexto"/>
          <p:cNvSpPr txBox="1"/>
          <p:nvPr/>
        </p:nvSpPr>
        <p:spPr>
          <a:xfrm>
            <a:off x="4158790" y="4687233"/>
            <a:ext cx="3355943" cy="338554"/>
          </a:xfrm>
          <a:prstGeom prst="rect">
            <a:avLst/>
          </a:prstGeom>
          <a:noFill/>
        </p:spPr>
        <p:txBody>
          <a:bodyPr wrap="square" rtlCol="0">
            <a:spAutoFit/>
          </a:bodyPr>
          <a:lstStyle/>
          <a:p>
            <a:pPr algn="just"/>
            <a:r>
              <a:rPr lang="en-GB" sz="1600" dirty="0" smtClean="0">
                <a:solidFill>
                  <a:schemeClr val="bg2">
                    <a:lumMod val="50000"/>
                  </a:schemeClr>
                </a:solidFill>
                <a:latin typeface="+mn-lt"/>
              </a:rPr>
              <a:t>25 male patients: no magnets in pads</a:t>
            </a:r>
          </a:p>
        </p:txBody>
      </p:sp>
      <p:sp>
        <p:nvSpPr>
          <p:cNvPr id="34" name="33 CuadroTexto"/>
          <p:cNvSpPr txBox="1"/>
          <p:nvPr/>
        </p:nvSpPr>
        <p:spPr>
          <a:xfrm>
            <a:off x="7794395" y="4167188"/>
            <a:ext cx="2111605" cy="523220"/>
          </a:xfrm>
          <a:prstGeom prst="rect">
            <a:avLst/>
          </a:prstGeom>
          <a:noFill/>
        </p:spPr>
        <p:txBody>
          <a:bodyPr wrap="square" rtlCol="0">
            <a:spAutoFit/>
          </a:bodyPr>
          <a:lstStyle/>
          <a:p>
            <a:pPr algn="just"/>
            <a:r>
              <a:rPr lang="en-GB" sz="1400" dirty="0" smtClean="0">
                <a:solidFill>
                  <a:schemeClr val="bg2">
                    <a:lumMod val="50000"/>
                  </a:schemeClr>
                </a:solidFill>
                <a:latin typeface="+mn-lt"/>
              </a:rPr>
              <a:t>Measure and compare self-reported level of pain</a:t>
            </a:r>
          </a:p>
        </p:txBody>
      </p:sp>
      <p:cxnSp>
        <p:nvCxnSpPr>
          <p:cNvPr id="35" name="34 Conector recto de flecha"/>
          <p:cNvCxnSpPr/>
          <p:nvPr/>
        </p:nvCxnSpPr>
        <p:spPr bwMode="auto">
          <a:xfrm flipV="1">
            <a:off x="7393757" y="4627529"/>
            <a:ext cx="383356" cy="259238"/>
          </a:xfrm>
          <a:prstGeom prst="straightConnector1">
            <a:avLst/>
          </a:prstGeom>
          <a:noFill/>
          <a:ln w="9525" cap="flat" cmpd="sng" algn="ctr">
            <a:solidFill>
              <a:schemeClr val="tx1"/>
            </a:solidFill>
            <a:prstDash val="solid"/>
            <a:round/>
            <a:headEnd type="none" w="med" len="med"/>
            <a:tailEnd type="arrow"/>
          </a:ln>
          <a:effectLst/>
        </p:spPr>
      </p:cxnSp>
      <p:cxnSp>
        <p:nvCxnSpPr>
          <p:cNvPr id="36" name="35 Conector recto de flecha"/>
          <p:cNvCxnSpPr/>
          <p:nvPr/>
        </p:nvCxnSpPr>
        <p:spPr bwMode="auto">
          <a:xfrm>
            <a:off x="7192652" y="4109055"/>
            <a:ext cx="630024" cy="263181"/>
          </a:xfrm>
          <a:prstGeom prst="straightConnector1">
            <a:avLst/>
          </a:prstGeom>
          <a:noFill/>
          <a:ln w="9525" cap="flat" cmpd="sng" algn="ctr">
            <a:solidFill>
              <a:schemeClr val="tx1"/>
            </a:solidFill>
            <a:prstDash val="solid"/>
            <a:round/>
            <a:headEnd type="none" w="med" len="med"/>
            <a:tailEnd type="arrow"/>
          </a:ln>
          <a:effectLst/>
        </p:spPr>
      </p:cxnSp>
      <p:cxnSp>
        <p:nvCxnSpPr>
          <p:cNvPr id="38" name="37 Conector recto de flecha"/>
          <p:cNvCxnSpPr/>
          <p:nvPr/>
        </p:nvCxnSpPr>
        <p:spPr bwMode="auto">
          <a:xfrm flipV="1">
            <a:off x="3736157" y="5432760"/>
            <a:ext cx="507476" cy="322082"/>
          </a:xfrm>
          <a:prstGeom prst="straightConnector1">
            <a:avLst/>
          </a:prstGeom>
          <a:noFill/>
          <a:ln w="9525" cap="flat" cmpd="sng" algn="ctr">
            <a:solidFill>
              <a:schemeClr val="tx1"/>
            </a:solidFill>
            <a:prstDash val="solid"/>
            <a:round/>
            <a:headEnd type="none" w="med" len="med"/>
            <a:tailEnd type="arrow"/>
          </a:ln>
          <a:effectLst/>
        </p:spPr>
      </p:cxnSp>
      <p:cxnSp>
        <p:nvCxnSpPr>
          <p:cNvPr id="39" name="38 Conector recto de flecha"/>
          <p:cNvCxnSpPr/>
          <p:nvPr/>
        </p:nvCxnSpPr>
        <p:spPr bwMode="auto">
          <a:xfrm>
            <a:off x="3718874" y="5869535"/>
            <a:ext cx="449344" cy="411637"/>
          </a:xfrm>
          <a:prstGeom prst="straightConnector1">
            <a:avLst/>
          </a:prstGeom>
          <a:noFill/>
          <a:ln w="9525" cap="flat" cmpd="sng" algn="ctr">
            <a:solidFill>
              <a:schemeClr val="tx1"/>
            </a:solidFill>
            <a:prstDash val="solid"/>
            <a:round/>
            <a:headEnd type="none" w="med" len="med"/>
            <a:tailEnd type="arrow"/>
          </a:ln>
          <a:effectLst/>
        </p:spPr>
      </p:cxnSp>
      <p:sp>
        <p:nvSpPr>
          <p:cNvPr id="40" name="39 CuadroTexto"/>
          <p:cNvSpPr txBox="1"/>
          <p:nvPr/>
        </p:nvSpPr>
        <p:spPr>
          <a:xfrm>
            <a:off x="4253058" y="5263078"/>
            <a:ext cx="3355943" cy="338554"/>
          </a:xfrm>
          <a:prstGeom prst="rect">
            <a:avLst/>
          </a:prstGeom>
          <a:noFill/>
        </p:spPr>
        <p:txBody>
          <a:bodyPr wrap="square" rtlCol="0">
            <a:spAutoFit/>
          </a:bodyPr>
          <a:lstStyle/>
          <a:p>
            <a:pPr algn="just"/>
            <a:r>
              <a:rPr lang="en-GB" sz="1600" dirty="0" smtClean="0">
                <a:solidFill>
                  <a:schemeClr val="bg2">
                    <a:lumMod val="50000"/>
                  </a:schemeClr>
                </a:solidFill>
                <a:latin typeface="+mn-lt"/>
              </a:rPr>
              <a:t>25 female patients: magnets in pads</a:t>
            </a:r>
          </a:p>
        </p:txBody>
      </p:sp>
      <p:sp>
        <p:nvSpPr>
          <p:cNvPr id="41" name="40 CuadroTexto"/>
          <p:cNvSpPr txBox="1"/>
          <p:nvPr/>
        </p:nvSpPr>
        <p:spPr>
          <a:xfrm>
            <a:off x="4169788" y="6113062"/>
            <a:ext cx="3503630" cy="338554"/>
          </a:xfrm>
          <a:prstGeom prst="rect">
            <a:avLst/>
          </a:prstGeom>
          <a:noFill/>
        </p:spPr>
        <p:txBody>
          <a:bodyPr wrap="square" rtlCol="0">
            <a:spAutoFit/>
          </a:bodyPr>
          <a:lstStyle/>
          <a:p>
            <a:pPr algn="just"/>
            <a:r>
              <a:rPr lang="en-GB" sz="1600" dirty="0" smtClean="0">
                <a:solidFill>
                  <a:schemeClr val="bg2">
                    <a:lumMod val="50000"/>
                  </a:schemeClr>
                </a:solidFill>
                <a:latin typeface="+mn-lt"/>
              </a:rPr>
              <a:t>25 female patients: no magnets in pads</a:t>
            </a:r>
          </a:p>
        </p:txBody>
      </p:sp>
      <p:sp>
        <p:nvSpPr>
          <p:cNvPr id="42" name="41 CuadroTexto"/>
          <p:cNvSpPr txBox="1"/>
          <p:nvPr/>
        </p:nvSpPr>
        <p:spPr>
          <a:xfrm>
            <a:off x="7794395" y="5489322"/>
            <a:ext cx="2111605" cy="523220"/>
          </a:xfrm>
          <a:prstGeom prst="rect">
            <a:avLst/>
          </a:prstGeom>
          <a:noFill/>
        </p:spPr>
        <p:txBody>
          <a:bodyPr wrap="square" rtlCol="0">
            <a:spAutoFit/>
          </a:bodyPr>
          <a:lstStyle/>
          <a:p>
            <a:pPr algn="just"/>
            <a:r>
              <a:rPr lang="en-GB" sz="1400" dirty="0" smtClean="0">
                <a:solidFill>
                  <a:schemeClr val="bg2">
                    <a:lumMod val="50000"/>
                  </a:schemeClr>
                </a:solidFill>
                <a:latin typeface="+mn-lt"/>
              </a:rPr>
              <a:t>Measure and compare self-reported level of pain</a:t>
            </a:r>
          </a:p>
        </p:txBody>
      </p:sp>
      <p:cxnSp>
        <p:nvCxnSpPr>
          <p:cNvPr id="43" name="42 Conector recto de flecha"/>
          <p:cNvCxnSpPr/>
          <p:nvPr/>
        </p:nvCxnSpPr>
        <p:spPr bwMode="auto">
          <a:xfrm rot="5400000" flipH="1" flipV="1">
            <a:off x="7532017" y="5966137"/>
            <a:ext cx="329939" cy="235670"/>
          </a:xfrm>
          <a:prstGeom prst="straightConnector1">
            <a:avLst/>
          </a:prstGeom>
          <a:noFill/>
          <a:ln w="9525" cap="flat" cmpd="sng" algn="ctr">
            <a:solidFill>
              <a:schemeClr val="tx1"/>
            </a:solidFill>
            <a:prstDash val="solid"/>
            <a:round/>
            <a:headEnd type="none" w="med" len="med"/>
            <a:tailEnd type="arrow"/>
          </a:ln>
          <a:effectLst/>
        </p:spPr>
      </p:cxnSp>
      <p:cxnSp>
        <p:nvCxnSpPr>
          <p:cNvPr id="44" name="43 Conector recto de flecha"/>
          <p:cNvCxnSpPr/>
          <p:nvPr/>
        </p:nvCxnSpPr>
        <p:spPr bwMode="auto">
          <a:xfrm>
            <a:off x="7390613" y="5438235"/>
            <a:ext cx="301660" cy="188536"/>
          </a:xfrm>
          <a:prstGeom prst="straightConnector1">
            <a:avLst/>
          </a:prstGeom>
          <a:noFill/>
          <a:ln w="9525" cap="flat" cmpd="sng" algn="ctr">
            <a:solidFill>
              <a:schemeClr val="tx1"/>
            </a:solidFill>
            <a:prstDash val="solid"/>
            <a:round/>
            <a:headEnd type="none" w="med" len="med"/>
            <a:tailEnd type="arrow"/>
          </a:ln>
          <a:effectLst/>
        </p:spPr>
      </p:cxn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master_plantillapresentacions 14-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02 Lateral">
  <a:themeElements>
    <a:clrScheme name="plantilla_presentacio_elearn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lantilla_presentacio_elearning">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rgbClr val="EAEAEA"/>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ca-ES" sz="2000" b="0"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solidFill>
          <a:srgbClr val="FFFF99"/>
        </a:solidFill>
        <a:ln w="9525" cap="flat" cmpd="sng" algn="ctr">
          <a:solidFill>
            <a:srgbClr val="EAEAEA"/>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ca-ES" sz="2000" b="0" i="0" u="none" strike="noStrike" cap="none" normalizeH="0" baseline="0" smtClean="0">
            <a:ln>
              <a:noFill/>
            </a:ln>
            <a:solidFill>
              <a:schemeClr val="tx1"/>
            </a:solidFill>
            <a:effectLst/>
            <a:latin typeface="Calibri" pitchFamily="34" charset="0"/>
          </a:defRPr>
        </a:defPPr>
      </a:lstStyle>
    </a:lnDef>
  </a:objectDefaults>
  <a:extraClrSchemeLst>
    <a:extraClrScheme>
      <a:clrScheme name="plantilla_presentacio_elearn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lantilla_presentacio_elearn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lantilla_presentacio_elearn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lantilla_presentacio_elearn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lantilla_presentacio_elearn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lantilla_presentacio_elearn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lantilla_presentacio_elearn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lantilla_presentacio_elearn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lantilla_presentacio_elearn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lantilla_presentacio_elearn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lantilla_presentacio_elearn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lantilla_presentacio_elearn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03 Contingut">
  <a:themeElements>
    <a:clrScheme name="plantilla_presentacio_elearn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lantilla_presentacio_elearning">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993489"/>
        </a:solidFill>
        <a:ln w="9525" cap="flat" cmpd="sng" algn="ctr">
          <a:noFill/>
          <a:prstDash val="solid"/>
          <a:round/>
          <a:headEnd type="none" w="med" len="med"/>
          <a:tailEnd type="none" w="med" len="med"/>
        </a:ln>
        <a:effectLst/>
      </a:spPr>
      <a:bodyPr vert="horz" wrap="square" lIns="90000" tIns="46800" rIns="90000" bIns="46800" numCol="1" rtlCol="0"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sz="3200" b="0" i="0" u="none" strike="noStrike" cap="none" normalizeH="0" baseline="0" smtClean="0">
            <a:ln>
              <a:noFill/>
            </a:ln>
            <a:solidFill>
              <a:schemeClr val="tx1"/>
            </a:solidFill>
            <a:effectLst/>
            <a:latin typeface="Calibri"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0000" tIns="46800" rIns="90000" bIns="4680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ca-ES" sz="3200" b="0" i="0" u="none" strike="noStrike" cap="none" normalizeH="0" baseline="0" smtClean="0">
            <a:ln>
              <a:noFill/>
            </a:ln>
            <a:solidFill>
              <a:schemeClr val="tx1"/>
            </a:solidFill>
            <a:effectLst/>
            <a:latin typeface="Calibri" pitchFamily="34" charset="0"/>
          </a:defRPr>
        </a:defPPr>
      </a:lstStyle>
    </a:lnDef>
    <a:txDef>
      <a:spPr>
        <a:noFill/>
      </a:spPr>
      <a:bodyPr wrap="square" rtlCol="0">
        <a:spAutoFit/>
      </a:bodyPr>
      <a:lstStyle>
        <a:defPPr algn="just">
          <a:defRPr sz="2200" dirty="0" smtClean="0">
            <a:solidFill>
              <a:schemeClr val="bg2">
                <a:lumMod val="50000"/>
              </a:schemeClr>
            </a:solidFill>
            <a:latin typeface="+mn-lt"/>
          </a:defRPr>
        </a:defPPr>
      </a:lstStyle>
    </a:txDef>
  </a:objectDefaults>
  <a:extraClrSchemeLst>
    <a:extraClrScheme>
      <a:clrScheme name="plantilla_presentacio_elearn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lantilla_presentacio_elearn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lantilla_presentacio_elearn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lantilla_presentacio_elearn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lantilla_presentacio_elearn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lantilla_presentacio_elearn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lantilla_presentacio_elearn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lantilla_presentacio_elearn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lantilla_presentacio_elearn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lantilla_presentacio_elearn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lantilla_presentacio_elearn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lantilla_presentacio_elearn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master_plantillapresentacions 14-15</Template>
  <TotalTime>1556</TotalTime>
  <Words>4729</Words>
  <Application>Microsoft Office PowerPoint</Application>
  <PresentationFormat>A4 (210 x 297 mm)</PresentationFormat>
  <Paragraphs>1045</Paragraphs>
  <Slides>61</Slides>
  <Notes>11</Notes>
  <HiddenSlides>6</HiddenSlides>
  <MMClips>0</MMClips>
  <ScaleCrop>false</ScaleCrop>
  <HeadingPairs>
    <vt:vector size="6" baseType="variant">
      <vt:variant>
        <vt:lpstr>Fuentes usadas</vt:lpstr>
      </vt:variant>
      <vt:variant>
        <vt:i4>11</vt:i4>
      </vt:variant>
      <vt:variant>
        <vt:lpstr>Tema</vt:lpstr>
      </vt:variant>
      <vt:variant>
        <vt:i4>4</vt:i4>
      </vt:variant>
      <vt:variant>
        <vt:lpstr>Títulos de diapositiva</vt:lpstr>
      </vt:variant>
      <vt:variant>
        <vt:i4>61</vt:i4>
      </vt:variant>
    </vt:vector>
  </HeadingPairs>
  <TitlesOfParts>
    <vt:vector size="76" baseType="lpstr">
      <vt:lpstr>Arial Unicode MS</vt:lpstr>
      <vt:lpstr>MS PGothic</vt:lpstr>
      <vt:lpstr>MS PGothic</vt:lpstr>
      <vt:lpstr>Arial</vt:lpstr>
      <vt:lpstr>Calibri</vt:lpstr>
      <vt:lpstr>Courier New</vt:lpstr>
      <vt:lpstr>DejaVu Sans</vt:lpstr>
      <vt:lpstr>Droid Sans Fallback</vt:lpstr>
      <vt:lpstr>FreeSans</vt:lpstr>
      <vt:lpstr>Times New Roman</vt:lpstr>
      <vt:lpstr>Wingdings</vt:lpstr>
      <vt:lpstr>master_plantillapresentacions 14-15</vt:lpstr>
      <vt:lpstr>02 Lateral</vt:lpstr>
      <vt:lpstr>03 Contingut</vt:lpstr>
      <vt:lpstr>Tema de Office</vt:lpstr>
      <vt:lpstr>Experimental Design Principles</vt:lpstr>
      <vt:lpstr>Presentación de PowerPoint</vt:lpstr>
      <vt:lpstr>Basic Ideas of Experimental Design</vt:lpstr>
      <vt:lpstr>Basic Ideas of Experimental Design</vt:lpstr>
      <vt:lpstr>Basic Ideas: Study types</vt:lpstr>
      <vt:lpstr>Basic Ideas of Experimental Design</vt:lpstr>
      <vt:lpstr>Basic Ideas of Experimental Design</vt:lpstr>
      <vt:lpstr>Basic Ideas of Experimental Design</vt:lpstr>
      <vt:lpstr>Basic Ideas of Experimental Design</vt:lpstr>
      <vt:lpstr>Basic Ideas of Experimental Design</vt:lpstr>
      <vt:lpstr>Basic Ideas of Experimental Design</vt:lpstr>
      <vt:lpstr>Basic Ideas of Experimental Design</vt:lpstr>
      <vt:lpstr>Basic Ideas of Experimental Design</vt:lpstr>
      <vt:lpstr>Basic Ideas of Experimental Design</vt:lpstr>
      <vt:lpstr>Basic Ideas of Experimental Design</vt:lpstr>
      <vt:lpstr>Basic Ideas of Experimental Design</vt:lpstr>
      <vt:lpstr>Basic Ideas of Experimental Design</vt:lpstr>
      <vt:lpstr>Basic Ideas of Experimental Design</vt:lpstr>
      <vt:lpstr>Presentación de PowerPoint</vt:lpstr>
      <vt:lpstr>Presentación de PowerPoint</vt:lpstr>
      <vt:lpstr>Experimental Design Principles 1. Randomize</vt:lpstr>
      <vt:lpstr>Experimental Design Principles 1. Randomize</vt:lpstr>
      <vt:lpstr>Experimental Design Principles  1. Randomize</vt:lpstr>
      <vt:lpstr>Experimental Design Principles  1. Randomize</vt:lpstr>
      <vt:lpstr>Experimental Design Principles  1. Randomize</vt:lpstr>
      <vt:lpstr>Experimental Design Principles  2.Replicate</vt:lpstr>
      <vt:lpstr>Experimental Design Principles 2. Replicate</vt:lpstr>
      <vt:lpstr>Experimental Design Principles 2. Replicate</vt:lpstr>
      <vt:lpstr>Experimental Design Principles 3. Local control</vt:lpstr>
      <vt:lpstr>Experimental Design Principles  3. Local control</vt:lpstr>
      <vt:lpstr>Experimental Design Principles  3. Local control</vt:lpstr>
      <vt:lpstr>Experimental Design Principles  3. Local control</vt:lpstr>
      <vt:lpstr>Experimental Design Principles  3. Local control</vt:lpstr>
      <vt:lpstr>Presentación de PowerPoint</vt:lpstr>
      <vt:lpstr>Experimental Design types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Some references...</vt:lpstr>
      <vt:lpstr>So, should we account for Experimental Design?</vt:lpstr>
      <vt:lpstr>Take home message</vt:lpstr>
      <vt:lpstr>Presentación de PowerPoint</vt:lpstr>
      <vt:lpstr>Exercises</vt:lpstr>
      <vt:lpstr>Exercises</vt:lpstr>
      <vt:lpstr>Exercises</vt:lpstr>
      <vt:lpstr>Exercises</vt:lpstr>
      <vt:lpstr>Exercises</vt:lpstr>
      <vt:lpstr>Exercises</vt:lpstr>
    </vt:vector>
  </TitlesOfParts>
  <Company>VHIR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Alex Sanchez;Ricardo Gonzalo Sanz</dc:creator>
  <cp:lastModifiedBy>Alex Sanchez Pla</cp:lastModifiedBy>
  <cp:revision>220</cp:revision>
  <dcterms:created xsi:type="dcterms:W3CDTF">2014-10-10T12:20:23Z</dcterms:created>
  <dcterms:modified xsi:type="dcterms:W3CDTF">2017-11-20T13:44:09Z</dcterms:modified>
</cp:coreProperties>
</file>